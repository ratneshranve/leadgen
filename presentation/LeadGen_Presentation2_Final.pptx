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ap of Presentation 1" id="{A9C73D6A-7E85-86EC-28E4-33971161BC03}">
          <p14:sldIdLst>
            <p14:sldId id="256"/>
            <p14:sldId id="257"/>
            <p14:sldId id="258"/>
            <p14:sldId id="259"/>
            <p14:sldId id="260"/>
            <p14:sldId id="261"/>
            <p14:sldId id="262"/>
            <p14:sldId id="263"/>
          </p14:sldIdLst>
        </p14:section>
        <p14:section name="Final Deliverables" id="{72D4285B-285A-9216-2B60-5F07A355B41E}">
          <p14:sldIdLst>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3C6E"/>
                </a:solidFill>
                <a:latin typeface="+mn-lt"/>
              </a:defRPr>
            </a:pPr>
            <a:r>
              <a:rPr lang="en-US" sz="1300" b="0" i="0" u="none" strike="noStrike">
                <a:solidFill>
                  <a:srgbClr val="0B3C6E"/>
                </a:solidFill>
                <a:latin typeface="+mn-lt"/>
              </a:rPr>
              <a:t>ML scoring time vs users at once</a:t>
            </a:r>
          </a:p>
        </c:rich>
      </c:tx>
      <c:overlay val="0"/>
    </c:title>
    <c:autoTitleDeleted val="0"/>
    <c:plotArea>
      <c:layout/>
      <c:barChart>
        <c:barDir val="col"/>
        <c:grouping val="clustered"/>
        <c:varyColors val="0"/>
        <c:ser>
          <c:idx val="0"/>
          <c:order val="0"/>
          <c:tx>
            <c:strRef>
              <c:f>Sheet1!$B$1</c:f>
              <c:strCache>
                <c:ptCount val="1"/>
                <c:pt idx="0">
                  <c:v>Typical time (ms)</c:v>
                </c:pt>
              </c:strCache>
            </c:strRef>
          </c:tx>
          <c:spPr>
            <a:solidFill>
              <a:srgbClr val="0B5394"/>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user</c:v>
                </c:pt>
                <c:pt idx="1">
                  <c:v>5 users</c:v>
                </c:pt>
                <c:pt idx="2">
                  <c:v>10 users</c:v>
                </c:pt>
                <c:pt idx="3">
                  <c:v>20 users</c:v>
                </c:pt>
              </c:strCache>
            </c:strRef>
          </c:cat>
          <c:val>
            <c:numRef>
              <c:f>Sheet1!$B$2:$B$5</c:f>
              <c:numCache>
                <c:formatCode>General</c:formatCode>
                <c:ptCount val="4"/>
                <c:pt idx="0">
                  <c:v>3.8</c:v>
                </c:pt>
                <c:pt idx="1">
                  <c:v>17.8</c:v>
                </c:pt>
                <c:pt idx="2">
                  <c:v>36.9</c:v>
                </c:pt>
                <c:pt idx="3">
                  <c:v>75</c:v>
                </c:pt>
              </c:numCache>
            </c:numRef>
          </c:val>
          <c:extLst>
            <c:ext xmlns:c16="http://schemas.microsoft.com/office/drawing/2014/chart" uri="{C3380CC4-5D6E-409C-BE32-E72D297353CC}">
              <c16:uniqueId val="{00000000-006A-4B9D-9966-3A509442D67C}"/>
            </c:ext>
          </c:extLst>
        </c:ser>
        <c:ser>
          <c:idx val="1"/>
          <c:order val="1"/>
          <c:tx>
            <c:strRef>
              <c:f>Sheet1!$C$1</c:f>
              <c:strCache>
                <c:ptCount val="1"/>
                <c:pt idx="0">
                  <c:v>Slowest 5% (ms)</c:v>
                </c:pt>
              </c:strCache>
            </c:strRef>
          </c:tx>
          <c:spPr>
            <a:solidFill>
              <a:srgbClr val="F2A900"/>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user</c:v>
                </c:pt>
                <c:pt idx="1">
                  <c:v>5 users</c:v>
                </c:pt>
                <c:pt idx="2">
                  <c:v>10 users</c:v>
                </c:pt>
                <c:pt idx="3">
                  <c:v>20 users</c:v>
                </c:pt>
              </c:strCache>
            </c:strRef>
          </c:cat>
          <c:val>
            <c:numRef>
              <c:f>Sheet1!$C$2:$C$5</c:f>
              <c:numCache>
                <c:formatCode>General</c:formatCode>
                <c:ptCount val="4"/>
                <c:pt idx="0">
                  <c:v>4.5999999999999996</c:v>
                </c:pt>
                <c:pt idx="1">
                  <c:v>21.7</c:v>
                </c:pt>
                <c:pt idx="2">
                  <c:v>40.1</c:v>
                </c:pt>
                <c:pt idx="3">
                  <c:v>97.2</c:v>
                </c:pt>
              </c:numCache>
            </c:numRef>
          </c:val>
          <c:extLst>
            <c:ext xmlns:c16="http://schemas.microsoft.com/office/drawing/2014/chart" uri="{C3380CC4-5D6E-409C-BE32-E72D297353CC}">
              <c16:uniqueId val="{00000001-006A-4B9D-9966-3A509442D67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93"/>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9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3C6E"/>
                </a:solidFill>
                <a:latin typeface="+mn-lt"/>
              </a:defRPr>
            </a:pPr>
            <a:r>
              <a:rPr lang="en-US" sz="1300" b="0" i="0" u="none" strike="noStrike">
                <a:solidFill>
                  <a:srgbClr val="0B3C6E"/>
                </a:solidFill>
                <a:latin typeface="+mn-lt"/>
              </a:rPr>
              <a:t>Model comparison (300 test leads)</a:t>
            </a:r>
          </a:p>
        </c:rich>
      </c:tx>
      <c:overlay val="0"/>
    </c:title>
    <c:autoTitleDeleted val="0"/>
    <c:plotArea>
      <c:layout/>
      <c:barChart>
        <c:barDir val="col"/>
        <c:grouping val="clustered"/>
        <c:varyColors val="0"/>
        <c:ser>
          <c:idx val="0"/>
          <c:order val="0"/>
          <c:tx>
            <c:strRef>
              <c:f>Sheet1!$B$1</c:f>
              <c:strCache>
                <c:ptCount val="1"/>
                <c:pt idx="0">
                  <c:v>Logistic Regression (chosen)</c:v>
                </c:pt>
              </c:strCache>
            </c:strRef>
          </c:tx>
          <c:spPr>
            <a:solidFill>
              <a:srgbClr val="0B5394"/>
            </a:solidFill>
            <a:effectLst/>
          </c:spPr>
          <c:invertIfNegative val="0"/>
          <c:dLbls>
            <c:numFmt formatCode="0.00" sourceLinked="0"/>
            <c:spPr>
              <a:noFill/>
              <a:ln>
                <a:noFill/>
              </a:ln>
              <a:effectLst/>
            </c:spPr>
            <c:txPr>
              <a:bodyPr/>
              <a:lstStyle/>
              <a:p>
                <a:pPr>
                  <a:defRPr sz="9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ROC-AUC</c:v>
                </c:pt>
              </c:strCache>
            </c:strRef>
          </c:cat>
          <c:val>
            <c:numRef>
              <c:f>Sheet1!$B$2:$B$6</c:f>
              <c:numCache>
                <c:formatCode>General</c:formatCode>
                <c:ptCount val="5"/>
                <c:pt idx="0">
                  <c:v>0.75329999999999997</c:v>
                </c:pt>
                <c:pt idx="1">
                  <c:v>0.79520000000000002</c:v>
                </c:pt>
                <c:pt idx="2">
                  <c:v>0.84340000000000004</c:v>
                </c:pt>
                <c:pt idx="3">
                  <c:v>0.81859999999999999</c:v>
                </c:pt>
                <c:pt idx="4">
                  <c:v>0.82779999999999998</c:v>
                </c:pt>
              </c:numCache>
            </c:numRef>
          </c:val>
          <c:extLst>
            <c:ext xmlns:c16="http://schemas.microsoft.com/office/drawing/2014/chart" uri="{C3380CC4-5D6E-409C-BE32-E72D297353CC}">
              <c16:uniqueId val="{00000000-20CD-4B37-9A22-1645F8C89BE0}"/>
            </c:ext>
          </c:extLst>
        </c:ser>
        <c:ser>
          <c:idx val="1"/>
          <c:order val="1"/>
          <c:tx>
            <c:strRef>
              <c:f>Sheet1!$C$1</c:f>
              <c:strCache>
                <c:ptCount val="1"/>
                <c:pt idx="0">
                  <c:v>Random Forest</c:v>
                </c:pt>
              </c:strCache>
            </c:strRef>
          </c:tx>
          <c:spPr>
            <a:solidFill>
              <a:srgbClr val="A9B8CC"/>
            </a:solidFill>
            <a:effectLst/>
          </c:spPr>
          <c:invertIfNegative val="0"/>
          <c:dLbls>
            <c:numFmt formatCode="0.00" sourceLinked="0"/>
            <c:spPr>
              <a:noFill/>
              <a:ln>
                <a:noFill/>
              </a:ln>
              <a:effectLst/>
            </c:spPr>
            <c:txPr>
              <a:bodyPr/>
              <a:lstStyle/>
              <a:p>
                <a:pPr>
                  <a:defRPr sz="900" b="0" i="0" u="none" strike="noStrike">
                    <a:solidFill>
                      <a:srgbClr val="14213D"/>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ROC-AUC</c:v>
                </c:pt>
              </c:strCache>
            </c:strRef>
          </c:cat>
          <c:val>
            <c:numRef>
              <c:f>Sheet1!$C$2:$C$6</c:f>
              <c:numCache>
                <c:formatCode>General</c:formatCode>
                <c:ptCount val="5"/>
                <c:pt idx="0">
                  <c:v>0.74329999999999996</c:v>
                </c:pt>
                <c:pt idx="1">
                  <c:v>0.77129999999999999</c:v>
                </c:pt>
                <c:pt idx="2">
                  <c:v>0.86870000000000003</c:v>
                </c:pt>
                <c:pt idx="3">
                  <c:v>0.81710000000000005</c:v>
                </c:pt>
                <c:pt idx="4">
                  <c:v>0.79330000000000001</c:v>
                </c:pt>
              </c:numCache>
            </c:numRef>
          </c:val>
          <c:extLst>
            <c:ext xmlns:c16="http://schemas.microsoft.com/office/drawing/2014/chart" uri="{C3380CC4-5D6E-409C-BE32-E72D297353CC}">
              <c16:uniqueId val="{00000001-20CD-4B37-9A22-1645F8C89BE0}"/>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93"/>
                </a:solidFill>
                <a:latin typeface="+mn-lt"/>
              </a:defRPr>
            </a:pPr>
            <a:endParaRPr lang="en-US"/>
          </a:p>
        </c:txPr>
        <c:crossAx val="2094734552"/>
        <c:crosses val="autoZero"/>
        <c:auto val="1"/>
        <c:lblAlgn val="ctr"/>
        <c:lblOffset val="100"/>
        <c:noMultiLvlLbl val="1"/>
      </c:catAx>
      <c:valAx>
        <c:axId val="2094734552"/>
        <c:scaling>
          <c:orientation val="minMax"/>
          <c:max val="1"/>
          <c:min val="0.5"/>
        </c:scaling>
        <c:delete val="0"/>
        <c:axPos val="l"/>
        <c:majorGridlines>
          <c:spPr>
            <a:ln w="9525" cap="flat">
              <a:solidFill>
                <a:srgbClr val="E1E7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C93"/>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4213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2143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Introduce the team and guide. This is the master cumulative deck: slides 1–8 recap Presentation 1 (under 60 s total), slides 9–15 are the final deliverables.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recap. Problem → four objectives → outcome. Close on the research gap, which the final system addresses end to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Skim in ~10 s. Five papers: three Elsevier journals, one HICSS conference paper, one Springer journal. All five checked against OpenAlex / publisher listings.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10 s. Four layers: who uses the system, the React web app, the Node.js backend that does the work, and the data and outside services it uses. The ML service (highlighted) scores every new lead.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10 s. All four diagrams the blueprint asks for. Use case: who does what. Sequence: order of steps when a lead arrives. Activity: lead intake path with duplicate branch. Class: User 1–* Lead 1–* FollowUp, Lead 1–* Activity.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ER: Lead is the hub; User assigns, Activity/FollowUp hang off Lead, IngestEvent makes sure a repeated webhook does not create a second lead. API: REST /api/v1, JSON envelopes, JWT + role-based access; ML service is a separate contract.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only, ~10 s. Screenshots taken from the running app. The code is the core of automatic assignment: skip salespeople who are full, prefer category specialists, then pick the one with the fewest open leads.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Trisha built the frontend, Ratnesh built the backend, and both trained the ML model. Planning in August, development and the final sprint in September, deployment in October before the 6th.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Left to right: users open the React app hosted on Vercel; it calls the Node.js backend on Render over HTTPS with a login token. Ad platforms send leads straight to the backend through a secure webhook. The backend talks to MongoDB Atlas for data, the Python ML service (also on Render) for scores, Gemini for reply drafts, Cloudinary for files, and Firebase/SMS for alerts.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Each 3D box is a place where part of the app runs (a node). The small boxes inside are what we put there (artifacts). Lines show who talks to whom. Website on Vercel, backend and ML service on Render, data on MongoDB Atlas, plus Gemini, Cloudinary, Firebase and SMS Hub India.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minutes, the core of the defense. Follow steps 1–8 in order (PROJECT_GUIDE.md §9). Open the backend and ML service URLs on Render a minute before you start so they are awake; pre-open the public form in a second tab. Step 8 is optional for a technical panel: run node backend/src/scripts/demoWebhookPing.js twice with the same key.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All numbers were measured on the real system. ML service: 400 requests at each load level on one worker; one lead is scored in about 4.0 ms and it handles about 270 scores per second. More users at once only make requests wait in line, so the fix is more workers (slide 14). Backend: loading the leads list takes 120 ms normally (180 ms in the slowest 5%), most of it the trip to MongoDB Atlas. Model: Logistic Regression was chosen over Random Forest because its ROC-AUC is higher (0.83 vs 0.79), meaning it is better at putting the likely buyers on top. It was trained on 1,500 generated leads.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Lead with the four innovations; each maps to a demo step. Then impact for real sales teams. Read the plagiarism percentage and tool name aloud.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Frontend on Vercel, backend and ML service on Render, database on MongoDB Atlas. Roadmap: slide 12 shows one ML worker tops out around 270 scores per second, so the next step is more workers and a job queue.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then open for viva. References [1]–[5] are the five papers from the literature table; [6]–[8] back the ML methods. The four design decisions are the questions the panel is most likely to ask; each member should be ready to answer for their own modules.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6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3C6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rtlCol="0"/>
          <a:lstStyle>
            <a:lvl1pPr marL="0" indent="0" algn="l">
              <a:buNone/>
              <a:defRPr lang="en-US" sz="32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backdrop"/>
          <p:cNvSpPr/>
          <p:nvPr/>
        </p:nvSpPr>
        <p:spPr>
          <a:xfrm>
            <a:off x="640080" y="502920"/>
            <a:ext cx="1417320" cy="1417320"/>
          </a:xfrm>
          <a:prstGeom prst="ellipse">
            <a:avLst/>
          </a:prstGeom>
          <a:solidFill>
            <a:schemeClr val="bg1"/>
          </a:solidFill>
          <a:ln/>
        </p:spPr>
      </p:sp>
      <p:pic>
        <p:nvPicPr>
          <p:cNvPr id="3" name="ips-logo" descr="C:\Users\Abcom\AppData\Local\Temp\claude\c--Users-Abcom-Desktop-LeadGen\c45bc90b-4cc7-41c7-9492-1eb3c47d4d14\scratchpad\build\img\logo_round.png"/>
          <p:cNvPicPr>
            <a:picLocks noChangeAspect="1"/>
          </p:cNvPicPr>
          <p:nvPr/>
        </p:nvPicPr>
        <p:blipFill>
          <a:blip r:embed="rId3"/>
          <a:stretch>
            <a:fillRect/>
          </a:stretch>
        </p:blipFill>
        <p:spPr>
          <a:xfrm>
            <a:off x="658368" y="521208"/>
            <a:ext cx="1380744" cy="1380744"/>
          </a:xfrm>
          <a:prstGeom prst="rect">
            <a:avLst/>
          </a:prstGeom>
        </p:spPr>
      </p:pic>
      <p:sp>
        <p:nvSpPr>
          <p:cNvPr id="4" name="text-1"/>
          <p:cNvSpPr txBox="1"/>
          <p:nvPr/>
        </p:nvSpPr>
        <p:spPr>
          <a:xfrm>
            <a:off x="2331720" y="548640"/>
            <a:ext cx="6858000" cy="1325880"/>
          </a:xfrm>
          <a:prstGeom prst="rect">
            <a:avLst/>
          </a:prstGeom>
          <a:noFill/>
          <a:ln/>
        </p:spPr>
        <p:txBody>
          <a:bodyPr wrap="square" lIns="0" tIns="0" rIns="0" bIns="0" rtlCol="0" anchor="ctr"/>
          <a:lstStyle/>
          <a:p>
            <a:pPr marL="0" indent="0">
              <a:spcAft>
                <a:spcPts val="300"/>
              </a:spcAft>
              <a:buNone/>
            </a:pPr>
            <a:r>
              <a:rPr lang="en-US" sz="2200" b="1" dirty="0">
                <a:solidFill>
                  <a:schemeClr val="bg1"/>
                </a:solidFill>
              </a:rPr>
              <a:t>IPS Academy, Indore</a:t>
            </a:r>
            <a:endParaRPr lang="en-US" sz="2200" dirty="0"/>
          </a:p>
          <a:p>
            <a:pPr marL="0" indent="0">
              <a:spcAft>
                <a:spcPts val="300"/>
              </a:spcAft>
              <a:buNone/>
            </a:pPr>
            <a:r>
              <a:rPr lang="en-US" sz="1400" dirty="0">
                <a:solidFill>
                  <a:schemeClr val="bg2"/>
                </a:solidFill>
              </a:rPr>
              <a:t>Institute of Engineering &amp; Science · Dept. of Computer Science &amp; Information Technology</a:t>
            </a:r>
            <a:endParaRPr lang="en-US" sz="2200" dirty="0"/>
          </a:p>
          <a:p>
            <a:pPr marL="0" indent="0">
              <a:spcAft>
                <a:spcPts val="300"/>
              </a:spcAft>
              <a:buNone/>
            </a:pPr>
            <a:r>
              <a:rPr lang="en-US" sz="1400" dirty="0">
                <a:solidFill>
                  <a:schemeClr val="bg2"/>
                </a:solidFill>
              </a:rPr>
              <a:t>Session 2026-27</a:t>
            </a:r>
            <a:endParaRPr lang="en-US" sz="2200" dirty="0"/>
          </a:p>
        </p:txBody>
      </p:sp>
      <p:sp>
        <p:nvSpPr>
          <p:cNvPr id="5" name="text-2"/>
          <p:cNvSpPr txBox="1"/>
          <p:nvPr/>
        </p:nvSpPr>
        <p:spPr>
          <a:xfrm>
            <a:off x="640080" y="2697480"/>
            <a:ext cx="7772400" cy="91440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LeadGen</a:t>
            </a:r>
            <a:endParaRPr lang="en-US" sz="6000" dirty="0"/>
          </a:p>
        </p:txBody>
      </p:sp>
      <p:sp>
        <p:nvSpPr>
          <p:cNvPr id="6" name="text-3"/>
          <p:cNvSpPr txBox="1"/>
          <p:nvPr/>
        </p:nvSpPr>
        <p:spPr>
          <a:xfrm>
            <a:off x="640080" y="3611880"/>
            <a:ext cx="7772400" cy="548640"/>
          </a:xfrm>
          <a:prstGeom prst="rect">
            <a:avLst/>
          </a:prstGeom>
          <a:noFill/>
          <a:ln/>
        </p:spPr>
        <p:txBody>
          <a:bodyPr wrap="square" lIns="0" tIns="0" rIns="0" bIns="0" rtlCol="0" anchor="ctr"/>
          <a:lstStyle/>
          <a:p>
            <a:pPr marL="0" indent="0">
              <a:buNone/>
            </a:pPr>
            <a:r>
              <a:rPr lang="en-US" sz="2800" i="1" dirty="0">
                <a:solidFill>
                  <a:schemeClr val="bg2"/>
                </a:solidFill>
                <a:latin typeface="Cambria" pitchFamily="34" charset="0"/>
                <a:ea typeface="Cambria" pitchFamily="34" charset="-122"/>
                <a:cs typeface="Cambria" pitchFamily="34" charset="-120"/>
              </a:rPr>
              <a:t>AI-Powered Lead Management System</a:t>
            </a:r>
            <a:endParaRPr lang="en-US" sz="2800" dirty="0"/>
          </a:p>
        </p:txBody>
      </p:sp>
      <p:sp>
        <p:nvSpPr>
          <p:cNvPr id="7" name="text-4"/>
          <p:cNvSpPr txBox="1"/>
          <p:nvPr/>
        </p:nvSpPr>
        <p:spPr>
          <a:xfrm>
            <a:off x="640080" y="5074920"/>
            <a:ext cx="3291840" cy="822960"/>
          </a:xfrm>
          <a:prstGeom prst="rect">
            <a:avLst/>
          </a:prstGeom>
          <a:noFill/>
          <a:ln/>
        </p:spPr>
        <p:txBody>
          <a:bodyPr wrap="square" lIns="0" tIns="0" rIns="0" bIns="0" rtlCol="0" anchor="t"/>
          <a:lstStyle/>
          <a:p>
            <a:pPr marL="0" indent="0">
              <a:spcAft>
                <a:spcPts val="400"/>
              </a:spcAft>
              <a:buNone/>
            </a:pPr>
            <a:r>
              <a:rPr lang="en-US" sz="1200" b="1" kern="0" spc="100" dirty="0">
                <a:solidFill>
                  <a:schemeClr val="accent3"/>
                </a:solidFill>
              </a:rPr>
              <a:t>GUIDED BY</a:t>
            </a:r>
            <a:endParaRPr lang="en-US" sz="1200" dirty="0"/>
          </a:p>
          <a:p>
            <a:pPr marL="0" indent="0">
              <a:spcAft>
                <a:spcPts val="400"/>
              </a:spcAft>
              <a:buNone/>
            </a:pPr>
            <a:r>
              <a:rPr lang="en-US" sz="1800" dirty="0">
                <a:solidFill>
                  <a:schemeClr val="bg1"/>
                </a:solidFill>
              </a:rPr>
              <a:t>Mrs. Poonam Mishra</a:t>
            </a:r>
            <a:endParaRPr lang="en-US" sz="1200" dirty="0"/>
          </a:p>
        </p:txBody>
      </p:sp>
      <p:sp>
        <p:nvSpPr>
          <p:cNvPr id="8" name="text-5"/>
          <p:cNvSpPr txBox="1"/>
          <p:nvPr/>
        </p:nvSpPr>
        <p:spPr>
          <a:xfrm>
            <a:off x="4206240" y="5074920"/>
            <a:ext cx="4572000" cy="1188720"/>
          </a:xfrm>
          <a:prstGeom prst="rect">
            <a:avLst/>
          </a:prstGeom>
          <a:noFill/>
          <a:ln/>
        </p:spPr>
        <p:txBody>
          <a:bodyPr wrap="square" lIns="0" tIns="0" rIns="0" bIns="0" rtlCol="0" anchor="t"/>
          <a:lstStyle/>
          <a:p>
            <a:pPr marL="0" indent="0">
              <a:spcAft>
                <a:spcPts val="400"/>
              </a:spcAft>
              <a:buNone/>
            </a:pPr>
            <a:r>
              <a:rPr lang="en-US" sz="1200" b="1" kern="0" spc="100" dirty="0">
                <a:solidFill>
                  <a:schemeClr val="accent3"/>
                </a:solidFill>
              </a:rPr>
              <a:t>SUBMITTED BY  ·  GROUP NO. 52</a:t>
            </a:r>
            <a:endParaRPr lang="en-US" sz="1200" dirty="0"/>
          </a:p>
          <a:p>
            <a:pPr marL="0" indent="0">
              <a:spcAft>
                <a:spcPts val="400"/>
              </a:spcAft>
              <a:buNone/>
            </a:pPr>
            <a:r>
              <a:rPr lang="en-US" sz="1800" dirty="0">
                <a:solidFill>
                  <a:schemeClr val="bg1"/>
                </a:solidFill>
              </a:rPr>
              <a:t>Trisha Mishra (0808CI231214)</a:t>
            </a:r>
            <a:endParaRPr lang="en-US" sz="1200" dirty="0"/>
          </a:p>
          <a:p>
            <a:pPr marL="0" indent="0">
              <a:spcAft>
                <a:spcPts val="400"/>
              </a:spcAft>
              <a:buNone/>
            </a:pPr>
            <a:r>
              <a:rPr lang="en-US" sz="1800" dirty="0">
                <a:solidFill>
                  <a:schemeClr val="bg1"/>
                </a:solidFill>
              </a:rPr>
              <a:t>Ratnesh Ranve (0808CI231162)</a:t>
            </a:r>
            <a:endParaRPr lang="en-US" sz="1200" dirty="0"/>
          </a:p>
        </p:txBody>
      </p:sp>
      <p:sp>
        <p:nvSpPr>
          <p:cNvPr id="9" name="pipeline-spine"/>
          <p:cNvSpPr/>
          <p:nvPr/>
        </p:nvSpPr>
        <p:spPr>
          <a:xfrm>
            <a:off x="9710928" y="1280160"/>
            <a:ext cx="0" cy="3931920"/>
          </a:xfrm>
          <a:prstGeom prst="line">
            <a:avLst/>
          </a:prstGeom>
          <a:noFill/>
          <a:ln w="25400">
            <a:solidFill>
              <a:srgbClr val="1E88E5"/>
            </a:solidFill>
            <a:prstDash val="dash"/>
          </a:ln>
        </p:spPr>
      </p:sp>
      <p:sp>
        <p:nvSpPr>
          <p:cNvPr id="10" name="icon-circle-6"/>
          <p:cNvSpPr/>
          <p:nvPr/>
        </p:nvSpPr>
        <p:spPr>
          <a:xfrm>
            <a:off x="9326880" y="914400"/>
            <a:ext cx="777240" cy="777240"/>
          </a:xfrm>
          <a:prstGeom prst="ellipse">
            <a:avLst/>
          </a:prstGeom>
          <a:solidFill>
            <a:schemeClr val="accent2"/>
          </a:solidFill>
          <a:ln/>
        </p:spPr>
      </p:sp>
      <p:pic>
        <p:nvPicPr>
          <p:cNvPr id="11" name="icon-7" descr="preencoded.png"/>
          <p:cNvPicPr>
            <a:picLocks noChangeAspect="1"/>
          </p:cNvPicPr>
          <p:nvPr/>
        </p:nvPicPr>
        <p:blipFill>
          <a:blip r:embed="rId4"/>
          <a:stretch>
            <a:fillRect/>
          </a:stretch>
        </p:blipFill>
        <p:spPr>
          <a:xfrm>
            <a:off x="9521190" y="1108710"/>
            <a:ext cx="388620" cy="388620"/>
          </a:xfrm>
          <a:prstGeom prst="rect">
            <a:avLst/>
          </a:prstGeom>
        </p:spPr>
      </p:pic>
      <p:sp>
        <p:nvSpPr>
          <p:cNvPr id="12" name="text-8"/>
          <p:cNvSpPr txBox="1"/>
          <p:nvPr/>
        </p:nvSpPr>
        <p:spPr>
          <a:xfrm>
            <a:off x="10241280" y="1069848"/>
            <a:ext cx="1463040" cy="457200"/>
          </a:xfrm>
          <a:prstGeom prst="rect">
            <a:avLst/>
          </a:prstGeom>
          <a:noFill/>
          <a:ln/>
        </p:spPr>
        <p:txBody>
          <a:bodyPr wrap="square" lIns="0" tIns="0" rIns="0" bIns="0" rtlCol="0" anchor="ctr"/>
          <a:lstStyle/>
          <a:p>
            <a:pPr marL="0" indent="0">
              <a:buNone/>
            </a:pPr>
            <a:r>
              <a:rPr lang="en-US" sz="1600" b="1" dirty="0">
                <a:solidFill>
                  <a:schemeClr val="bg1"/>
                </a:solidFill>
              </a:rPr>
              <a:t>Capture</a:t>
            </a:r>
            <a:endParaRPr lang="en-US" sz="1600" dirty="0"/>
          </a:p>
        </p:txBody>
      </p:sp>
      <p:sp>
        <p:nvSpPr>
          <p:cNvPr id="13" name="icon-circle-9"/>
          <p:cNvSpPr/>
          <p:nvPr/>
        </p:nvSpPr>
        <p:spPr>
          <a:xfrm>
            <a:off x="9326880" y="2221992"/>
            <a:ext cx="777240" cy="777240"/>
          </a:xfrm>
          <a:prstGeom prst="ellipse">
            <a:avLst/>
          </a:prstGeom>
          <a:solidFill>
            <a:schemeClr val="accent3"/>
          </a:solidFill>
          <a:ln/>
        </p:spPr>
      </p:sp>
      <p:pic>
        <p:nvPicPr>
          <p:cNvPr id="14" name="icon-10" descr="preencoded.png"/>
          <p:cNvPicPr>
            <a:picLocks noChangeAspect="1"/>
          </p:cNvPicPr>
          <p:nvPr/>
        </p:nvPicPr>
        <p:blipFill>
          <a:blip r:embed="rId5"/>
          <a:stretch>
            <a:fillRect/>
          </a:stretch>
        </p:blipFill>
        <p:spPr>
          <a:xfrm>
            <a:off x="9521190" y="2416302"/>
            <a:ext cx="388620" cy="388620"/>
          </a:xfrm>
          <a:prstGeom prst="rect">
            <a:avLst/>
          </a:prstGeom>
        </p:spPr>
      </p:pic>
      <p:sp>
        <p:nvSpPr>
          <p:cNvPr id="15" name="text-11"/>
          <p:cNvSpPr txBox="1"/>
          <p:nvPr/>
        </p:nvSpPr>
        <p:spPr>
          <a:xfrm>
            <a:off x="10241280" y="2377440"/>
            <a:ext cx="1463040" cy="457200"/>
          </a:xfrm>
          <a:prstGeom prst="rect">
            <a:avLst/>
          </a:prstGeom>
          <a:noFill/>
          <a:ln/>
        </p:spPr>
        <p:txBody>
          <a:bodyPr wrap="square" lIns="0" tIns="0" rIns="0" bIns="0" rtlCol="0" anchor="ctr"/>
          <a:lstStyle/>
          <a:p>
            <a:pPr marL="0" indent="0">
              <a:buNone/>
            </a:pPr>
            <a:r>
              <a:rPr lang="en-US" sz="1600" b="1" dirty="0">
                <a:solidFill>
                  <a:schemeClr val="bg1"/>
                </a:solidFill>
              </a:rPr>
              <a:t>Score</a:t>
            </a:r>
            <a:endParaRPr lang="en-US" sz="1600" dirty="0"/>
          </a:p>
        </p:txBody>
      </p:sp>
      <p:sp>
        <p:nvSpPr>
          <p:cNvPr id="16" name="icon-circle-12"/>
          <p:cNvSpPr/>
          <p:nvPr/>
        </p:nvSpPr>
        <p:spPr>
          <a:xfrm>
            <a:off x="9326880" y="3529584"/>
            <a:ext cx="777240" cy="777240"/>
          </a:xfrm>
          <a:prstGeom prst="ellipse">
            <a:avLst/>
          </a:prstGeom>
          <a:solidFill>
            <a:schemeClr val="accent2"/>
          </a:solidFill>
          <a:ln/>
        </p:spPr>
      </p:sp>
      <p:pic>
        <p:nvPicPr>
          <p:cNvPr id="17" name="icon-13" descr="preencoded.png"/>
          <p:cNvPicPr>
            <a:picLocks noChangeAspect="1"/>
          </p:cNvPicPr>
          <p:nvPr/>
        </p:nvPicPr>
        <p:blipFill>
          <a:blip r:embed="rId6"/>
          <a:stretch>
            <a:fillRect/>
          </a:stretch>
        </p:blipFill>
        <p:spPr>
          <a:xfrm>
            <a:off x="9521190" y="3723894"/>
            <a:ext cx="388620" cy="388620"/>
          </a:xfrm>
          <a:prstGeom prst="rect">
            <a:avLst/>
          </a:prstGeom>
        </p:spPr>
      </p:pic>
      <p:sp>
        <p:nvSpPr>
          <p:cNvPr id="18" name="text-14"/>
          <p:cNvSpPr txBox="1"/>
          <p:nvPr/>
        </p:nvSpPr>
        <p:spPr>
          <a:xfrm>
            <a:off x="10241280" y="3685032"/>
            <a:ext cx="1463040" cy="457200"/>
          </a:xfrm>
          <a:prstGeom prst="rect">
            <a:avLst/>
          </a:prstGeom>
          <a:noFill/>
          <a:ln/>
        </p:spPr>
        <p:txBody>
          <a:bodyPr wrap="square" lIns="0" tIns="0" rIns="0" bIns="0" rtlCol="0" anchor="ctr"/>
          <a:lstStyle/>
          <a:p>
            <a:pPr marL="0" indent="0">
              <a:buNone/>
            </a:pPr>
            <a:r>
              <a:rPr lang="en-US" sz="1600" b="1" dirty="0">
                <a:solidFill>
                  <a:schemeClr val="bg1"/>
                </a:solidFill>
              </a:rPr>
              <a:t>Assign</a:t>
            </a:r>
            <a:endParaRPr lang="en-US" sz="1600" dirty="0"/>
          </a:p>
        </p:txBody>
      </p:sp>
      <p:sp>
        <p:nvSpPr>
          <p:cNvPr id="19" name="icon-circle-15"/>
          <p:cNvSpPr/>
          <p:nvPr/>
        </p:nvSpPr>
        <p:spPr>
          <a:xfrm>
            <a:off x="9326880" y="4837176"/>
            <a:ext cx="777240" cy="777240"/>
          </a:xfrm>
          <a:prstGeom prst="ellipse">
            <a:avLst/>
          </a:prstGeom>
          <a:solidFill>
            <a:schemeClr val="accent2"/>
          </a:solidFill>
          <a:ln/>
        </p:spPr>
      </p:sp>
      <p:pic>
        <p:nvPicPr>
          <p:cNvPr id="20" name="icon-16" descr="preencoded.png"/>
          <p:cNvPicPr>
            <a:picLocks noChangeAspect="1"/>
          </p:cNvPicPr>
          <p:nvPr/>
        </p:nvPicPr>
        <p:blipFill>
          <a:blip r:embed="rId7"/>
          <a:stretch>
            <a:fillRect/>
          </a:stretch>
        </p:blipFill>
        <p:spPr>
          <a:xfrm>
            <a:off x="9521190" y="5031486"/>
            <a:ext cx="388620" cy="388620"/>
          </a:xfrm>
          <a:prstGeom prst="rect">
            <a:avLst/>
          </a:prstGeom>
        </p:spPr>
      </p:pic>
      <p:sp>
        <p:nvSpPr>
          <p:cNvPr id="21" name="text-17"/>
          <p:cNvSpPr txBox="1"/>
          <p:nvPr/>
        </p:nvSpPr>
        <p:spPr>
          <a:xfrm>
            <a:off x="10241280" y="4992624"/>
            <a:ext cx="1463040" cy="457200"/>
          </a:xfrm>
          <a:prstGeom prst="rect">
            <a:avLst/>
          </a:prstGeom>
          <a:noFill/>
          <a:ln/>
        </p:spPr>
        <p:txBody>
          <a:bodyPr wrap="square" lIns="0" tIns="0" rIns="0" bIns="0" rtlCol="0" anchor="ctr"/>
          <a:lstStyle/>
          <a:p>
            <a:pPr marL="0" indent="0">
              <a:buNone/>
            </a:pPr>
            <a:r>
              <a:rPr lang="en-US" sz="1600" b="1" dirty="0">
                <a:solidFill>
                  <a:schemeClr val="bg1"/>
                </a:solidFill>
              </a:rPr>
              <a:t>Convert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Problem, Objectives &amp; Expected Outcome</a:t>
            </a:r>
            <a:endParaRPr lang="en-US" sz="3200" dirty="0"/>
          </a:p>
        </p:txBody>
      </p:sp>
      <p:sp>
        <p:nvSpPr>
          <p:cNvPr id="3" name="card-18"/>
          <p:cNvSpPr/>
          <p:nvPr/>
        </p:nvSpPr>
        <p:spPr>
          <a:xfrm>
            <a:off x="548640" y="1280160"/>
            <a:ext cx="3520440" cy="3794760"/>
          </a:xfrm>
          <a:prstGeom prst="roundRect">
            <a:avLst>
              <a:gd name="adj" fmla="val 2597"/>
            </a:avLst>
          </a:prstGeom>
          <a:solidFill>
            <a:schemeClr val="bg2"/>
          </a:solidFill>
          <a:ln/>
        </p:spPr>
      </p:sp>
      <p:sp>
        <p:nvSpPr>
          <p:cNvPr id="4" name="icon-circle-19"/>
          <p:cNvSpPr/>
          <p:nvPr/>
        </p:nvSpPr>
        <p:spPr>
          <a:xfrm>
            <a:off x="822960" y="1508760"/>
            <a:ext cx="594360" cy="594360"/>
          </a:xfrm>
          <a:prstGeom prst="ellipse">
            <a:avLst/>
          </a:prstGeom>
          <a:solidFill>
            <a:schemeClr val="accent1"/>
          </a:solidFill>
          <a:ln/>
        </p:spPr>
      </p:sp>
      <p:pic>
        <p:nvPicPr>
          <p:cNvPr id="5" name="icon-20" descr="preencoded.png"/>
          <p:cNvPicPr>
            <a:picLocks noChangeAspect="1"/>
          </p:cNvPicPr>
          <p:nvPr/>
        </p:nvPicPr>
        <p:blipFill>
          <a:blip r:embed="rId3"/>
          <a:stretch>
            <a:fillRect/>
          </a:stretch>
        </p:blipFill>
        <p:spPr>
          <a:xfrm>
            <a:off x="971550" y="1657350"/>
            <a:ext cx="297180" cy="297180"/>
          </a:xfrm>
          <a:prstGeom prst="rect">
            <a:avLst/>
          </a:prstGeom>
        </p:spPr>
      </p:pic>
      <p:sp>
        <p:nvSpPr>
          <p:cNvPr id="6" name="text-21"/>
          <p:cNvSpPr txBox="1"/>
          <p:nvPr/>
        </p:nvSpPr>
        <p:spPr>
          <a:xfrm>
            <a:off x="1554480" y="1508760"/>
            <a:ext cx="2377440" cy="5943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Problem Statement</a:t>
            </a:r>
            <a:endParaRPr lang="en-US" sz="2000" dirty="0"/>
          </a:p>
        </p:txBody>
      </p:sp>
      <p:sp>
        <p:nvSpPr>
          <p:cNvPr id="7" name="text-22"/>
          <p:cNvSpPr txBox="1"/>
          <p:nvPr/>
        </p:nvSpPr>
        <p:spPr>
          <a:xfrm>
            <a:off x="822960" y="2331720"/>
            <a:ext cx="3017520" cy="2606040"/>
          </a:xfrm>
          <a:prstGeom prst="rect">
            <a:avLst/>
          </a:prstGeom>
          <a:noFill/>
          <a:ln/>
        </p:spPr>
        <p:txBody>
          <a:bodyPr wrap="square" lIns="0" tIns="0" rIns="0" bIns="0" rtlCol="0" anchor="t"/>
          <a:lstStyle/>
          <a:p>
            <a:pPr marL="0" indent="0">
              <a:spcAft>
                <a:spcPts val="800"/>
              </a:spcAft>
              <a:buNone/>
            </a:pPr>
            <a:r>
              <a:rPr lang="en-US" sz="1500" dirty="0">
                <a:solidFill>
                  <a:schemeClr val="tx1"/>
                </a:solidFill>
              </a:rPr>
              <a:t>Leads come from websites, emails, ad platforms and other apps. When they are handled by hand, the same customer gets saved twice, follow-ups are late and nobody knows which lead to call first, so good customers are lost.</a:t>
            </a:r>
            <a:endParaRPr lang="en-US" sz="1500" dirty="0"/>
          </a:p>
        </p:txBody>
      </p:sp>
      <p:sp>
        <p:nvSpPr>
          <p:cNvPr id="8" name="card-23"/>
          <p:cNvSpPr/>
          <p:nvPr/>
        </p:nvSpPr>
        <p:spPr>
          <a:xfrm>
            <a:off x="4334256" y="1280160"/>
            <a:ext cx="3520440" cy="3794760"/>
          </a:xfrm>
          <a:prstGeom prst="roundRect">
            <a:avLst>
              <a:gd name="adj" fmla="val 2597"/>
            </a:avLst>
          </a:prstGeom>
          <a:solidFill>
            <a:schemeClr val="bg2"/>
          </a:solidFill>
          <a:ln/>
        </p:spPr>
      </p:sp>
      <p:sp>
        <p:nvSpPr>
          <p:cNvPr id="9" name="icon-circle-24"/>
          <p:cNvSpPr/>
          <p:nvPr/>
        </p:nvSpPr>
        <p:spPr>
          <a:xfrm>
            <a:off x="4608576" y="1508760"/>
            <a:ext cx="594360" cy="594360"/>
          </a:xfrm>
          <a:prstGeom prst="ellipse">
            <a:avLst/>
          </a:prstGeom>
          <a:solidFill>
            <a:schemeClr val="accent1"/>
          </a:solidFill>
          <a:ln/>
        </p:spPr>
      </p:sp>
      <p:pic>
        <p:nvPicPr>
          <p:cNvPr id="10" name="icon-25" descr="preencoded.png"/>
          <p:cNvPicPr>
            <a:picLocks noChangeAspect="1"/>
          </p:cNvPicPr>
          <p:nvPr/>
        </p:nvPicPr>
        <p:blipFill>
          <a:blip r:embed="rId4"/>
          <a:stretch>
            <a:fillRect/>
          </a:stretch>
        </p:blipFill>
        <p:spPr>
          <a:xfrm>
            <a:off x="4757166" y="1657350"/>
            <a:ext cx="297180" cy="297180"/>
          </a:xfrm>
          <a:prstGeom prst="rect">
            <a:avLst/>
          </a:prstGeom>
        </p:spPr>
      </p:pic>
      <p:sp>
        <p:nvSpPr>
          <p:cNvPr id="11" name="text-26"/>
          <p:cNvSpPr txBox="1"/>
          <p:nvPr/>
        </p:nvSpPr>
        <p:spPr>
          <a:xfrm>
            <a:off x="5340096" y="1508760"/>
            <a:ext cx="2377440" cy="5943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Objectives</a:t>
            </a:r>
            <a:endParaRPr lang="en-US" sz="2000" dirty="0"/>
          </a:p>
        </p:txBody>
      </p:sp>
      <p:sp>
        <p:nvSpPr>
          <p:cNvPr id="12" name="text-27"/>
          <p:cNvSpPr txBox="1"/>
          <p:nvPr/>
        </p:nvSpPr>
        <p:spPr>
          <a:xfrm>
            <a:off x="4608576" y="2331720"/>
            <a:ext cx="3017520" cy="260604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500" dirty="0">
                <a:solidFill>
                  <a:schemeClr val="tx1"/>
                </a:solidFill>
              </a:rPr>
              <a:t>Collect leads from every source in one place and catch duplicates</a:t>
            </a:r>
            <a:endParaRPr lang="en-US" sz="1500" dirty="0"/>
          </a:p>
          <a:p>
            <a:pPr marL="342900" indent="-342900">
              <a:spcAft>
                <a:spcPts val="800"/>
              </a:spcAft>
              <a:buSzPct val="100000"/>
              <a:buFont typeface="+mj-lt"/>
              <a:buAutoNum type="arabicPeriod"/>
            </a:pPr>
            <a:r>
              <a:rPr lang="en-US" sz="1500" dirty="0">
                <a:solidFill>
                  <a:schemeClr val="tx1"/>
                </a:solidFill>
              </a:rPr>
              <a:t>Score each lead with ML as High, Medium or Low</a:t>
            </a:r>
            <a:endParaRPr lang="en-US" sz="1500" dirty="0"/>
          </a:p>
          <a:p>
            <a:pPr marL="342900" indent="-342900">
              <a:spcAft>
                <a:spcPts val="800"/>
              </a:spcAft>
              <a:buSzPct val="100000"/>
              <a:buFont typeface="+mj-lt"/>
              <a:buAutoNum type="arabicPeriod"/>
            </a:pPr>
            <a:r>
              <a:rPr lang="en-US" sz="1500" dirty="0">
                <a:solidFill>
                  <a:schemeClr val="tx1"/>
                </a:solidFill>
              </a:rPr>
              <a:t>Give each lead to the right salesperson automatically</a:t>
            </a:r>
            <a:endParaRPr lang="en-US" sz="1500" dirty="0"/>
          </a:p>
          <a:p>
            <a:pPr marL="342900" indent="-342900">
              <a:spcAft>
                <a:spcPts val="800"/>
              </a:spcAft>
              <a:buSzPct val="100000"/>
              <a:buFont typeface="+mj-lt"/>
              <a:buAutoNum type="arabicPeriod"/>
            </a:pPr>
            <a:r>
              <a:rPr lang="en-US" sz="1500" dirty="0">
                <a:solidFill>
                  <a:schemeClr val="tx1"/>
                </a:solidFill>
              </a:rPr>
              <a:t>Give teams dashboards, reports and AI-drafted replies</a:t>
            </a:r>
            <a:endParaRPr lang="en-US" sz="1500" dirty="0"/>
          </a:p>
        </p:txBody>
      </p:sp>
      <p:sp>
        <p:nvSpPr>
          <p:cNvPr id="13" name="card-28"/>
          <p:cNvSpPr/>
          <p:nvPr/>
        </p:nvSpPr>
        <p:spPr>
          <a:xfrm>
            <a:off x="8119872" y="1280160"/>
            <a:ext cx="3520440" cy="3794760"/>
          </a:xfrm>
          <a:prstGeom prst="roundRect">
            <a:avLst>
              <a:gd name="adj" fmla="val 2597"/>
            </a:avLst>
          </a:prstGeom>
          <a:solidFill>
            <a:schemeClr val="bg2"/>
          </a:solidFill>
          <a:ln/>
        </p:spPr>
      </p:sp>
      <p:sp>
        <p:nvSpPr>
          <p:cNvPr id="14" name="icon-circle-29"/>
          <p:cNvSpPr/>
          <p:nvPr/>
        </p:nvSpPr>
        <p:spPr>
          <a:xfrm>
            <a:off x="8394192" y="1508760"/>
            <a:ext cx="594360" cy="594360"/>
          </a:xfrm>
          <a:prstGeom prst="ellipse">
            <a:avLst/>
          </a:prstGeom>
          <a:solidFill>
            <a:schemeClr val="accent1"/>
          </a:solidFill>
          <a:ln/>
        </p:spPr>
      </p:sp>
      <p:pic>
        <p:nvPicPr>
          <p:cNvPr id="15" name="icon-30" descr="preencoded.png"/>
          <p:cNvPicPr>
            <a:picLocks noChangeAspect="1"/>
          </p:cNvPicPr>
          <p:nvPr/>
        </p:nvPicPr>
        <p:blipFill>
          <a:blip r:embed="rId5"/>
          <a:stretch>
            <a:fillRect/>
          </a:stretch>
        </p:blipFill>
        <p:spPr>
          <a:xfrm>
            <a:off x="8542782" y="1657350"/>
            <a:ext cx="297180" cy="297180"/>
          </a:xfrm>
          <a:prstGeom prst="rect">
            <a:avLst/>
          </a:prstGeom>
        </p:spPr>
      </p:pic>
      <p:sp>
        <p:nvSpPr>
          <p:cNvPr id="16" name="text-31"/>
          <p:cNvSpPr txBox="1"/>
          <p:nvPr/>
        </p:nvSpPr>
        <p:spPr>
          <a:xfrm>
            <a:off x="9125712" y="1508760"/>
            <a:ext cx="2377440" cy="5943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Expected Outcome</a:t>
            </a:r>
            <a:endParaRPr lang="en-US" sz="2000" dirty="0"/>
          </a:p>
        </p:txBody>
      </p:sp>
      <p:sp>
        <p:nvSpPr>
          <p:cNvPr id="17" name="text-32"/>
          <p:cNvSpPr txBox="1"/>
          <p:nvPr/>
        </p:nvSpPr>
        <p:spPr>
          <a:xfrm>
            <a:off x="8394192" y="2331720"/>
            <a:ext cx="3017520" cy="2606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Faster first response to every new lead</a:t>
            </a:r>
            <a:endParaRPr lang="en-US" sz="1500" dirty="0"/>
          </a:p>
          <a:p>
            <a:pPr marL="342900" indent="-342900">
              <a:spcAft>
                <a:spcPts val="800"/>
              </a:spcAft>
              <a:buSzPct val="100000"/>
              <a:buChar char="•"/>
            </a:pPr>
            <a:r>
              <a:rPr lang="en-US" sz="1500" dirty="0">
                <a:solidFill>
                  <a:schemeClr val="tx1"/>
                </a:solidFill>
              </a:rPr>
              <a:t>No two salespeople calling the same customer</a:t>
            </a:r>
            <a:endParaRPr lang="en-US" sz="1500" dirty="0"/>
          </a:p>
          <a:p>
            <a:pPr marL="342900" indent="-342900">
              <a:spcAft>
                <a:spcPts val="800"/>
              </a:spcAft>
              <a:buSzPct val="100000"/>
              <a:buChar char="•"/>
            </a:pPr>
            <a:r>
              <a:rPr lang="en-US" sz="1500" dirty="0">
                <a:solidFill>
                  <a:schemeClr val="tx1"/>
                </a:solidFill>
              </a:rPr>
              <a:t>Time spent on the leads most likely to buy</a:t>
            </a:r>
            <a:endParaRPr lang="en-US" sz="1500" dirty="0"/>
          </a:p>
          <a:p>
            <a:pPr marL="342900" indent="-342900">
              <a:spcAft>
                <a:spcPts val="800"/>
              </a:spcAft>
              <a:buSzPct val="100000"/>
              <a:buChar char="•"/>
            </a:pPr>
            <a:r>
              <a:rPr lang="en-US" sz="1500" dirty="0">
                <a:solidFill>
                  <a:schemeClr val="tx1"/>
                </a:solidFill>
              </a:rPr>
              <a:t>Decisions based on live reports</a:t>
            </a:r>
            <a:endParaRPr lang="en-US" sz="1500" dirty="0"/>
          </a:p>
        </p:txBody>
      </p:sp>
      <p:sp>
        <p:nvSpPr>
          <p:cNvPr id="18" name="text-33"/>
          <p:cNvSpPr txBox="1"/>
          <p:nvPr/>
        </p:nvSpPr>
        <p:spPr>
          <a:xfrm>
            <a:off x="548640" y="5303520"/>
            <a:ext cx="11091672" cy="868680"/>
          </a:xfrm>
          <a:prstGeom prst="roundRect">
            <a:avLst>
              <a:gd name="adj" fmla="val 10526"/>
            </a:avLst>
          </a:prstGeom>
          <a:solidFill>
            <a:schemeClr val="tx2"/>
          </a:solidFill>
          <a:ln/>
        </p:spPr>
        <p:txBody>
          <a:bodyPr wrap="square" lIns="228600" tIns="0" rIns="228600" bIns="0" rtlCol="0" anchor="ctr"/>
          <a:lstStyle/>
          <a:p>
            <a:pPr marL="0" indent="0">
              <a:buNone/>
            </a:pPr>
            <a:r>
              <a:rPr lang="en-US" sz="1500" b="1" dirty="0">
                <a:solidFill>
                  <a:schemeClr val="accent3"/>
                </a:solidFill>
              </a:rPr>
              <a:t>Research gap addressed:  </a:t>
            </a:r>
            <a:r>
              <a:rPr lang="en-US" sz="1500" dirty="0">
                <a:solidFill>
                  <a:schemeClr val="bg1"/>
                </a:solidFill>
              </a:rPr>
              <a:t>earlier studies look at lead scoring, lead handling and collecting leads separately. LeadGen does all of it in one automatic flow (collect → duplicate check → ML score → assign → AI-assisted reply) and the model keeps learning from results.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Literature Review Matrix</a:t>
            </a:r>
            <a:endParaRPr lang="en-US" sz="3200" dirty="0"/>
          </a:p>
        </p:txBody>
      </p:sp>
      <p:graphicFrame>
        <p:nvGraphicFramePr>
          <p:cNvPr id="4" name="lit-matrix"/>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3803904"/>
        </p:xfrm>
        <a:graphic>
          <a:graphicData uri="http://schemas.openxmlformats.org/drawingml/2006/table">
            <a:tbl>
              <a:tblPr/>
              <a:tblGrid>
                <a:gridCol w="4114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359152">
                  <a:extLst>
                    <a:ext uri="{9D8B030D-6E8A-4147-A177-3AD203B41FA5}">
                      <a16:colId xmlns:a16="http://schemas.microsoft.com/office/drawing/2014/main" val="20004"/>
                    </a:ext>
                  </a:extLst>
                </a:gridCol>
              </a:tblGrid>
              <a:tr h="384048">
                <a:tc>
                  <a:txBody>
                    <a:bodyPr/>
                    <a:lstStyle/>
                    <a:p>
                      <a:pPr marL="0" indent="0">
                        <a:buNone/>
                      </a:pPr>
                      <a:r>
                        <a:rPr lang="en-US" sz="1300" b="1" dirty="0">
                          <a:solidFill>
                            <a:schemeClr val="bg1"/>
                          </a:solidFill>
                        </a:rPr>
                        <a:t>#</a:t>
                      </a:r>
                      <a:endParaRPr lang="en-US" sz="1300" dirty="0"/>
                    </a:p>
                  </a:txBody>
                  <a:tcPr marL="54864" marR="54864" marT="54864" marB="54864">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Study (authors, title, venue, year)</a:t>
                      </a:r>
                      <a:endParaRPr lang="en-US" sz="1300" dirty="0"/>
                    </a:p>
                  </a:txBody>
                  <a:tcPr marL="54864" marR="54864" marT="54864" marB="54864">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Method</a:t>
                      </a:r>
                      <a:endParaRPr lang="en-US" sz="1300" dirty="0"/>
                    </a:p>
                  </a:txBody>
                  <a:tcPr marL="54864" marR="54864" marT="54864" marB="54864">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Key contribution</a:t>
                      </a:r>
                      <a:endParaRPr lang="en-US" sz="1300" dirty="0"/>
                    </a:p>
                  </a:txBody>
                  <a:tcPr marL="54864" marR="54864" marT="54864" marB="54864">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Gap LeadGen fills</a:t>
                      </a:r>
                      <a:endParaRPr lang="en-US" sz="1300" dirty="0"/>
                    </a:p>
                  </a:txBody>
                  <a:tcPr marL="54864" marR="54864" marT="54864" marB="54864">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49808">
                <a:tc>
                  <a:txBody>
                    <a:bodyPr/>
                    <a:lstStyle/>
                    <a:p>
                      <a:pPr marL="0" indent="0" algn="ctr">
                        <a:buNone/>
                      </a:pPr>
                      <a:r>
                        <a:rPr lang="en-US" sz="1100" b="1" dirty="0">
                          <a:solidFill>
                            <a:schemeClr val="tx1"/>
                          </a:solidFill>
                        </a:rPr>
                        <a:t>1</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Espadinha-Cruz, Fernandes &amp; Grilo, "Lead management optimization using data mining: A case in the telecommunications sector," Computers &amp; Industrial Engineering (Elsevier), 2021</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Data mining to sort leads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Predicts which leads will convert</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No automatic handling; one lead source only</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76656">
                <a:tc>
                  <a:txBody>
                    <a:bodyPr/>
                    <a:lstStyle/>
                    <a:p>
                      <a:pPr marL="0" indent="0" algn="ctr">
                        <a:buNone/>
                      </a:pPr>
                      <a:r>
                        <a:rPr lang="en-US" sz="1100" b="1" dirty="0">
                          <a:solidFill>
                            <a:schemeClr val="tx1"/>
                          </a:solidFill>
                        </a:rPr>
                        <a:t>2</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Ohiomah et al., "The role of lead management systems in inside sales performance," Journal of Business Research (Elsevier), 2019</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Survey of 108 sales staff</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Lead systems improve follow-ups and selling</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No AI scoring; no automatic assignment</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49808">
                <a:tc>
                  <a:txBody>
                    <a:bodyPr/>
                    <a:lstStyle/>
                    <a:p>
                      <a:pPr marL="0" indent="0" algn="ctr">
                        <a:buNone/>
                      </a:pPr>
                      <a:r>
                        <a:rPr lang="en-US" sz="1100" b="1" dirty="0">
                          <a:solidFill>
                            <a:schemeClr val="tx1"/>
                          </a:solidFill>
                        </a:rPr>
                        <a:t>3</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Das &amp; Datta, "Application of UTAUT2 on adopting AI-powered lead management system (AI-LMS) in passenger car sales," Technological Forecasting and Social Change (Elsevier), 2024</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Survey on adopting AI tools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Why sales teams accept AI lead tools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Studies adoption; no system built</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lgn="ctr">
                        <a:buNone/>
                      </a:pPr>
                      <a:r>
                        <a:rPr lang="en-US" sz="1100" b="1" dirty="0">
                          <a:solidFill>
                            <a:schemeClr val="tx1"/>
                          </a:solidFill>
                        </a:rPr>
                        <a:t>4</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Nygård &amp; Mezei, "Automating lead scoring with machine learning: An experimental study," Proc. HICSS, 2020</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ML models on CRM data</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ML lead scoring from past results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Scoring only; no collection, assignment or follow-up</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76656">
                <a:tc>
                  <a:txBody>
                    <a:bodyPr/>
                    <a:lstStyle/>
                    <a:p>
                      <a:pPr marL="0" indent="0" algn="ctr">
                        <a:buNone/>
                      </a:pPr>
                      <a:r>
                        <a:rPr lang="en-US" sz="1100" b="1" dirty="0">
                          <a:solidFill>
                            <a:schemeClr val="tx1"/>
                          </a:solidFill>
                        </a:rPr>
                        <a:t>5</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Wu, Andreev &amp; Benyoucef, "The state of lead scoring models and their impact on sales performance," Information Technology and Management (Springer), 2024</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Review of lead scoring models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Compares scoring methods and their effect on sales</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Review only; no working system</a:t>
                      </a:r>
                      <a:endParaRPr lang="en-US" sz="11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3" name="text-34"/>
          <p:cNvSpPr txBox="1"/>
          <p:nvPr/>
        </p:nvSpPr>
        <p:spPr>
          <a:xfrm>
            <a:off x="548640" y="5532120"/>
            <a:ext cx="11091672" cy="594360"/>
          </a:xfrm>
          <a:prstGeom prst="rect">
            <a:avLst/>
          </a:prstGeom>
          <a:noFill/>
          <a:ln/>
        </p:spPr>
        <p:txBody>
          <a:bodyPr wrap="square" lIns="0" tIns="0" rIns="0" bIns="0" rtlCol="0" anchor="ctr"/>
          <a:lstStyle/>
          <a:p>
            <a:pPr marL="0" indent="0">
              <a:buNone/>
            </a:pPr>
            <a:r>
              <a:rPr lang="en-US" sz="1500" b="1" i="1" dirty="0">
                <a:solidFill>
                  <a:schemeClr val="tx2"/>
                </a:solidFill>
              </a:rPr>
              <a:t>Common gap:  </a:t>
            </a:r>
            <a:r>
              <a:rPr lang="en-US" sz="1500" i="1" dirty="0">
                <a:solidFill>
                  <a:schemeClr val="tx1"/>
                </a:solidFill>
              </a:rPr>
              <a:t>no single system collects leads from many sources, removes duplicates, scores with ML, assigns automatically and shows reports.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sp>
        <p:nvSpPr>
          <p:cNvPr id="3" name="tag-35"/>
          <p:cNvSpPr txBox="1"/>
          <p:nvPr/>
        </p:nvSpPr>
        <p:spPr>
          <a:xfrm>
            <a:off x="9811512" y="457200"/>
            <a:ext cx="1828800" cy="384048"/>
          </a:xfrm>
          <a:prstGeom prst="roundRect">
            <a:avLst>
              <a:gd name="adj" fmla="val 47619"/>
            </a:avLst>
          </a:prstGeom>
          <a:solidFill>
            <a:schemeClr val="accent3"/>
          </a:solidFill>
          <a:ln/>
        </p:spPr>
        <p:txBody>
          <a:bodyPr wrap="square" lIns="0" tIns="0" rIns="0" bIns="0" rtlCol="0" anchor="ctr"/>
          <a:lstStyle/>
          <a:p>
            <a:pPr marL="0" indent="0" algn="ctr">
              <a:buNone/>
            </a:pPr>
            <a:r>
              <a:rPr lang="en-US" sz="1200" b="1" kern="0" spc="100" dirty="0">
                <a:solidFill>
                  <a:schemeClr val="tx1"/>
                </a:solidFill>
              </a:rPr>
              <a:t>[UPDATED]</a:t>
            </a:r>
            <a:endParaRPr lang="en-US" sz="1200" dirty="0"/>
          </a:p>
        </p:txBody>
      </p:sp>
      <p:sp>
        <p:nvSpPr>
          <p:cNvPr id="4" name="arch-layer-36"/>
          <p:cNvSpPr/>
          <p:nvPr/>
        </p:nvSpPr>
        <p:spPr>
          <a:xfrm>
            <a:off x="548640" y="1234440"/>
            <a:ext cx="11091672" cy="914400"/>
          </a:xfrm>
          <a:prstGeom prst="roundRect">
            <a:avLst>
              <a:gd name="adj" fmla="val 8000"/>
            </a:avLst>
          </a:prstGeom>
          <a:solidFill>
            <a:schemeClr val="bg2"/>
          </a:solidFill>
          <a:ln w="12700">
            <a:solidFill>
              <a:srgbClr val="C9D4E3"/>
            </a:solidFill>
            <a:prstDash val="solid"/>
          </a:ln>
        </p:spPr>
      </p:sp>
      <p:sp>
        <p:nvSpPr>
          <p:cNvPr id="5" name="text-37"/>
          <p:cNvSpPr txBox="1"/>
          <p:nvPr/>
        </p:nvSpPr>
        <p:spPr>
          <a:xfrm>
            <a:off x="731520" y="1234440"/>
            <a:ext cx="1828800" cy="914400"/>
          </a:xfrm>
          <a:prstGeom prst="rect">
            <a:avLst/>
          </a:prstGeom>
          <a:noFill/>
          <a:ln/>
        </p:spPr>
        <p:txBody>
          <a:bodyPr wrap="square" lIns="0" tIns="0" rIns="0" bIns="0" rtlCol="0" anchor="ctr"/>
          <a:lstStyle/>
          <a:p>
            <a:pPr marL="0" indent="0">
              <a:buNone/>
            </a:pPr>
            <a:r>
              <a:rPr lang="en-US" sz="1500" b="1" dirty="0">
                <a:solidFill>
                  <a:schemeClr val="tx2"/>
                </a:solidFill>
              </a:rPr>
              <a:t>Users &amp; lead sources</a:t>
            </a:r>
            <a:endParaRPr lang="en-US" sz="1500" dirty="0"/>
          </a:p>
        </p:txBody>
      </p:sp>
      <p:sp>
        <p:nvSpPr>
          <p:cNvPr id="6" name="text-38"/>
          <p:cNvSpPr txBox="1"/>
          <p:nvPr/>
        </p:nvSpPr>
        <p:spPr>
          <a:xfrm>
            <a:off x="2697480" y="1417320"/>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Website visitor</a:t>
            </a:r>
            <a:endParaRPr lang="en-US" sz="1300" dirty="0"/>
          </a:p>
        </p:txBody>
      </p:sp>
      <p:sp>
        <p:nvSpPr>
          <p:cNvPr id="7" name="text-39"/>
          <p:cNvSpPr txBox="1"/>
          <p:nvPr/>
        </p:nvSpPr>
        <p:spPr>
          <a:xfrm>
            <a:off x="4480560" y="1417320"/>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Salesperson</a:t>
            </a:r>
            <a:endParaRPr lang="en-US" sz="1300" dirty="0"/>
          </a:p>
        </p:txBody>
      </p:sp>
      <p:sp>
        <p:nvSpPr>
          <p:cNvPr id="8" name="text-40"/>
          <p:cNvSpPr txBox="1"/>
          <p:nvPr/>
        </p:nvSpPr>
        <p:spPr>
          <a:xfrm>
            <a:off x="6263640" y="1417320"/>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Admin / Manager</a:t>
            </a:r>
            <a:endParaRPr lang="en-US" sz="1300" dirty="0"/>
          </a:p>
        </p:txBody>
      </p:sp>
      <p:sp>
        <p:nvSpPr>
          <p:cNvPr id="9" name="text-41"/>
          <p:cNvSpPr txBox="1"/>
          <p:nvPr/>
        </p:nvSpPr>
        <p:spPr>
          <a:xfrm>
            <a:off x="8046720" y="1417320"/>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Meta Ads (webhook)</a:t>
            </a:r>
            <a:endParaRPr lang="en-US" sz="1300" dirty="0"/>
          </a:p>
        </p:txBody>
      </p:sp>
      <p:sp>
        <p:nvSpPr>
          <p:cNvPr id="10" name="text-42"/>
          <p:cNvSpPr txBox="1"/>
          <p:nvPr/>
        </p:nvSpPr>
        <p:spPr>
          <a:xfrm>
            <a:off x="9829800" y="1417320"/>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Excel / CSV import</a:t>
            </a:r>
            <a:endParaRPr lang="en-US" sz="1300" dirty="0"/>
          </a:p>
        </p:txBody>
      </p:sp>
      <p:sp>
        <p:nvSpPr>
          <p:cNvPr id="11" name="connector-43"/>
          <p:cNvSpPr/>
          <p:nvPr/>
        </p:nvSpPr>
        <p:spPr>
          <a:xfrm>
            <a:off x="6400800" y="2148840"/>
            <a:ext cx="0" cy="384048"/>
          </a:xfrm>
          <a:prstGeom prst="line">
            <a:avLst/>
          </a:prstGeom>
          <a:noFill/>
          <a:ln w="22225">
            <a:solidFill>
              <a:srgbClr val="0B5394"/>
            </a:solidFill>
            <a:prstDash val="solid"/>
            <a:headEnd type="triangle"/>
            <a:tailEnd type="triangle"/>
          </a:ln>
        </p:spPr>
      </p:sp>
      <p:sp>
        <p:nvSpPr>
          <p:cNvPr id="12" name="text-44"/>
          <p:cNvSpPr txBox="1"/>
          <p:nvPr/>
        </p:nvSpPr>
        <p:spPr>
          <a:xfrm>
            <a:off x="6537960" y="2203704"/>
            <a:ext cx="4114800" cy="274320"/>
          </a:xfrm>
          <a:prstGeom prst="rect">
            <a:avLst/>
          </a:prstGeom>
          <a:noFill/>
          <a:ln/>
        </p:spPr>
        <p:txBody>
          <a:bodyPr wrap="square" lIns="0" tIns="0" rIns="0" bIns="0" rtlCol="0" anchor="ctr"/>
          <a:lstStyle/>
          <a:p>
            <a:pPr marL="0" indent="0">
              <a:buNone/>
            </a:pPr>
            <a:r>
              <a:rPr lang="en-US" sz="1100" i="1" dirty="0">
                <a:solidFill>
                  <a:schemeClr val="accent1"/>
                </a:solidFill>
              </a:rPr>
              <a:t>HTTPS</a:t>
            </a:r>
            <a:endParaRPr lang="en-US" sz="1100" dirty="0"/>
          </a:p>
        </p:txBody>
      </p:sp>
      <p:sp>
        <p:nvSpPr>
          <p:cNvPr id="13" name="arch-layer-45"/>
          <p:cNvSpPr/>
          <p:nvPr/>
        </p:nvSpPr>
        <p:spPr>
          <a:xfrm>
            <a:off x="548640" y="2532888"/>
            <a:ext cx="11091672" cy="914400"/>
          </a:xfrm>
          <a:prstGeom prst="roundRect">
            <a:avLst>
              <a:gd name="adj" fmla="val 8000"/>
            </a:avLst>
          </a:prstGeom>
          <a:solidFill>
            <a:schemeClr val="bg2"/>
          </a:solidFill>
          <a:ln w="12700">
            <a:solidFill>
              <a:srgbClr val="C9D4E3"/>
            </a:solidFill>
            <a:prstDash val="solid"/>
          </a:ln>
        </p:spPr>
      </p:sp>
      <p:sp>
        <p:nvSpPr>
          <p:cNvPr id="14" name="text-46"/>
          <p:cNvSpPr txBox="1"/>
          <p:nvPr/>
        </p:nvSpPr>
        <p:spPr>
          <a:xfrm>
            <a:off x="731520" y="2532888"/>
            <a:ext cx="1828800" cy="914400"/>
          </a:xfrm>
          <a:prstGeom prst="rect">
            <a:avLst/>
          </a:prstGeom>
          <a:noFill/>
          <a:ln/>
        </p:spPr>
        <p:txBody>
          <a:bodyPr wrap="square" lIns="0" tIns="0" rIns="0" bIns="0" rtlCol="0" anchor="ctr"/>
          <a:lstStyle/>
          <a:p>
            <a:pPr marL="0" indent="0">
              <a:buNone/>
            </a:pPr>
            <a:r>
              <a:rPr lang="en-US" sz="1500" b="1" dirty="0">
                <a:solidFill>
                  <a:schemeClr val="tx2"/>
                </a:solidFill>
              </a:rPr>
              <a:t>Frontend</a:t>
            </a:r>
            <a:endParaRPr lang="en-US" sz="1500" dirty="0"/>
          </a:p>
          <a:p>
            <a:pPr marL="0" indent="0">
              <a:buNone/>
            </a:pPr>
            <a:r>
              <a:rPr lang="en-US" sz="1200" dirty="0">
                <a:solidFill>
                  <a:schemeClr val="accent6"/>
                </a:solidFill>
              </a:rPr>
              <a:t>React web app</a:t>
            </a:r>
            <a:endParaRPr lang="en-US" sz="1500" dirty="0"/>
          </a:p>
        </p:txBody>
      </p:sp>
      <p:sp>
        <p:nvSpPr>
          <p:cNvPr id="15" name="text-47"/>
          <p:cNvSpPr txBox="1"/>
          <p:nvPr/>
        </p:nvSpPr>
        <p:spPr>
          <a:xfrm>
            <a:off x="2697480" y="2715768"/>
            <a:ext cx="209169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Lead form</a:t>
            </a:r>
            <a:endParaRPr lang="en-US" sz="1300" dirty="0"/>
          </a:p>
        </p:txBody>
      </p:sp>
      <p:sp>
        <p:nvSpPr>
          <p:cNvPr id="16" name="text-48"/>
          <p:cNvSpPr txBox="1"/>
          <p:nvPr/>
        </p:nvSpPr>
        <p:spPr>
          <a:xfrm>
            <a:off x="4926330" y="2715768"/>
            <a:ext cx="209169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Admin dashboard</a:t>
            </a:r>
            <a:endParaRPr lang="en-US" sz="1300" dirty="0"/>
          </a:p>
        </p:txBody>
      </p:sp>
      <p:sp>
        <p:nvSpPr>
          <p:cNvPr id="17" name="text-49"/>
          <p:cNvSpPr txBox="1"/>
          <p:nvPr/>
        </p:nvSpPr>
        <p:spPr>
          <a:xfrm>
            <a:off x="7155180" y="2715768"/>
            <a:ext cx="209169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Sales dashboard</a:t>
            </a:r>
            <a:endParaRPr lang="en-US" sz="1300" dirty="0"/>
          </a:p>
        </p:txBody>
      </p:sp>
      <p:sp>
        <p:nvSpPr>
          <p:cNvPr id="18" name="text-50"/>
          <p:cNvSpPr txBox="1"/>
          <p:nvPr/>
        </p:nvSpPr>
        <p:spPr>
          <a:xfrm>
            <a:off x="9384030" y="2715768"/>
            <a:ext cx="209169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Reports &amp; analytics</a:t>
            </a:r>
            <a:endParaRPr lang="en-US" sz="1300" dirty="0"/>
          </a:p>
        </p:txBody>
      </p:sp>
      <p:sp>
        <p:nvSpPr>
          <p:cNvPr id="19" name="connector-51"/>
          <p:cNvSpPr/>
          <p:nvPr/>
        </p:nvSpPr>
        <p:spPr>
          <a:xfrm>
            <a:off x="6400800" y="3447288"/>
            <a:ext cx="0" cy="384048"/>
          </a:xfrm>
          <a:prstGeom prst="line">
            <a:avLst/>
          </a:prstGeom>
          <a:noFill/>
          <a:ln w="22225">
            <a:solidFill>
              <a:srgbClr val="0B5394"/>
            </a:solidFill>
            <a:prstDash val="solid"/>
            <a:headEnd type="triangle"/>
            <a:tailEnd type="triangle"/>
          </a:ln>
        </p:spPr>
      </p:sp>
      <p:sp>
        <p:nvSpPr>
          <p:cNvPr id="20" name="text-52"/>
          <p:cNvSpPr txBox="1"/>
          <p:nvPr/>
        </p:nvSpPr>
        <p:spPr>
          <a:xfrm>
            <a:off x="6537960" y="3502152"/>
            <a:ext cx="4114800" cy="274320"/>
          </a:xfrm>
          <a:prstGeom prst="rect">
            <a:avLst/>
          </a:prstGeom>
          <a:noFill/>
          <a:ln/>
        </p:spPr>
        <p:txBody>
          <a:bodyPr wrap="square" lIns="0" tIns="0" rIns="0" bIns="0" rtlCol="0" anchor="ctr"/>
          <a:lstStyle/>
          <a:p>
            <a:pPr marL="0" indent="0">
              <a:buNone/>
            </a:pPr>
            <a:r>
              <a:rPr lang="en-US" sz="1100" i="1" dirty="0">
                <a:solidFill>
                  <a:schemeClr val="accent1"/>
                </a:solidFill>
              </a:rPr>
              <a:t>REST API + login token (JWT)</a:t>
            </a:r>
            <a:endParaRPr lang="en-US" sz="1100" dirty="0"/>
          </a:p>
        </p:txBody>
      </p:sp>
      <p:sp>
        <p:nvSpPr>
          <p:cNvPr id="21" name="arch-layer-53"/>
          <p:cNvSpPr/>
          <p:nvPr/>
        </p:nvSpPr>
        <p:spPr>
          <a:xfrm>
            <a:off x="548640" y="3831336"/>
            <a:ext cx="11091672" cy="914400"/>
          </a:xfrm>
          <a:prstGeom prst="roundRect">
            <a:avLst>
              <a:gd name="adj" fmla="val 8000"/>
            </a:avLst>
          </a:prstGeom>
          <a:solidFill>
            <a:srgbClr val="E3ECF7"/>
          </a:solidFill>
          <a:ln w="12700">
            <a:solidFill>
              <a:srgbClr val="0B5394"/>
            </a:solidFill>
            <a:prstDash val="solid"/>
          </a:ln>
        </p:spPr>
      </p:sp>
      <p:sp>
        <p:nvSpPr>
          <p:cNvPr id="22" name="text-54"/>
          <p:cNvSpPr txBox="1"/>
          <p:nvPr/>
        </p:nvSpPr>
        <p:spPr>
          <a:xfrm>
            <a:off x="731520" y="3831336"/>
            <a:ext cx="1828800" cy="914400"/>
          </a:xfrm>
          <a:prstGeom prst="rect">
            <a:avLst/>
          </a:prstGeom>
          <a:noFill/>
          <a:ln/>
        </p:spPr>
        <p:txBody>
          <a:bodyPr wrap="square" lIns="0" tIns="0" rIns="0" bIns="0" rtlCol="0" anchor="ctr"/>
          <a:lstStyle/>
          <a:p>
            <a:pPr marL="0" indent="0">
              <a:buNone/>
            </a:pPr>
            <a:r>
              <a:rPr lang="en-US" sz="1500" b="1" dirty="0">
                <a:solidFill>
                  <a:schemeClr val="tx2"/>
                </a:solidFill>
              </a:rPr>
              <a:t>Backend</a:t>
            </a:r>
            <a:endParaRPr lang="en-US" sz="1500" dirty="0"/>
          </a:p>
          <a:p>
            <a:pPr marL="0" indent="0">
              <a:buNone/>
            </a:pPr>
            <a:r>
              <a:rPr lang="en-US" sz="1200" dirty="0">
                <a:solidFill>
                  <a:schemeClr val="accent6"/>
                </a:solidFill>
              </a:rPr>
              <a:t>Node.js + Express</a:t>
            </a:r>
            <a:endParaRPr lang="en-US" sz="1500" dirty="0"/>
          </a:p>
        </p:txBody>
      </p:sp>
      <p:sp>
        <p:nvSpPr>
          <p:cNvPr id="23" name="text-55"/>
          <p:cNvSpPr txBox="1"/>
          <p:nvPr/>
        </p:nvSpPr>
        <p:spPr>
          <a:xfrm>
            <a:off x="26974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Login &amp; roles</a:t>
            </a:r>
            <a:endParaRPr lang="en-US" sz="1300" dirty="0"/>
          </a:p>
        </p:txBody>
      </p:sp>
      <p:sp>
        <p:nvSpPr>
          <p:cNvPr id="24" name="text-56"/>
          <p:cNvSpPr txBox="1"/>
          <p:nvPr/>
        </p:nvSpPr>
        <p:spPr>
          <a:xfrm>
            <a:off x="41833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Lead processing</a:t>
            </a:r>
            <a:endParaRPr lang="en-US" sz="1300" dirty="0"/>
          </a:p>
        </p:txBody>
      </p:sp>
      <p:sp>
        <p:nvSpPr>
          <p:cNvPr id="25" name="text-57"/>
          <p:cNvSpPr txBox="1"/>
          <p:nvPr/>
        </p:nvSpPr>
        <p:spPr>
          <a:xfrm>
            <a:off x="56692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Duplicate check</a:t>
            </a:r>
            <a:endParaRPr lang="en-US" sz="1300" dirty="0"/>
          </a:p>
        </p:txBody>
      </p:sp>
      <p:sp>
        <p:nvSpPr>
          <p:cNvPr id="26" name="text-58"/>
          <p:cNvSpPr txBox="1"/>
          <p:nvPr/>
        </p:nvSpPr>
        <p:spPr>
          <a:xfrm>
            <a:off x="71551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Auto assignment</a:t>
            </a:r>
            <a:endParaRPr lang="en-US" sz="1300" dirty="0"/>
          </a:p>
        </p:txBody>
      </p:sp>
      <p:sp>
        <p:nvSpPr>
          <p:cNvPr id="27" name="text-59"/>
          <p:cNvSpPr txBox="1"/>
          <p:nvPr/>
        </p:nvSpPr>
        <p:spPr>
          <a:xfrm>
            <a:off x="86410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AI reply drafts</a:t>
            </a:r>
            <a:endParaRPr lang="en-US" sz="1300" dirty="0"/>
          </a:p>
        </p:txBody>
      </p:sp>
      <p:sp>
        <p:nvSpPr>
          <p:cNvPr id="28" name="text-60"/>
          <p:cNvSpPr txBox="1"/>
          <p:nvPr/>
        </p:nvSpPr>
        <p:spPr>
          <a:xfrm>
            <a:off x="10126980" y="4014216"/>
            <a:ext cx="134874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Reminders &amp; alerts</a:t>
            </a:r>
            <a:endParaRPr lang="en-US" sz="1300" dirty="0"/>
          </a:p>
        </p:txBody>
      </p:sp>
      <p:sp>
        <p:nvSpPr>
          <p:cNvPr id="29" name="connector-61"/>
          <p:cNvSpPr/>
          <p:nvPr/>
        </p:nvSpPr>
        <p:spPr>
          <a:xfrm>
            <a:off x="6400800" y="4745736"/>
            <a:ext cx="0" cy="384048"/>
          </a:xfrm>
          <a:prstGeom prst="line">
            <a:avLst/>
          </a:prstGeom>
          <a:noFill/>
          <a:ln w="22225">
            <a:solidFill>
              <a:srgbClr val="0B5394"/>
            </a:solidFill>
            <a:prstDash val="solid"/>
            <a:headEnd type="triangle"/>
            <a:tailEnd type="triangle"/>
          </a:ln>
        </p:spPr>
      </p:sp>
      <p:sp>
        <p:nvSpPr>
          <p:cNvPr id="30" name="text-62"/>
          <p:cNvSpPr txBox="1"/>
          <p:nvPr/>
        </p:nvSpPr>
        <p:spPr>
          <a:xfrm>
            <a:off x="6537960" y="4800600"/>
            <a:ext cx="4114800" cy="274320"/>
          </a:xfrm>
          <a:prstGeom prst="rect">
            <a:avLst/>
          </a:prstGeom>
          <a:noFill/>
          <a:ln/>
        </p:spPr>
        <p:txBody>
          <a:bodyPr wrap="square" lIns="0" tIns="0" rIns="0" bIns="0" rtlCol="0" anchor="ctr"/>
          <a:lstStyle/>
          <a:p>
            <a:pPr marL="0" indent="0">
              <a:buNone/>
            </a:pPr>
            <a:r>
              <a:rPr lang="en-US" sz="1100" i="1" dirty="0">
                <a:solidFill>
                  <a:schemeClr val="accent1"/>
                </a:solidFill>
              </a:rPr>
              <a:t>read / write, score request, API calls</a:t>
            </a:r>
            <a:endParaRPr lang="en-US" sz="1100" dirty="0"/>
          </a:p>
        </p:txBody>
      </p:sp>
      <p:sp>
        <p:nvSpPr>
          <p:cNvPr id="31" name="arch-layer-63"/>
          <p:cNvSpPr/>
          <p:nvPr/>
        </p:nvSpPr>
        <p:spPr>
          <a:xfrm>
            <a:off x="548640" y="5129784"/>
            <a:ext cx="11091672" cy="914400"/>
          </a:xfrm>
          <a:prstGeom prst="roundRect">
            <a:avLst>
              <a:gd name="adj" fmla="val 8000"/>
            </a:avLst>
          </a:prstGeom>
          <a:solidFill>
            <a:schemeClr val="bg2"/>
          </a:solidFill>
          <a:ln w="12700">
            <a:solidFill>
              <a:srgbClr val="C9D4E3"/>
            </a:solidFill>
            <a:prstDash val="solid"/>
          </a:ln>
        </p:spPr>
      </p:sp>
      <p:sp>
        <p:nvSpPr>
          <p:cNvPr id="32" name="text-64"/>
          <p:cNvSpPr txBox="1"/>
          <p:nvPr/>
        </p:nvSpPr>
        <p:spPr>
          <a:xfrm>
            <a:off x="731520" y="5129784"/>
            <a:ext cx="1828800" cy="914400"/>
          </a:xfrm>
          <a:prstGeom prst="rect">
            <a:avLst/>
          </a:prstGeom>
          <a:noFill/>
          <a:ln/>
        </p:spPr>
        <p:txBody>
          <a:bodyPr wrap="square" lIns="0" tIns="0" rIns="0" bIns="0" rtlCol="0" anchor="ctr"/>
          <a:lstStyle/>
          <a:p>
            <a:pPr marL="0" indent="0">
              <a:buNone/>
            </a:pPr>
            <a:r>
              <a:rPr lang="en-US" sz="1500" b="1" dirty="0">
                <a:solidFill>
                  <a:schemeClr val="tx2"/>
                </a:solidFill>
              </a:rPr>
              <a:t>Data &amp; services</a:t>
            </a:r>
            <a:endParaRPr lang="en-US" sz="1500" dirty="0"/>
          </a:p>
        </p:txBody>
      </p:sp>
      <p:sp>
        <p:nvSpPr>
          <p:cNvPr id="33" name="text-65"/>
          <p:cNvSpPr txBox="1"/>
          <p:nvPr/>
        </p:nvSpPr>
        <p:spPr>
          <a:xfrm>
            <a:off x="2697480" y="5312664"/>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MongoDB (data)</a:t>
            </a:r>
            <a:endParaRPr lang="en-US" sz="1300" dirty="0"/>
          </a:p>
        </p:txBody>
      </p:sp>
      <p:sp>
        <p:nvSpPr>
          <p:cNvPr id="34" name="text-66"/>
          <p:cNvSpPr txBox="1"/>
          <p:nvPr/>
        </p:nvSpPr>
        <p:spPr>
          <a:xfrm>
            <a:off x="4480560" y="5312664"/>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Cloudinary (files)</a:t>
            </a:r>
            <a:endParaRPr lang="en-US" sz="1300" dirty="0"/>
          </a:p>
        </p:txBody>
      </p:sp>
      <p:sp>
        <p:nvSpPr>
          <p:cNvPr id="35" name="text-67"/>
          <p:cNvSpPr txBox="1"/>
          <p:nvPr/>
        </p:nvSpPr>
        <p:spPr>
          <a:xfrm>
            <a:off x="6263640" y="5312664"/>
            <a:ext cx="1645920" cy="548640"/>
          </a:xfrm>
          <a:prstGeom prst="roundRect">
            <a:avLst>
              <a:gd name="adj" fmla="val 13333"/>
            </a:avLst>
          </a:prstGeom>
          <a:solidFill>
            <a:schemeClr val="accent3"/>
          </a:solidFill>
          <a:ln w="9525">
            <a:solidFill>
              <a:srgbClr val="F2A900"/>
            </a:solidFill>
          </a:ln>
        </p:spPr>
        <p:txBody>
          <a:bodyPr wrap="square" lIns="50800" tIns="0" rIns="50800" bIns="0" rtlCol="0" anchor="ctr"/>
          <a:lstStyle/>
          <a:p>
            <a:pPr marL="0" indent="0" algn="ctr">
              <a:buNone/>
            </a:pPr>
            <a:r>
              <a:rPr lang="en-US" sz="1300" b="1" dirty="0">
                <a:solidFill>
                  <a:schemeClr val="tx1"/>
                </a:solidFill>
              </a:rPr>
              <a:t>ML service (lead score)</a:t>
            </a:r>
            <a:endParaRPr lang="en-US" sz="1300" dirty="0"/>
          </a:p>
        </p:txBody>
      </p:sp>
      <p:sp>
        <p:nvSpPr>
          <p:cNvPr id="36" name="text-68"/>
          <p:cNvSpPr txBox="1"/>
          <p:nvPr/>
        </p:nvSpPr>
        <p:spPr>
          <a:xfrm>
            <a:off x="8046720" y="5312664"/>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Google Gemini (AI replies)</a:t>
            </a:r>
            <a:endParaRPr lang="en-US" sz="1300" dirty="0"/>
          </a:p>
        </p:txBody>
      </p:sp>
      <p:sp>
        <p:nvSpPr>
          <p:cNvPr id="37" name="text-69"/>
          <p:cNvSpPr txBox="1"/>
          <p:nvPr/>
        </p:nvSpPr>
        <p:spPr>
          <a:xfrm>
            <a:off x="9829800" y="5312664"/>
            <a:ext cx="1645920" cy="548640"/>
          </a:xfrm>
          <a:prstGeom prst="roundRect">
            <a:avLst>
              <a:gd name="adj" fmla="val 13333"/>
            </a:avLst>
          </a:prstGeom>
          <a:solidFill>
            <a:schemeClr val="bg1"/>
          </a:solidFill>
          <a:ln w="9525">
            <a:solidFill>
              <a:srgbClr val="C9D4E3"/>
            </a:solidFill>
          </a:ln>
        </p:spPr>
        <p:txBody>
          <a:bodyPr wrap="square" lIns="50800" tIns="0" rIns="50800" bIns="0" rtlCol="0" anchor="ctr"/>
          <a:lstStyle/>
          <a:p>
            <a:pPr marL="0" indent="0" algn="ctr">
              <a:buNone/>
            </a:pPr>
            <a:r>
              <a:rPr lang="en-US" sz="1300" b="1" dirty="0">
                <a:solidFill>
                  <a:schemeClr val="tx1"/>
                </a:solidFill>
              </a:rPr>
              <a:t>Firebase + SMS (alerts)</a:t>
            </a:r>
            <a:endParaRPr lang="en-US" sz="13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UML System Design</a:t>
            </a:r>
            <a:endParaRPr lang="en-US" sz="3200" dirty="0"/>
          </a:p>
        </p:txBody>
      </p:sp>
      <p:sp>
        <p:nvSpPr>
          <p:cNvPr id="3" name="tag-70"/>
          <p:cNvSpPr txBox="1"/>
          <p:nvPr/>
        </p:nvSpPr>
        <p:spPr>
          <a:xfrm>
            <a:off x="9811512" y="457200"/>
            <a:ext cx="1828800" cy="384048"/>
          </a:xfrm>
          <a:prstGeom prst="roundRect">
            <a:avLst>
              <a:gd name="adj" fmla="val 47619"/>
            </a:avLst>
          </a:prstGeom>
          <a:solidFill>
            <a:schemeClr val="accent3"/>
          </a:solidFill>
          <a:ln/>
        </p:spPr>
        <p:txBody>
          <a:bodyPr wrap="square" lIns="0" tIns="0" rIns="0" bIns="0" rtlCol="0" anchor="ctr"/>
          <a:lstStyle/>
          <a:p>
            <a:pPr marL="0" indent="0" algn="ctr">
              <a:buNone/>
            </a:pPr>
            <a:r>
              <a:rPr lang="en-US" sz="1200" b="1" kern="0" spc="100" dirty="0">
                <a:solidFill>
                  <a:schemeClr val="tx1"/>
                </a:solidFill>
              </a:rPr>
              <a:t>[UPDATED]</a:t>
            </a:r>
            <a:endParaRPr lang="en-US" sz="1200" dirty="0"/>
          </a:p>
        </p:txBody>
      </p:sp>
      <p:sp>
        <p:nvSpPr>
          <p:cNvPr id="4" name="uml-panel-71"/>
          <p:cNvSpPr/>
          <p:nvPr/>
        </p:nvSpPr>
        <p:spPr>
          <a:xfrm>
            <a:off x="548640" y="1188720"/>
            <a:ext cx="5486400" cy="3017520"/>
          </a:xfrm>
          <a:prstGeom prst="roundRect">
            <a:avLst>
              <a:gd name="adj" fmla="val 1818"/>
            </a:avLst>
          </a:prstGeom>
          <a:solidFill>
            <a:schemeClr val="bg1"/>
          </a:solidFill>
          <a:ln w="12700">
            <a:solidFill>
              <a:srgbClr val="C9D4E3"/>
            </a:solidFill>
            <a:prstDash val="solid"/>
          </a:ln>
        </p:spPr>
      </p:sp>
      <p:sp>
        <p:nvSpPr>
          <p:cNvPr id="5" name="text-72"/>
          <p:cNvSpPr txBox="1"/>
          <p:nvPr/>
        </p:nvSpPr>
        <p:spPr>
          <a:xfrm>
            <a:off x="685800" y="1261872"/>
            <a:ext cx="3200400" cy="274320"/>
          </a:xfrm>
          <a:prstGeom prst="rect">
            <a:avLst/>
          </a:prstGeom>
          <a:noFill/>
          <a:ln/>
        </p:spPr>
        <p:txBody>
          <a:bodyPr wrap="square" lIns="0" tIns="0" rIns="0" bIns="0" rtlCol="0" anchor="ctr"/>
          <a:lstStyle/>
          <a:p>
            <a:pPr marL="0" indent="0">
              <a:buNone/>
            </a:pPr>
            <a:r>
              <a:rPr lang="en-US" sz="1200" b="1" dirty="0">
                <a:solidFill>
                  <a:schemeClr val="tx2"/>
                </a:solidFill>
              </a:rPr>
              <a:t>Use Case Diagram</a:t>
            </a:r>
            <a:endParaRPr lang="en-US" sz="1200" dirty="0"/>
          </a:p>
        </p:txBody>
      </p:sp>
      <p:sp>
        <p:nvSpPr>
          <p:cNvPr id="6" name="uc-boundary"/>
          <p:cNvSpPr/>
          <p:nvPr/>
        </p:nvSpPr>
        <p:spPr>
          <a:xfrm>
            <a:off x="1371600" y="1508760"/>
            <a:ext cx="3703320" cy="2624328"/>
          </a:xfrm>
          <a:prstGeom prst="rect">
            <a:avLst/>
          </a:prstGeom>
          <a:ln w="12700">
            <a:solidFill>
              <a:srgbClr val="6B7C93"/>
            </a:solidFill>
            <a:prstDash val="solid"/>
          </a:ln>
        </p:spPr>
      </p:sp>
      <p:sp>
        <p:nvSpPr>
          <p:cNvPr id="7" name="text-73"/>
          <p:cNvSpPr txBox="1"/>
          <p:nvPr/>
        </p:nvSpPr>
        <p:spPr>
          <a:xfrm>
            <a:off x="1444752" y="3904488"/>
            <a:ext cx="1188720" cy="201168"/>
          </a:xfrm>
          <a:prstGeom prst="rect">
            <a:avLst/>
          </a:prstGeom>
          <a:noFill/>
          <a:ln/>
        </p:spPr>
        <p:txBody>
          <a:bodyPr wrap="square" lIns="0" tIns="0" rIns="0" bIns="0" rtlCol="0" anchor="ctr"/>
          <a:lstStyle/>
          <a:p>
            <a:pPr marL="0" indent="0">
              <a:buNone/>
            </a:pPr>
            <a:r>
              <a:rPr lang="en-US" sz="1000" i="1" dirty="0">
                <a:solidFill>
                  <a:schemeClr val="accent6"/>
                </a:solidFill>
              </a:rPr>
              <a:t>LeadGen system</a:t>
            </a:r>
            <a:endParaRPr lang="en-US" sz="1000" dirty="0"/>
          </a:p>
        </p:txBody>
      </p:sp>
      <p:sp>
        <p:nvSpPr>
          <p:cNvPr id="8" name="text-74"/>
          <p:cNvSpPr txBox="1"/>
          <p:nvPr/>
        </p:nvSpPr>
        <p:spPr>
          <a:xfrm>
            <a:off x="1463040" y="1645920"/>
            <a:ext cx="1691640" cy="329184"/>
          </a:xfrm>
          <a:prstGeom prst="ellipse">
            <a:avLst/>
          </a:prstGeom>
          <a:solidFill>
            <a:srgbClr val="EAF1FB"/>
          </a:solidFill>
          <a:ln w="9525">
            <a:solidFill>
              <a:srgbClr val="0B5394"/>
            </a:solidFill>
          </a:ln>
        </p:spPr>
        <p:txBody>
          <a:bodyPr wrap="square" lIns="0" tIns="0" rIns="0" bIns="0" rtlCol="0" anchor="ctr"/>
          <a:lstStyle/>
          <a:p>
            <a:pPr marL="0" indent="0" algn="ctr">
              <a:buNone/>
            </a:pPr>
            <a:r>
              <a:rPr lang="en-US" sz="1000" dirty="0">
                <a:solidFill>
                  <a:schemeClr val="tx1"/>
                </a:solidFill>
              </a:rPr>
              <a:t>Submit enquiry</a:t>
            </a:r>
            <a:endParaRPr lang="en-US" sz="1000" dirty="0"/>
          </a:p>
        </p:txBody>
      </p:sp>
      <p:sp>
        <p:nvSpPr>
          <p:cNvPr id="9" name="text-75"/>
          <p:cNvSpPr txBox="1"/>
          <p:nvPr/>
        </p:nvSpPr>
        <p:spPr>
          <a:xfrm>
            <a:off x="1463040" y="2057400"/>
            <a:ext cx="1691640" cy="329184"/>
          </a:xfrm>
          <a:prstGeom prst="ellipse">
            <a:avLst/>
          </a:prstGeom>
          <a:solidFill>
            <a:srgbClr val="EAF1FB"/>
          </a:solidFill>
          <a:ln w="9525">
            <a:solidFill>
              <a:srgbClr val="0B5394"/>
            </a:solidFill>
          </a:ln>
        </p:spPr>
        <p:txBody>
          <a:bodyPr wrap="square" lIns="0" tIns="0" rIns="0" bIns="0" rtlCol="0" anchor="ctr"/>
          <a:lstStyle/>
          <a:p>
            <a:pPr marL="0" indent="0" algn="ctr">
              <a:buNone/>
            </a:pPr>
            <a:r>
              <a:rPr lang="en-US" sz="1000" dirty="0">
                <a:solidFill>
                  <a:schemeClr val="tx1"/>
                </a:solidFill>
              </a:rPr>
              <a:t>Send leads (API)</a:t>
            </a:r>
            <a:endParaRPr lang="en-US" sz="1000" dirty="0"/>
          </a:p>
        </p:txBody>
      </p:sp>
      <p:sp>
        <p:nvSpPr>
          <p:cNvPr id="10" name="text-76"/>
          <p:cNvSpPr txBox="1"/>
          <p:nvPr/>
        </p:nvSpPr>
        <p:spPr>
          <a:xfrm>
            <a:off x="1463040" y="2697480"/>
            <a:ext cx="1691640" cy="329184"/>
          </a:xfrm>
          <a:prstGeom prst="ellipse">
            <a:avLst/>
          </a:prstGeom>
          <a:solidFill>
            <a:srgbClr val="E6F4EC"/>
          </a:solidFill>
          <a:ln w="9525">
            <a:solidFill>
              <a:srgbClr val="0B5394"/>
            </a:solidFill>
          </a:ln>
        </p:spPr>
        <p:txBody>
          <a:bodyPr wrap="square" lIns="0" tIns="0" rIns="0" bIns="0" rtlCol="0" anchor="ctr"/>
          <a:lstStyle/>
          <a:p>
            <a:pPr marL="0" indent="0" algn="ctr">
              <a:buNone/>
            </a:pPr>
            <a:r>
              <a:rPr lang="en-US" sz="1000" dirty="0">
                <a:solidFill>
                  <a:schemeClr val="tx1"/>
                </a:solidFill>
              </a:rPr>
              <a:t>View my leads</a:t>
            </a:r>
            <a:endParaRPr lang="en-US" sz="1000" dirty="0"/>
          </a:p>
        </p:txBody>
      </p:sp>
      <p:sp>
        <p:nvSpPr>
          <p:cNvPr id="11" name="text-77"/>
          <p:cNvSpPr txBox="1"/>
          <p:nvPr/>
        </p:nvSpPr>
        <p:spPr>
          <a:xfrm>
            <a:off x="1463040" y="3108960"/>
            <a:ext cx="1691640" cy="329184"/>
          </a:xfrm>
          <a:prstGeom prst="ellipse">
            <a:avLst/>
          </a:prstGeom>
          <a:solidFill>
            <a:srgbClr val="E6F4EC"/>
          </a:solidFill>
          <a:ln w="9525">
            <a:solidFill>
              <a:srgbClr val="0B5394"/>
            </a:solidFill>
          </a:ln>
        </p:spPr>
        <p:txBody>
          <a:bodyPr wrap="square" lIns="0" tIns="0" rIns="0" bIns="0" rtlCol="0" anchor="ctr"/>
          <a:lstStyle/>
          <a:p>
            <a:pPr marL="0" indent="0" algn="ctr">
              <a:buNone/>
            </a:pPr>
            <a:r>
              <a:rPr lang="en-US" sz="1000" dirty="0">
                <a:solidFill>
                  <a:schemeClr val="tx1"/>
                </a:solidFill>
              </a:rPr>
              <a:t>Update lead status</a:t>
            </a:r>
            <a:endParaRPr lang="en-US" sz="1000" dirty="0"/>
          </a:p>
        </p:txBody>
      </p:sp>
      <p:sp>
        <p:nvSpPr>
          <p:cNvPr id="12" name="text-78"/>
          <p:cNvSpPr txBox="1"/>
          <p:nvPr/>
        </p:nvSpPr>
        <p:spPr>
          <a:xfrm>
            <a:off x="1463040" y="3520440"/>
            <a:ext cx="1691640" cy="329184"/>
          </a:xfrm>
          <a:prstGeom prst="ellipse">
            <a:avLst/>
          </a:prstGeom>
          <a:solidFill>
            <a:srgbClr val="E6F4EC"/>
          </a:solidFill>
          <a:ln w="9525">
            <a:solidFill>
              <a:srgbClr val="0B5394"/>
            </a:solidFill>
          </a:ln>
        </p:spPr>
        <p:txBody>
          <a:bodyPr wrap="square" lIns="0" tIns="0" rIns="0" bIns="0" rtlCol="0" anchor="ctr"/>
          <a:lstStyle/>
          <a:p>
            <a:pPr marL="0" indent="0" algn="ctr">
              <a:buNone/>
            </a:pPr>
            <a:r>
              <a:rPr lang="en-US" sz="1000" dirty="0">
                <a:solidFill>
                  <a:schemeClr val="tx1"/>
                </a:solidFill>
              </a:rPr>
              <a:t>Use AI reply</a:t>
            </a:r>
            <a:endParaRPr lang="en-US" sz="1000" dirty="0"/>
          </a:p>
        </p:txBody>
      </p:sp>
      <p:sp>
        <p:nvSpPr>
          <p:cNvPr id="13" name="text-79"/>
          <p:cNvSpPr txBox="1"/>
          <p:nvPr/>
        </p:nvSpPr>
        <p:spPr>
          <a:xfrm>
            <a:off x="3291840" y="1645920"/>
            <a:ext cx="1691640" cy="329184"/>
          </a:xfrm>
          <a:prstGeom prst="ellipse">
            <a:avLst/>
          </a:prstGeom>
          <a:solidFill>
            <a:srgbClr val="FFF1CC"/>
          </a:solidFill>
          <a:ln w="9525">
            <a:solidFill>
              <a:srgbClr val="0B5394"/>
            </a:solidFill>
          </a:ln>
        </p:spPr>
        <p:txBody>
          <a:bodyPr wrap="square" lIns="0" tIns="0" rIns="0" bIns="0" rtlCol="0" anchor="ctr"/>
          <a:lstStyle/>
          <a:p>
            <a:pPr marL="0" indent="0" algn="ctr">
              <a:buNone/>
            </a:pPr>
            <a:r>
              <a:rPr lang="en-US" sz="1000" dirty="0">
                <a:solidFill>
                  <a:schemeClr val="tx1"/>
                </a:solidFill>
              </a:rPr>
              <a:t>Process lead</a:t>
            </a:r>
            <a:endParaRPr lang="en-US" sz="1000" dirty="0"/>
          </a:p>
        </p:txBody>
      </p:sp>
      <p:sp>
        <p:nvSpPr>
          <p:cNvPr id="14" name="text-80"/>
          <p:cNvSpPr txBox="1"/>
          <p:nvPr/>
        </p:nvSpPr>
        <p:spPr>
          <a:xfrm>
            <a:off x="3291840" y="1993392"/>
            <a:ext cx="1691640" cy="365760"/>
          </a:xfrm>
          <a:prstGeom prst="rect">
            <a:avLst/>
          </a:prstGeom>
          <a:noFill/>
          <a:ln/>
        </p:spPr>
        <p:txBody>
          <a:bodyPr wrap="square" lIns="0" tIns="0" rIns="0" bIns="0" rtlCol="0" anchor="ctr"/>
          <a:lstStyle/>
          <a:p>
            <a:pPr marL="0" indent="0" algn="ctr">
              <a:buNone/>
            </a:pPr>
            <a:r>
              <a:rPr lang="en-US" sz="1000" i="1" dirty="0">
                <a:solidFill>
                  <a:schemeClr val="accent6"/>
                </a:solidFill>
              </a:rPr>
              <a:t>«include» duplicate check,</a:t>
            </a:r>
            <a:endParaRPr lang="en-US" sz="1000" dirty="0"/>
          </a:p>
          <a:p>
            <a:pPr marL="0" indent="0" algn="ctr">
              <a:buNone/>
            </a:pPr>
            <a:r>
              <a:rPr lang="en-US" sz="1000" i="1" dirty="0">
                <a:solidFill>
                  <a:schemeClr val="accent6"/>
                </a:solidFill>
              </a:rPr>
              <a:t>ML score, auto assign</a:t>
            </a:r>
            <a:endParaRPr lang="en-US" sz="1000" dirty="0"/>
          </a:p>
        </p:txBody>
      </p:sp>
      <p:sp>
        <p:nvSpPr>
          <p:cNvPr id="15" name="text-81"/>
          <p:cNvSpPr txBox="1"/>
          <p:nvPr/>
        </p:nvSpPr>
        <p:spPr>
          <a:xfrm>
            <a:off x="3291840" y="2560320"/>
            <a:ext cx="1691640" cy="329184"/>
          </a:xfrm>
          <a:prstGeom prst="ellipse">
            <a:avLst/>
          </a:prstGeom>
          <a:solidFill>
            <a:srgbClr val="FCE8EF"/>
          </a:solidFill>
          <a:ln w="9525">
            <a:solidFill>
              <a:srgbClr val="0B5394"/>
            </a:solidFill>
          </a:ln>
        </p:spPr>
        <p:txBody>
          <a:bodyPr wrap="square" lIns="0" tIns="0" rIns="0" bIns="0" rtlCol="0" anchor="ctr"/>
          <a:lstStyle/>
          <a:p>
            <a:pPr marL="0" indent="0" algn="ctr">
              <a:buNone/>
            </a:pPr>
            <a:r>
              <a:rPr lang="en-US" sz="1000" dirty="0">
                <a:solidFill>
                  <a:schemeClr val="tx1"/>
                </a:solidFill>
              </a:rPr>
              <a:t>Manage leads</a:t>
            </a:r>
            <a:endParaRPr lang="en-US" sz="1000" dirty="0"/>
          </a:p>
        </p:txBody>
      </p:sp>
      <p:sp>
        <p:nvSpPr>
          <p:cNvPr id="16" name="text-82"/>
          <p:cNvSpPr txBox="1"/>
          <p:nvPr/>
        </p:nvSpPr>
        <p:spPr>
          <a:xfrm>
            <a:off x="3291840" y="2926080"/>
            <a:ext cx="1691640" cy="329184"/>
          </a:xfrm>
          <a:prstGeom prst="ellipse">
            <a:avLst/>
          </a:prstGeom>
          <a:solidFill>
            <a:srgbClr val="FCE8EF"/>
          </a:solidFill>
          <a:ln w="9525">
            <a:solidFill>
              <a:srgbClr val="0B5394"/>
            </a:solidFill>
          </a:ln>
        </p:spPr>
        <p:txBody>
          <a:bodyPr wrap="square" lIns="0" tIns="0" rIns="0" bIns="0" rtlCol="0" anchor="ctr"/>
          <a:lstStyle/>
          <a:p>
            <a:pPr marL="0" indent="0" algn="ctr">
              <a:buNone/>
            </a:pPr>
            <a:r>
              <a:rPr lang="en-US" sz="1000" dirty="0">
                <a:solidFill>
                  <a:schemeClr val="tx1"/>
                </a:solidFill>
              </a:rPr>
              <a:t>Assign leads</a:t>
            </a:r>
            <a:endParaRPr lang="en-US" sz="1000" dirty="0"/>
          </a:p>
        </p:txBody>
      </p:sp>
      <p:sp>
        <p:nvSpPr>
          <p:cNvPr id="17" name="text-83"/>
          <p:cNvSpPr txBox="1"/>
          <p:nvPr/>
        </p:nvSpPr>
        <p:spPr>
          <a:xfrm>
            <a:off x="3291840" y="3291840"/>
            <a:ext cx="1691640" cy="329184"/>
          </a:xfrm>
          <a:prstGeom prst="ellipse">
            <a:avLst/>
          </a:prstGeom>
          <a:solidFill>
            <a:srgbClr val="FCE8EF"/>
          </a:solidFill>
          <a:ln w="9525">
            <a:solidFill>
              <a:srgbClr val="0B5394"/>
            </a:solidFill>
          </a:ln>
        </p:spPr>
        <p:txBody>
          <a:bodyPr wrap="square" lIns="0" tIns="0" rIns="0" bIns="0" rtlCol="0" anchor="ctr"/>
          <a:lstStyle/>
          <a:p>
            <a:pPr marL="0" indent="0" algn="ctr">
              <a:buNone/>
            </a:pPr>
            <a:r>
              <a:rPr lang="en-US" sz="1000" dirty="0">
                <a:solidFill>
                  <a:schemeClr val="tx1"/>
                </a:solidFill>
              </a:rPr>
              <a:t>Manage team</a:t>
            </a:r>
            <a:endParaRPr lang="en-US" sz="1000" dirty="0"/>
          </a:p>
        </p:txBody>
      </p:sp>
      <p:sp>
        <p:nvSpPr>
          <p:cNvPr id="18" name="text-84"/>
          <p:cNvSpPr txBox="1"/>
          <p:nvPr/>
        </p:nvSpPr>
        <p:spPr>
          <a:xfrm>
            <a:off x="3291840" y="3657600"/>
            <a:ext cx="1691640" cy="329184"/>
          </a:xfrm>
          <a:prstGeom prst="ellipse">
            <a:avLst/>
          </a:prstGeom>
          <a:solidFill>
            <a:srgbClr val="FCE8EF"/>
          </a:solidFill>
          <a:ln w="9525">
            <a:solidFill>
              <a:srgbClr val="0B5394"/>
            </a:solidFill>
          </a:ln>
        </p:spPr>
        <p:txBody>
          <a:bodyPr wrap="square" lIns="0" tIns="0" rIns="0" bIns="0" rtlCol="0" anchor="ctr"/>
          <a:lstStyle/>
          <a:p>
            <a:pPr marL="0" indent="0" algn="ctr">
              <a:buNone/>
            </a:pPr>
            <a:r>
              <a:rPr lang="en-US" sz="1000" dirty="0">
                <a:solidFill>
                  <a:schemeClr val="tx1"/>
                </a:solidFill>
              </a:rPr>
              <a:t>View reports</a:t>
            </a:r>
            <a:endParaRPr lang="en-US" sz="1000" dirty="0"/>
          </a:p>
        </p:txBody>
      </p:sp>
      <p:pic>
        <p:nvPicPr>
          <p:cNvPr id="19" name="uc-actor-85" descr="preencoded.png"/>
          <p:cNvPicPr>
            <a:picLocks noChangeAspect="1"/>
          </p:cNvPicPr>
          <p:nvPr/>
        </p:nvPicPr>
        <p:blipFill>
          <a:blip r:embed="rId3"/>
          <a:stretch>
            <a:fillRect/>
          </a:stretch>
        </p:blipFill>
        <p:spPr>
          <a:xfrm>
            <a:off x="795528" y="1554480"/>
            <a:ext cx="292608" cy="292608"/>
          </a:xfrm>
          <a:prstGeom prst="rect">
            <a:avLst/>
          </a:prstGeom>
        </p:spPr>
      </p:pic>
      <p:sp>
        <p:nvSpPr>
          <p:cNvPr id="20" name="text-86"/>
          <p:cNvSpPr txBox="1"/>
          <p:nvPr/>
        </p:nvSpPr>
        <p:spPr>
          <a:xfrm>
            <a:off x="502920" y="1856232"/>
            <a:ext cx="877824" cy="201168"/>
          </a:xfrm>
          <a:prstGeom prst="rect">
            <a:avLst/>
          </a:prstGeom>
          <a:noFill/>
          <a:ln/>
        </p:spPr>
        <p:txBody>
          <a:bodyPr wrap="square" lIns="0" tIns="0" rIns="0" bIns="0" rtlCol="0" anchor="ctr"/>
          <a:lstStyle/>
          <a:p>
            <a:pPr marL="0" indent="0" algn="ctr">
              <a:buNone/>
            </a:pPr>
            <a:r>
              <a:rPr lang="en-US" sz="1000" b="1" dirty="0">
                <a:solidFill>
                  <a:schemeClr val="tx1"/>
                </a:solidFill>
              </a:rPr>
              <a:t>Visitor</a:t>
            </a:r>
            <a:endParaRPr lang="en-US" sz="1000" dirty="0"/>
          </a:p>
        </p:txBody>
      </p:sp>
      <p:pic>
        <p:nvPicPr>
          <p:cNvPr id="21" name="uc-actor-87" descr="preencoded.png"/>
          <p:cNvPicPr>
            <a:picLocks noChangeAspect="1"/>
          </p:cNvPicPr>
          <p:nvPr/>
        </p:nvPicPr>
        <p:blipFill>
          <a:blip r:embed="rId3"/>
          <a:stretch>
            <a:fillRect/>
          </a:stretch>
        </p:blipFill>
        <p:spPr>
          <a:xfrm>
            <a:off x="795528" y="2103120"/>
            <a:ext cx="292608" cy="292608"/>
          </a:xfrm>
          <a:prstGeom prst="rect">
            <a:avLst/>
          </a:prstGeom>
        </p:spPr>
      </p:pic>
      <p:sp>
        <p:nvSpPr>
          <p:cNvPr id="22" name="text-88"/>
          <p:cNvSpPr txBox="1"/>
          <p:nvPr/>
        </p:nvSpPr>
        <p:spPr>
          <a:xfrm>
            <a:off x="502920" y="2404872"/>
            <a:ext cx="877824" cy="201168"/>
          </a:xfrm>
          <a:prstGeom prst="rect">
            <a:avLst/>
          </a:prstGeom>
          <a:noFill/>
          <a:ln/>
        </p:spPr>
        <p:txBody>
          <a:bodyPr wrap="square" lIns="0" tIns="0" rIns="0" bIns="0" rtlCol="0" anchor="ctr"/>
          <a:lstStyle/>
          <a:p>
            <a:pPr marL="0" indent="0" algn="ctr">
              <a:buNone/>
            </a:pPr>
            <a:r>
              <a:rPr lang="en-US" sz="1000" b="1" dirty="0">
                <a:solidFill>
                  <a:schemeClr val="tx1"/>
                </a:solidFill>
              </a:rPr>
              <a:t>Ad platform</a:t>
            </a:r>
            <a:endParaRPr lang="en-US" sz="1000" dirty="0"/>
          </a:p>
        </p:txBody>
      </p:sp>
      <p:pic>
        <p:nvPicPr>
          <p:cNvPr id="23" name="uc-actor-89" descr="preencoded.png"/>
          <p:cNvPicPr>
            <a:picLocks noChangeAspect="1"/>
          </p:cNvPicPr>
          <p:nvPr/>
        </p:nvPicPr>
        <p:blipFill>
          <a:blip r:embed="rId3"/>
          <a:stretch>
            <a:fillRect/>
          </a:stretch>
        </p:blipFill>
        <p:spPr>
          <a:xfrm>
            <a:off x="795528" y="3017520"/>
            <a:ext cx="292608" cy="292608"/>
          </a:xfrm>
          <a:prstGeom prst="rect">
            <a:avLst/>
          </a:prstGeom>
        </p:spPr>
      </p:pic>
      <p:sp>
        <p:nvSpPr>
          <p:cNvPr id="24" name="text-90"/>
          <p:cNvSpPr txBox="1"/>
          <p:nvPr/>
        </p:nvSpPr>
        <p:spPr>
          <a:xfrm>
            <a:off x="502920" y="2798064"/>
            <a:ext cx="877824" cy="201168"/>
          </a:xfrm>
          <a:prstGeom prst="rect">
            <a:avLst/>
          </a:prstGeom>
          <a:noFill/>
          <a:ln/>
        </p:spPr>
        <p:txBody>
          <a:bodyPr wrap="square" lIns="0" tIns="0" rIns="0" bIns="0" rtlCol="0" anchor="ctr"/>
          <a:lstStyle/>
          <a:p>
            <a:pPr marL="0" indent="0" algn="ctr">
              <a:buNone/>
            </a:pPr>
            <a:r>
              <a:rPr lang="en-US" sz="1000" b="1" dirty="0">
                <a:solidFill>
                  <a:schemeClr val="tx1"/>
                </a:solidFill>
              </a:rPr>
              <a:t>Salesperson</a:t>
            </a:r>
            <a:endParaRPr lang="en-US" sz="1000" dirty="0"/>
          </a:p>
        </p:txBody>
      </p:sp>
      <p:pic>
        <p:nvPicPr>
          <p:cNvPr id="25" name="uc-actor-91" descr="preencoded.png"/>
          <p:cNvPicPr>
            <a:picLocks noChangeAspect="1"/>
          </p:cNvPicPr>
          <p:nvPr/>
        </p:nvPicPr>
        <p:blipFill>
          <a:blip r:embed="rId3"/>
          <a:stretch>
            <a:fillRect/>
          </a:stretch>
        </p:blipFill>
        <p:spPr>
          <a:xfrm>
            <a:off x="5458968" y="2834640"/>
            <a:ext cx="292608" cy="292608"/>
          </a:xfrm>
          <a:prstGeom prst="rect">
            <a:avLst/>
          </a:prstGeom>
        </p:spPr>
      </p:pic>
      <p:sp>
        <p:nvSpPr>
          <p:cNvPr id="26" name="text-92"/>
          <p:cNvSpPr txBox="1"/>
          <p:nvPr/>
        </p:nvSpPr>
        <p:spPr>
          <a:xfrm>
            <a:off x="5166360" y="3136392"/>
            <a:ext cx="877824" cy="201168"/>
          </a:xfrm>
          <a:prstGeom prst="rect">
            <a:avLst/>
          </a:prstGeom>
          <a:noFill/>
          <a:ln/>
        </p:spPr>
        <p:txBody>
          <a:bodyPr wrap="square" lIns="0" tIns="0" rIns="0" bIns="0" rtlCol="0" anchor="ctr"/>
          <a:lstStyle/>
          <a:p>
            <a:pPr marL="0" indent="0" algn="ctr">
              <a:buNone/>
            </a:pPr>
            <a:r>
              <a:rPr lang="en-US" sz="1000" b="1" dirty="0">
                <a:solidFill>
                  <a:schemeClr val="tx1"/>
                </a:solidFill>
              </a:rPr>
              <a:t>Admin</a:t>
            </a:r>
            <a:endParaRPr lang="en-US" sz="1000" dirty="0"/>
          </a:p>
        </p:txBody>
      </p:sp>
      <p:sp>
        <p:nvSpPr>
          <p:cNvPr id="27" name="uml-line-93"/>
          <p:cNvSpPr/>
          <p:nvPr/>
        </p:nvSpPr>
        <p:spPr>
          <a:xfrm>
            <a:off x="1097280" y="1700784"/>
            <a:ext cx="365760" cy="109728"/>
          </a:xfrm>
          <a:prstGeom prst="line">
            <a:avLst/>
          </a:prstGeom>
          <a:noFill/>
          <a:ln w="12700">
            <a:solidFill>
              <a:srgbClr val="14213D"/>
            </a:solidFill>
            <a:prstDash val="solid"/>
          </a:ln>
        </p:spPr>
      </p:sp>
      <p:sp>
        <p:nvSpPr>
          <p:cNvPr id="28" name="uml-line-94"/>
          <p:cNvSpPr/>
          <p:nvPr/>
        </p:nvSpPr>
        <p:spPr>
          <a:xfrm flipV="1">
            <a:off x="1097280" y="2221992"/>
            <a:ext cx="365760" cy="27432"/>
          </a:xfrm>
          <a:prstGeom prst="line">
            <a:avLst/>
          </a:prstGeom>
          <a:noFill/>
          <a:ln w="12700">
            <a:solidFill>
              <a:srgbClr val="14213D"/>
            </a:solidFill>
            <a:prstDash val="solid"/>
          </a:ln>
        </p:spPr>
      </p:sp>
      <p:sp>
        <p:nvSpPr>
          <p:cNvPr id="29" name="uml-line-95"/>
          <p:cNvSpPr/>
          <p:nvPr/>
        </p:nvSpPr>
        <p:spPr>
          <a:xfrm flipV="1">
            <a:off x="1097280" y="2862072"/>
            <a:ext cx="365760" cy="301752"/>
          </a:xfrm>
          <a:prstGeom prst="line">
            <a:avLst/>
          </a:prstGeom>
          <a:noFill/>
          <a:ln w="12700">
            <a:solidFill>
              <a:srgbClr val="14213D"/>
            </a:solidFill>
            <a:prstDash val="solid"/>
          </a:ln>
        </p:spPr>
      </p:sp>
      <p:sp>
        <p:nvSpPr>
          <p:cNvPr id="30" name="uml-line-96"/>
          <p:cNvSpPr/>
          <p:nvPr/>
        </p:nvSpPr>
        <p:spPr>
          <a:xfrm>
            <a:off x="1097280" y="3163824"/>
            <a:ext cx="365760" cy="109728"/>
          </a:xfrm>
          <a:prstGeom prst="line">
            <a:avLst/>
          </a:prstGeom>
          <a:noFill/>
          <a:ln w="12700">
            <a:solidFill>
              <a:srgbClr val="14213D"/>
            </a:solidFill>
            <a:prstDash val="solid"/>
          </a:ln>
        </p:spPr>
      </p:sp>
      <p:sp>
        <p:nvSpPr>
          <p:cNvPr id="31" name="uml-line-97"/>
          <p:cNvSpPr/>
          <p:nvPr/>
        </p:nvSpPr>
        <p:spPr>
          <a:xfrm>
            <a:off x="1097280" y="3163824"/>
            <a:ext cx="365760" cy="521208"/>
          </a:xfrm>
          <a:prstGeom prst="line">
            <a:avLst/>
          </a:prstGeom>
          <a:noFill/>
          <a:ln w="12700">
            <a:solidFill>
              <a:srgbClr val="14213D"/>
            </a:solidFill>
            <a:prstDash val="solid"/>
          </a:ln>
        </p:spPr>
      </p:sp>
      <p:sp>
        <p:nvSpPr>
          <p:cNvPr id="32" name="uml-line-98"/>
          <p:cNvSpPr/>
          <p:nvPr/>
        </p:nvSpPr>
        <p:spPr>
          <a:xfrm>
            <a:off x="3154680" y="1810512"/>
            <a:ext cx="137160" cy="0"/>
          </a:xfrm>
          <a:prstGeom prst="line">
            <a:avLst/>
          </a:prstGeom>
          <a:noFill/>
          <a:ln w="12700">
            <a:solidFill>
              <a:srgbClr val="14213D"/>
            </a:solidFill>
            <a:prstDash val="dash"/>
          </a:ln>
        </p:spPr>
      </p:sp>
      <p:sp>
        <p:nvSpPr>
          <p:cNvPr id="33" name="uml-line-99"/>
          <p:cNvSpPr/>
          <p:nvPr/>
        </p:nvSpPr>
        <p:spPr>
          <a:xfrm flipV="1">
            <a:off x="3154680" y="1883664"/>
            <a:ext cx="137160" cy="338328"/>
          </a:xfrm>
          <a:prstGeom prst="line">
            <a:avLst/>
          </a:prstGeom>
          <a:noFill/>
          <a:ln w="12700">
            <a:solidFill>
              <a:srgbClr val="14213D"/>
            </a:solidFill>
            <a:prstDash val="dash"/>
          </a:ln>
        </p:spPr>
      </p:sp>
      <p:sp>
        <p:nvSpPr>
          <p:cNvPr id="34" name="uml-line-100"/>
          <p:cNvSpPr/>
          <p:nvPr/>
        </p:nvSpPr>
        <p:spPr>
          <a:xfrm>
            <a:off x="4983480" y="2724912"/>
            <a:ext cx="475488" cy="256032"/>
          </a:xfrm>
          <a:prstGeom prst="line">
            <a:avLst/>
          </a:prstGeom>
          <a:noFill/>
          <a:ln w="12700">
            <a:solidFill>
              <a:srgbClr val="14213D"/>
            </a:solidFill>
            <a:prstDash val="solid"/>
          </a:ln>
        </p:spPr>
      </p:sp>
      <p:sp>
        <p:nvSpPr>
          <p:cNvPr id="35" name="uml-line-101"/>
          <p:cNvSpPr/>
          <p:nvPr/>
        </p:nvSpPr>
        <p:spPr>
          <a:xfrm flipV="1">
            <a:off x="4983480" y="2980944"/>
            <a:ext cx="475488" cy="109728"/>
          </a:xfrm>
          <a:prstGeom prst="line">
            <a:avLst/>
          </a:prstGeom>
          <a:noFill/>
          <a:ln w="12700">
            <a:solidFill>
              <a:srgbClr val="14213D"/>
            </a:solidFill>
            <a:prstDash val="solid"/>
          </a:ln>
        </p:spPr>
      </p:sp>
      <p:sp>
        <p:nvSpPr>
          <p:cNvPr id="36" name="uml-line-102"/>
          <p:cNvSpPr/>
          <p:nvPr/>
        </p:nvSpPr>
        <p:spPr>
          <a:xfrm flipV="1">
            <a:off x="4983480" y="2980944"/>
            <a:ext cx="475488" cy="475488"/>
          </a:xfrm>
          <a:prstGeom prst="line">
            <a:avLst/>
          </a:prstGeom>
          <a:noFill/>
          <a:ln w="12700">
            <a:solidFill>
              <a:srgbClr val="14213D"/>
            </a:solidFill>
            <a:prstDash val="solid"/>
          </a:ln>
        </p:spPr>
      </p:sp>
      <p:sp>
        <p:nvSpPr>
          <p:cNvPr id="37" name="uml-line-103"/>
          <p:cNvSpPr/>
          <p:nvPr/>
        </p:nvSpPr>
        <p:spPr>
          <a:xfrm flipV="1">
            <a:off x="4983480" y="2980944"/>
            <a:ext cx="475488" cy="841248"/>
          </a:xfrm>
          <a:prstGeom prst="line">
            <a:avLst/>
          </a:prstGeom>
          <a:noFill/>
          <a:ln w="12700">
            <a:solidFill>
              <a:srgbClr val="14213D"/>
            </a:solidFill>
            <a:prstDash val="solid"/>
          </a:ln>
        </p:spPr>
      </p:sp>
      <p:sp>
        <p:nvSpPr>
          <p:cNvPr id="38" name="uml-panel-104"/>
          <p:cNvSpPr/>
          <p:nvPr/>
        </p:nvSpPr>
        <p:spPr>
          <a:xfrm>
            <a:off x="6153912" y="1188720"/>
            <a:ext cx="5486400" cy="3017520"/>
          </a:xfrm>
          <a:prstGeom prst="roundRect">
            <a:avLst>
              <a:gd name="adj" fmla="val 1818"/>
            </a:avLst>
          </a:prstGeom>
          <a:solidFill>
            <a:schemeClr val="bg1"/>
          </a:solidFill>
          <a:ln w="12700">
            <a:solidFill>
              <a:srgbClr val="C9D4E3"/>
            </a:solidFill>
            <a:prstDash val="solid"/>
          </a:ln>
        </p:spPr>
      </p:sp>
      <p:sp>
        <p:nvSpPr>
          <p:cNvPr id="39" name="text-105"/>
          <p:cNvSpPr txBox="1"/>
          <p:nvPr/>
        </p:nvSpPr>
        <p:spPr>
          <a:xfrm>
            <a:off x="6291072" y="1261872"/>
            <a:ext cx="3200400" cy="274320"/>
          </a:xfrm>
          <a:prstGeom prst="rect">
            <a:avLst/>
          </a:prstGeom>
          <a:noFill/>
          <a:ln/>
        </p:spPr>
        <p:txBody>
          <a:bodyPr wrap="square" lIns="0" tIns="0" rIns="0" bIns="0" rtlCol="0" anchor="ctr"/>
          <a:lstStyle/>
          <a:p>
            <a:pPr marL="0" indent="0">
              <a:buNone/>
            </a:pPr>
            <a:r>
              <a:rPr lang="en-US" sz="1200" b="1" dirty="0">
                <a:solidFill>
                  <a:schemeClr val="tx2"/>
                </a:solidFill>
              </a:rPr>
              <a:t>Sequence Diagram</a:t>
            </a:r>
            <a:endParaRPr lang="en-US" sz="1200" dirty="0"/>
          </a:p>
        </p:txBody>
      </p:sp>
      <p:sp>
        <p:nvSpPr>
          <p:cNvPr id="40" name="text-106"/>
          <p:cNvSpPr txBox="1"/>
          <p:nvPr/>
        </p:nvSpPr>
        <p:spPr>
          <a:xfrm>
            <a:off x="6217920" y="1508760"/>
            <a:ext cx="969264" cy="310896"/>
          </a:xfrm>
          <a:prstGeom prst="rect">
            <a:avLst/>
          </a:prstGeom>
          <a:solidFill>
            <a:schemeClr val="bg2"/>
          </a:solidFill>
          <a:ln w="9525">
            <a:solidFill>
              <a:srgbClr val="0B5394"/>
            </a:solidFill>
          </a:ln>
        </p:spPr>
        <p:txBody>
          <a:bodyPr wrap="square" lIns="0" tIns="0" rIns="0" bIns="0" rtlCol="0" anchor="ctr"/>
          <a:lstStyle/>
          <a:p>
            <a:pPr marL="0" indent="0" algn="ctr">
              <a:buNone/>
            </a:pPr>
            <a:r>
              <a:rPr lang="en-US" sz="1000" b="1" dirty="0">
                <a:solidFill>
                  <a:schemeClr val="tx1"/>
                </a:solidFill>
              </a:rPr>
              <a:t>Visitor</a:t>
            </a:r>
            <a:endParaRPr lang="en-US" sz="1000" dirty="0"/>
          </a:p>
        </p:txBody>
      </p:sp>
      <p:sp>
        <p:nvSpPr>
          <p:cNvPr id="41" name="uml-line-107"/>
          <p:cNvSpPr/>
          <p:nvPr/>
        </p:nvSpPr>
        <p:spPr>
          <a:xfrm>
            <a:off x="6702552" y="1819656"/>
            <a:ext cx="0" cy="2295144"/>
          </a:xfrm>
          <a:prstGeom prst="line">
            <a:avLst/>
          </a:prstGeom>
          <a:noFill/>
          <a:ln w="9525">
            <a:solidFill>
              <a:srgbClr val="6B7C93"/>
            </a:solidFill>
            <a:prstDash val="dash"/>
          </a:ln>
        </p:spPr>
      </p:sp>
      <p:sp>
        <p:nvSpPr>
          <p:cNvPr id="42" name="text-108"/>
          <p:cNvSpPr txBox="1"/>
          <p:nvPr/>
        </p:nvSpPr>
        <p:spPr>
          <a:xfrm>
            <a:off x="7315200" y="1508760"/>
            <a:ext cx="969264" cy="310896"/>
          </a:xfrm>
          <a:prstGeom prst="rect">
            <a:avLst/>
          </a:prstGeom>
          <a:solidFill>
            <a:schemeClr val="accent1"/>
          </a:solidFill>
          <a:ln w="9525">
            <a:solidFill>
              <a:srgbClr val="0B5394"/>
            </a:solidFill>
          </a:ln>
        </p:spPr>
        <p:txBody>
          <a:bodyPr wrap="square" lIns="0" tIns="0" rIns="0" bIns="0" rtlCol="0" anchor="ctr"/>
          <a:lstStyle/>
          <a:p>
            <a:pPr marL="0" indent="0" algn="ctr">
              <a:buNone/>
            </a:pPr>
            <a:r>
              <a:rPr lang="en-US" sz="1000" b="1" dirty="0">
                <a:solidFill>
                  <a:schemeClr val="bg1"/>
                </a:solidFill>
              </a:rPr>
              <a:t>LeadGen</a:t>
            </a:r>
            <a:endParaRPr lang="en-US" sz="1000" dirty="0"/>
          </a:p>
        </p:txBody>
      </p:sp>
      <p:sp>
        <p:nvSpPr>
          <p:cNvPr id="43" name="uml-line-109"/>
          <p:cNvSpPr/>
          <p:nvPr/>
        </p:nvSpPr>
        <p:spPr>
          <a:xfrm>
            <a:off x="7799832" y="1819656"/>
            <a:ext cx="0" cy="2295144"/>
          </a:xfrm>
          <a:prstGeom prst="line">
            <a:avLst/>
          </a:prstGeom>
          <a:noFill/>
          <a:ln w="9525">
            <a:solidFill>
              <a:srgbClr val="6B7C93"/>
            </a:solidFill>
            <a:prstDash val="dash"/>
          </a:ln>
        </p:spPr>
      </p:sp>
      <p:sp>
        <p:nvSpPr>
          <p:cNvPr id="44" name="text-110"/>
          <p:cNvSpPr txBox="1"/>
          <p:nvPr/>
        </p:nvSpPr>
        <p:spPr>
          <a:xfrm>
            <a:off x="8412480" y="1508760"/>
            <a:ext cx="969264" cy="310896"/>
          </a:xfrm>
          <a:prstGeom prst="rect">
            <a:avLst/>
          </a:prstGeom>
          <a:solidFill>
            <a:schemeClr val="bg2"/>
          </a:solidFill>
          <a:ln w="9525">
            <a:solidFill>
              <a:srgbClr val="0B5394"/>
            </a:solidFill>
          </a:ln>
        </p:spPr>
        <p:txBody>
          <a:bodyPr wrap="square" lIns="0" tIns="0" rIns="0" bIns="0" rtlCol="0" anchor="ctr"/>
          <a:lstStyle/>
          <a:p>
            <a:pPr marL="0" indent="0" algn="ctr">
              <a:buNone/>
            </a:pPr>
            <a:r>
              <a:rPr lang="en-US" sz="1000" b="1" dirty="0">
                <a:solidFill>
                  <a:schemeClr val="tx1"/>
                </a:solidFill>
              </a:rPr>
              <a:t>ML Service</a:t>
            </a:r>
            <a:endParaRPr lang="en-US" sz="1000" dirty="0"/>
          </a:p>
        </p:txBody>
      </p:sp>
      <p:sp>
        <p:nvSpPr>
          <p:cNvPr id="45" name="uml-line-111"/>
          <p:cNvSpPr/>
          <p:nvPr/>
        </p:nvSpPr>
        <p:spPr>
          <a:xfrm>
            <a:off x="8897112" y="1819656"/>
            <a:ext cx="0" cy="2295144"/>
          </a:xfrm>
          <a:prstGeom prst="line">
            <a:avLst/>
          </a:prstGeom>
          <a:noFill/>
          <a:ln w="9525">
            <a:solidFill>
              <a:srgbClr val="6B7C93"/>
            </a:solidFill>
            <a:prstDash val="dash"/>
          </a:ln>
        </p:spPr>
      </p:sp>
      <p:sp>
        <p:nvSpPr>
          <p:cNvPr id="46" name="text-112"/>
          <p:cNvSpPr txBox="1"/>
          <p:nvPr/>
        </p:nvSpPr>
        <p:spPr>
          <a:xfrm>
            <a:off x="9509760" y="1508760"/>
            <a:ext cx="969264" cy="310896"/>
          </a:xfrm>
          <a:prstGeom prst="rect">
            <a:avLst/>
          </a:prstGeom>
          <a:solidFill>
            <a:schemeClr val="bg2"/>
          </a:solidFill>
          <a:ln w="9525">
            <a:solidFill>
              <a:srgbClr val="0B5394"/>
            </a:solidFill>
          </a:ln>
        </p:spPr>
        <p:txBody>
          <a:bodyPr wrap="square" lIns="0" tIns="0" rIns="0" bIns="0" rtlCol="0" anchor="ctr"/>
          <a:lstStyle/>
          <a:p>
            <a:pPr marL="0" indent="0" algn="ctr">
              <a:buNone/>
            </a:pPr>
            <a:r>
              <a:rPr lang="en-US" sz="1000" b="1" dirty="0">
                <a:solidFill>
                  <a:schemeClr val="tx1"/>
                </a:solidFill>
              </a:rPr>
              <a:t>Salesperson</a:t>
            </a:r>
            <a:endParaRPr lang="en-US" sz="1000" dirty="0"/>
          </a:p>
        </p:txBody>
      </p:sp>
      <p:sp>
        <p:nvSpPr>
          <p:cNvPr id="47" name="uml-line-113"/>
          <p:cNvSpPr/>
          <p:nvPr/>
        </p:nvSpPr>
        <p:spPr>
          <a:xfrm>
            <a:off x="9994392" y="1819656"/>
            <a:ext cx="0" cy="2295144"/>
          </a:xfrm>
          <a:prstGeom prst="line">
            <a:avLst/>
          </a:prstGeom>
          <a:noFill/>
          <a:ln w="9525">
            <a:solidFill>
              <a:srgbClr val="6B7C93"/>
            </a:solidFill>
            <a:prstDash val="dash"/>
          </a:ln>
        </p:spPr>
      </p:sp>
      <p:sp>
        <p:nvSpPr>
          <p:cNvPr id="48" name="text-114"/>
          <p:cNvSpPr txBox="1"/>
          <p:nvPr/>
        </p:nvSpPr>
        <p:spPr>
          <a:xfrm>
            <a:off x="10607040" y="1508760"/>
            <a:ext cx="969264" cy="310896"/>
          </a:xfrm>
          <a:prstGeom prst="rect">
            <a:avLst/>
          </a:prstGeom>
          <a:solidFill>
            <a:schemeClr val="bg2"/>
          </a:solidFill>
          <a:ln w="9525">
            <a:solidFill>
              <a:srgbClr val="0B5394"/>
            </a:solidFill>
          </a:ln>
        </p:spPr>
        <p:txBody>
          <a:bodyPr wrap="square" lIns="0" tIns="0" rIns="0" bIns="0" rtlCol="0" anchor="ctr"/>
          <a:lstStyle/>
          <a:p>
            <a:pPr marL="0" indent="0" algn="ctr">
              <a:buNone/>
            </a:pPr>
            <a:r>
              <a:rPr lang="en-US" sz="1000" b="1" dirty="0">
                <a:solidFill>
                  <a:schemeClr val="tx1"/>
                </a:solidFill>
              </a:rPr>
              <a:t>Admin</a:t>
            </a:r>
            <a:endParaRPr lang="en-US" sz="1000" dirty="0"/>
          </a:p>
        </p:txBody>
      </p:sp>
      <p:sp>
        <p:nvSpPr>
          <p:cNvPr id="49" name="uml-line-115"/>
          <p:cNvSpPr/>
          <p:nvPr/>
        </p:nvSpPr>
        <p:spPr>
          <a:xfrm>
            <a:off x="11091672" y="1819656"/>
            <a:ext cx="0" cy="2295144"/>
          </a:xfrm>
          <a:prstGeom prst="line">
            <a:avLst/>
          </a:prstGeom>
          <a:noFill/>
          <a:ln w="9525">
            <a:solidFill>
              <a:srgbClr val="6B7C93"/>
            </a:solidFill>
            <a:prstDash val="dash"/>
          </a:ln>
        </p:spPr>
      </p:sp>
      <p:sp>
        <p:nvSpPr>
          <p:cNvPr id="50" name="uml-line-116"/>
          <p:cNvSpPr/>
          <p:nvPr/>
        </p:nvSpPr>
        <p:spPr>
          <a:xfrm>
            <a:off x="6702552" y="2103120"/>
            <a:ext cx="1097280" cy="0"/>
          </a:xfrm>
          <a:prstGeom prst="line">
            <a:avLst/>
          </a:prstGeom>
          <a:noFill/>
          <a:ln w="12700">
            <a:solidFill>
              <a:srgbClr val="14213D"/>
            </a:solidFill>
            <a:prstDash val="solid"/>
            <a:tailEnd type="triangle"/>
          </a:ln>
        </p:spPr>
      </p:sp>
      <p:sp>
        <p:nvSpPr>
          <p:cNvPr id="51" name="text-117"/>
          <p:cNvSpPr txBox="1"/>
          <p:nvPr/>
        </p:nvSpPr>
        <p:spPr>
          <a:xfrm>
            <a:off x="6702552" y="1901952"/>
            <a:ext cx="1097280" cy="182880"/>
          </a:xfrm>
          <a:prstGeom prst="rect">
            <a:avLst/>
          </a:prstGeom>
          <a:noFill/>
          <a:ln/>
        </p:spPr>
        <p:txBody>
          <a:bodyPr wrap="square" lIns="0" tIns="0" rIns="0" bIns="0" rtlCol="0" anchor="ctr"/>
          <a:lstStyle/>
          <a:p>
            <a:pPr marL="0" indent="0" algn="ctr">
              <a:buNone/>
            </a:pPr>
            <a:r>
              <a:rPr lang="en-US" sz="1000" dirty="0">
                <a:solidFill>
                  <a:schemeClr val="tx1"/>
                </a:solidFill>
              </a:rPr>
              <a:t>1. Submit enquiry</a:t>
            </a:r>
            <a:endParaRPr lang="en-US" sz="1000" dirty="0"/>
          </a:p>
        </p:txBody>
      </p:sp>
      <p:sp>
        <p:nvSpPr>
          <p:cNvPr id="52" name="uml-line-118"/>
          <p:cNvSpPr/>
          <p:nvPr/>
        </p:nvSpPr>
        <p:spPr>
          <a:xfrm>
            <a:off x="7799832" y="2386584"/>
            <a:ext cx="1097280" cy="0"/>
          </a:xfrm>
          <a:prstGeom prst="line">
            <a:avLst/>
          </a:prstGeom>
          <a:noFill/>
          <a:ln w="12700">
            <a:solidFill>
              <a:srgbClr val="14213D"/>
            </a:solidFill>
            <a:prstDash val="solid"/>
            <a:tailEnd type="triangle"/>
          </a:ln>
        </p:spPr>
      </p:sp>
      <p:sp>
        <p:nvSpPr>
          <p:cNvPr id="53" name="text-119"/>
          <p:cNvSpPr txBox="1"/>
          <p:nvPr/>
        </p:nvSpPr>
        <p:spPr>
          <a:xfrm>
            <a:off x="7799832" y="2185416"/>
            <a:ext cx="1097280" cy="182880"/>
          </a:xfrm>
          <a:prstGeom prst="rect">
            <a:avLst/>
          </a:prstGeom>
          <a:noFill/>
          <a:ln/>
        </p:spPr>
        <p:txBody>
          <a:bodyPr wrap="square" lIns="0" tIns="0" rIns="0" bIns="0" rtlCol="0" anchor="ctr"/>
          <a:lstStyle/>
          <a:p>
            <a:pPr marL="0" indent="0" algn="ctr">
              <a:buNone/>
            </a:pPr>
            <a:r>
              <a:rPr lang="en-US" sz="1000" dirty="0">
                <a:solidFill>
                  <a:schemeClr val="tx1"/>
                </a:solidFill>
              </a:rPr>
              <a:t>2. Check + score</a:t>
            </a:r>
            <a:endParaRPr lang="en-US" sz="1000" dirty="0"/>
          </a:p>
        </p:txBody>
      </p:sp>
      <p:sp>
        <p:nvSpPr>
          <p:cNvPr id="54" name="uml-line-120"/>
          <p:cNvSpPr/>
          <p:nvPr/>
        </p:nvSpPr>
        <p:spPr>
          <a:xfrm>
            <a:off x="7799832" y="2670048"/>
            <a:ext cx="1097280" cy="0"/>
          </a:xfrm>
          <a:prstGeom prst="line">
            <a:avLst/>
          </a:prstGeom>
          <a:noFill/>
          <a:ln w="12700">
            <a:solidFill>
              <a:srgbClr val="14213D"/>
            </a:solidFill>
            <a:prstDash val="dash"/>
            <a:headEnd type="triangle"/>
          </a:ln>
        </p:spPr>
      </p:sp>
      <p:sp>
        <p:nvSpPr>
          <p:cNvPr id="55" name="text-121"/>
          <p:cNvSpPr txBox="1"/>
          <p:nvPr/>
        </p:nvSpPr>
        <p:spPr>
          <a:xfrm>
            <a:off x="7799832" y="2468880"/>
            <a:ext cx="1097280" cy="182880"/>
          </a:xfrm>
          <a:prstGeom prst="rect">
            <a:avLst/>
          </a:prstGeom>
          <a:noFill/>
          <a:ln/>
        </p:spPr>
        <p:txBody>
          <a:bodyPr wrap="square" lIns="0" tIns="0" rIns="0" bIns="0" rtlCol="0" anchor="ctr"/>
          <a:lstStyle/>
          <a:p>
            <a:pPr marL="0" indent="0" algn="ctr">
              <a:buNone/>
            </a:pPr>
            <a:r>
              <a:rPr lang="en-US" sz="1000" dirty="0">
                <a:solidFill>
                  <a:schemeClr val="tx1"/>
                </a:solidFill>
              </a:rPr>
              <a:t>3. High / Med / Low</a:t>
            </a:r>
            <a:endParaRPr lang="en-US" sz="1000" dirty="0"/>
          </a:p>
        </p:txBody>
      </p:sp>
      <p:sp>
        <p:nvSpPr>
          <p:cNvPr id="56" name="uml-line-122"/>
          <p:cNvSpPr/>
          <p:nvPr/>
        </p:nvSpPr>
        <p:spPr>
          <a:xfrm>
            <a:off x="7799832" y="2953512"/>
            <a:ext cx="2194560" cy="0"/>
          </a:xfrm>
          <a:prstGeom prst="line">
            <a:avLst/>
          </a:prstGeom>
          <a:noFill/>
          <a:ln w="12700">
            <a:solidFill>
              <a:srgbClr val="14213D"/>
            </a:solidFill>
            <a:prstDash val="solid"/>
            <a:tailEnd type="triangle"/>
          </a:ln>
        </p:spPr>
      </p:sp>
      <p:sp>
        <p:nvSpPr>
          <p:cNvPr id="57" name="text-123"/>
          <p:cNvSpPr txBox="1"/>
          <p:nvPr/>
        </p:nvSpPr>
        <p:spPr>
          <a:xfrm>
            <a:off x="7799832" y="2752344"/>
            <a:ext cx="2194560" cy="182880"/>
          </a:xfrm>
          <a:prstGeom prst="rect">
            <a:avLst/>
          </a:prstGeom>
          <a:noFill/>
          <a:ln/>
        </p:spPr>
        <p:txBody>
          <a:bodyPr wrap="square" lIns="0" tIns="0" rIns="0" bIns="0" rtlCol="0" anchor="ctr"/>
          <a:lstStyle/>
          <a:p>
            <a:pPr marL="0" indent="0" algn="ctr">
              <a:buNone/>
            </a:pPr>
            <a:r>
              <a:rPr lang="en-US" sz="1000" dirty="0">
                <a:solidFill>
                  <a:schemeClr val="tx1"/>
                </a:solidFill>
              </a:rPr>
              <a:t>4. Assign lead</a:t>
            </a:r>
            <a:endParaRPr lang="en-US" sz="1000" dirty="0"/>
          </a:p>
        </p:txBody>
      </p:sp>
      <p:sp>
        <p:nvSpPr>
          <p:cNvPr id="58" name="uml-line-124"/>
          <p:cNvSpPr/>
          <p:nvPr/>
        </p:nvSpPr>
        <p:spPr>
          <a:xfrm>
            <a:off x="7799832" y="3236976"/>
            <a:ext cx="2194560" cy="0"/>
          </a:xfrm>
          <a:prstGeom prst="line">
            <a:avLst/>
          </a:prstGeom>
          <a:noFill/>
          <a:ln w="12700">
            <a:solidFill>
              <a:srgbClr val="14213D"/>
            </a:solidFill>
            <a:prstDash val="dash"/>
            <a:headEnd type="triangle"/>
          </a:ln>
        </p:spPr>
      </p:sp>
      <p:sp>
        <p:nvSpPr>
          <p:cNvPr id="59" name="text-125"/>
          <p:cNvSpPr txBox="1"/>
          <p:nvPr/>
        </p:nvSpPr>
        <p:spPr>
          <a:xfrm>
            <a:off x="7799832" y="3035808"/>
            <a:ext cx="2194560" cy="182880"/>
          </a:xfrm>
          <a:prstGeom prst="rect">
            <a:avLst/>
          </a:prstGeom>
          <a:noFill/>
          <a:ln/>
        </p:spPr>
        <p:txBody>
          <a:bodyPr wrap="square" lIns="0" tIns="0" rIns="0" bIns="0" rtlCol="0" anchor="ctr"/>
          <a:lstStyle/>
          <a:p>
            <a:pPr marL="0" indent="0" algn="ctr">
              <a:buNone/>
            </a:pPr>
            <a:r>
              <a:rPr lang="en-US" sz="1000" dirty="0">
                <a:solidFill>
                  <a:schemeClr val="tx1"/>
                </a:solidFill>
              </a:rPr>
              <a:t>5. Open lead</a:t>
            </a:r>
            <a:endParaRPr lang="en-US" sz="1000" dirty="0"/>
          </a:p>
        </p:txBody>
      </p:sp>
      <p:sp>
        <p:nvSpPr>
          <p:cNvPr id="60" name="uml-line-126"/>
          <p:cNvSpPr/>
          <p:nvPr/>
        </p:nvSpPr>
        <p:spPr>
          <a:xfrm>
            <a:off x="6702552" y="3520440"/>
            <a:ext cx="1097280" cy="0"/>
          </a:xfrm>
          <a:prstGeom prst="line">
            <a:avLst/>
          </a:prstGeom>
          <a:noFill/>
          <a:ln w="12700">
            <a:solidFill>
              <a:srgbClr val="14213D"/>
            </a:solidFill>
            <a:prstDash val="dash"/>
            <a:headEnd type="triangle"/>
          </a:ln>
        </p:spPr>
      </p:sp>
      <p:sp>
        <p:nvSpPr>
          <p:cNvPr id="61" name="text-127"/>
          <p:cNvSpPr txBox="1"/>
          <p:nvPr/>
        </p:nvSpPr>
        <p:spPr>
          <a:xfrm>
            <a:off x="6702552" y="3319272"/>
            <a:ext cx="1097280" cy="182880"/>
          </a:xfrm>
          <a:prstGeom prst="rect">
            <a:avLst/>
          </a:prstGeom>
          <a:noFill/>
          <a:ln/>
        </p:spPr>
        <p:txBody>
          <a:bodyPr wrap="square" lIns="0" tIns="0" rIns="0" bIns="0" rtlCol="0" anchor="ctr"/>
          <a:lstStyle/>
          <a:p>
            <a:pPr marL="0" indent="0" algn="ctr">
              <a:buNone/>
            </a:pPr>
            <a:r>
              <a:rPr lang="en-US" sz="1000" dirty="0">
                <a:solidFill>
                  <a:schemeClr val="tx1"/>
                </a:solidFill>
              </a:rPr>
              <a:t>6. Thank-you</a:t>
            </a:r>
            <a:endParaRPr lang="en-US" sz="1000" dirty="0"/>
          </a:p>
        </p:txBody>
      </p:sp>
      <p:sp>
        <p:nvSpPr>
          <p:cNvPr id="62" name="uml-line-128"/>
          <p:cNvSpPr/>
          <p:nvPr/>
        </p:nvSpPr>
        <p:spPr>
          <a:xfrm>
            <a:off x="7799832" y="3803904"/>
            <a:ext cx="3291840" cy="0"/>
          </a:xfrm>
          <a:prstGeom prst="line">
            <a:avLst/>
          </a:prstGeom>
          <a:noFill/>
          <a:ln w="12700">
            <a:solidFill>
              <a:srgbClr val="14213D"/>
            </a:solidFill>
            <a:prstDash val="solid"/>
            <a:tailEnd type="triangle"/>
          </a:ln>
        </p:spPr>
      </p:sp>
      <p:sp>
        <p:nvSpPr>
          <p:cNvPr id="63" name="text-129"/>
          <p:cNvSpPr txBox="1"/>
          <p:nvPr/>
        </p:nvSpPr>
        <p:spPr>
          <a:xfrm>
            <a:off x="7799832" y="3602736"/>
            <a:ext cx="3291840" cy="182880"/>
          </a:xfrm>
          <a:prstGeom prst="rect">
            <a:avLst/>
          </a:prstGeom>
          <a:noFill/>
          <a:ln/>
        </p:spPr>
        <p:txBody>
          <a:bodyPr wrap="square" lIns="0" tIns="0" rIns="0" bIns="0" rtlCol="0" anchor="ctr"/>
          <a:lstStyle/>
          <a:p>
            <a:pPr marL="0" indent="0" algn="ctr">
              <a:buNone/>
            </a:pPr>
            <a:r>
              <a:rPr lang="en-US" sz="1000" dirty="0">
                <a:solidFill>
                  <a:schemeClr val="tx1"/>
                </a:solidFill>
              </a:rPr>
              <a:t>7. View reports</a:t>
            </a:r>
            <a:endParaRPr lang="en-US" sz="1000" dirty="0"/>
          </a:p>
        </p:txBody>
      </p:sp>
      <p:sp>
        <p:nvSpPr>
          <p:cNvPr id="64" name="uml-panel-130"/>
          <p:cNvSpPr/>
          <p:nvPr/>
        </p:nvSpPr>
        <p:spPr>
          <a:xfrm>
            <a:off x="548640" y="4297680"/>
            <a:ext cx="5486400" cy="1920240"/>
          </a:xfrm>
          <a:prstGeom prst="roundRect">
            <a:avLst>
              <a:gd name="adj" fmla="val 2857"/>
            </a:avLst>
          </a:prstGeom>
          <a:solidFill>
            <a:schemeClr val="bg1"/>
          </a:solidFill>
          <a:ln w="12700">
            <a:solidFill>
              <a:srgbClr val="C9D4E3"/>
            </a:solidFill>
            <a:prstDash val="solid"/>
          </a:ln>
        </p:spPr>
      </p:sp>
      <p:sp>
        <p:nvSpPr>
          <p:cNvPr id="65" name="text-131"/>
          <p:cNvSpPr txBox="1"/>
          <p:nvPr/>
        </p:nvSpPr>
        <p:spPr>
          <a:xfrm>
            <a:off x="685800" y="4370832"/>
            <a:ext cx="3200400" cy="274320"/>
          </a:xfrm>
          <a:prstGeom prst="rect">
            <a:avLst/>
          </a:prstGeom>
          <a:noFill/>
          <a:ln/>
        </p:spPr>
        <p:txBody>
          <a:bodyPr wrap="square" lIns="0" tIns="0" rIns="0" bIns="0" rtlCol="0" anchor="ctr"/>
          <a:lstStyle/>
          <a:p>
            <a:pPr marL="0" indent="0">
              <a:buNone/>
            </a:pPr>
            <a:r>
              <a:rPr lang="en-US" sz="1200" b="1" dirty="0">
                <a:solidFill>
                  <a:schemeClr val="tx2"/>
                </a:solidFill>
              </a:rPr>
              <a:t>Activity Diagram: lead intake</a:t>
            </a:r>
            <a:endParaRPr lang="en-US" sz="1200" dirty="0"/>
          </a:p>
        </p:txBody>
      </p:sp>
      <p:sp>
        <p:nvSpPr>
          <p:cNvPr id="66" name="act-start"/>
          <p:cNvSpPr/>
          <p:nvPr/>
        </p:nvSpPr>
        <p:spPr>
          <a:xfrm>
            <a:off x="731520" y="4873752"/>
            <a:ext cx="182880" cy="182880"/>
          </a:xfrm>
          <a:prstGeom prst="ellipse">
            <a:avLst/>
          </a:prstGeom>
          <a:solidFill>
            <a:schemeClr val="tx1"/>
          </a:solidFill>
          <a:ln/>
        </p:spPr>
      </p:sp>
      <p:sp>
        <p:nvSpPr>
          <p:cNvPr id="67" name="connector-132"/>
          <p:cNvSpPr/>
          <p:nvPr/>
        </p:nvSpPr>
        <p:spPr>
          <a:xfrm>
            <a:off x="914400" y="4965192"/>
            <a:ext cx="182880" cy="0"/>
          </a:xfrm>
          <a:prstGeom prst="line">
            <a:avLst/>
          </a:prstGeom>
          <a:noFill/>
          <a:ln w="19050">
            <a:solidFill>
              <a:srgbClr val="6B7C93"/>
            </a:solidFill>
            <a:prstDash val="solid"/>
            <a:tailEnd type="triangle"/>
          </a:ln>
        </p:spPr>
      </p:sp>
      <p:sp>
        <p:nvSpPr>
          <p:cNvPr id="68" name="text-133"/>
          <p:cNvSpPr txBox="1"/>
          <p:nvPr/>
        </p:nvSpPr>
        <p:spPr>
          <a:xfrm>
            <a:off x="1097280" y="4681728"/>
            <a:ext cx="868680" cy="566928"/>
          </a:xfrm>
          <a:prstGeom prst="roundRect">
            <a:avLst>
              <a:gd name="adj" fmla="val 19355"/>
            </a:avLst>
          </a:prstGeom>
          <a:solidFill>
            <a:schemeClr val="bg2"/>
          </a:solidFill>
          <a:ln w="12700">
            <a:solidFill>
              <a:srgbClr val="0B5394"/>
            </a:solidFill>
          </a:ln>
        </p:spPr>
        <p:txBody>
          <a:bodyPr wrap="square" lIns="0" tIns="0" rIns="0" bIns="0" rtlCol="0" anchor="ctr"/>
          <a:lstStyle/>
          <a:p>
            <a:pPr marL="0" indent="0" algn="ctr">
              <a:buNone/>
            </a:pPr>
            <a:r>
              <a:rPr lang="en-US" sz="1000" dirty="0">
                <a:solidFill>
                  <a:schemeClr val="tx1"/>
                </a:solidFill>
              </a:rPr>
              <a:t>Receive lead (form / webhook)</a:t>
            </a:r>
            <a:endParaRPr lang="en-US" sz="1000" dirty="0"/>
          </a:p>
        </p:txBody>
      </p:sp>
      <p:sp>
        <p:nvSpPr>
          <p:cNvPr id="69" name="connector-134"/>
          <p:cNvSpPr/>
          <p:nvPr/>
        </p:nvSpPr>
        <p:spPr>
          <a:xfrm>
            <a:off x="1965960" y="4965192"/>
            <a:ext cx="137160" cy="0"/>
          </a:xfrm>
          <a:prstGeom prst="line">
            <a:avLst/>
          </a:prstGeom>
          <a:noFill/>
          <a:ln w="19050">
            <a:solidFill>
              <a:srgbClr val="6B7C93"/>
            </a:solidFill>
            <a:prstDash val="solid"/>
            <a:tailEnd type="triangle"/>
          </a:ln>
        </p:spPr>
      </p:sp>
      <p:sp>
        <p:nvSpPr>
          <p:cNvPr id="70" name="text-135"/>
          <p:cNvSpPr txBox="1"/>
          <p:nvPr/>
        </p:nvSpPr>
        <p:spPr>
          <a:xfrm>
            <a:off x="2103120" y="4626864"/>
            <a:ext cx="1097280" cy="676656"/>
          </a:xfrm>
          <a:prstGeom prst="diamond">
            <a:avLst/>
          </a:prstGeom>
          <a:solidFill>
            <a:srgbClr val="FFF4D6"/>
          </a:solidFill>
          <a:ln w="12700">
            <a:solidFill>
              <a:srgbClr val="F2A900"/>
            </a:solidFill>
          </a:ln>
        </p:spPr>
        <p:txBody>
          <a:bodyPr wrap="square" lIns="0" tIns="0" rIns="0" bIns="0" rtlCol="0" anchor="ctr"/>
          <a:lstStyle/>
          <a:p>
            <a:pPr marL="0" indent="0" algn="ctr">
              <a:buNone/>
            </a:pPr>
            <a:r>
              <a:rPr lang="en-US" sz="1000" dirty="0">
                <a:solidFill>
                  <a:schemeClr val="tx1"/>
                </a:solidFill>
              </a:rPr>
              <a:t>Duplicate?</a:t>
            </a:r>
            <a:endParaRPr lang="en-US" sz="1000" dirty="0"/>
          </a:p>
        </p:txBody>
      </p:sp>
      <p:sp>
        <p:nvSpPr>
          <p:cNvPr id="71" name="connector-136"/>
          <p:cNvSpPr/>
          <p:nvPr/>
        </p:nvSpPr>
        <p:spPr>
          <a:xfrm>
            <a:off x="3200400" y="4965192"/>
            <a:ext cx="137160" cy="0"/>
          </a:xfrm>
          <a:prstGeom prst="line">
            <a:avLst/>
          </a:prstGeom>
          <a:noFill/>
          <a:ln w="19050">
            <a:solidFill>
              <a:srgbClr val="6B7C93"/>
            </a:solidFill>
            <a:prstDash val="solid"/>
            <a:tailEnd type="triangle"/>
          </a:ln>
        </p:spPr>
      </p:sp>
      <p:sp>
        <p:nvSpPr>
          <p:cNvPr id="72" name="text-137"/>
          <p:cNvSpPr txBox="1"/>
          <p:nvPr/>
        </p:nvSpPr>
        <p:spPr>
          <a:xfrm>
            <a:off x="3182112" y="4736592"/>
            <a:ext cx="182880" cy="182880"/>
          </a:xfrm>
          <a:prstGeom prst="rect">
            <a:avLst/>
          </a:prstGeom>
          <a:noFill/>
          <a:ln/>
        </p:spPr>
        <p:txBody>
          <a:bodyPr wrap="square" lIns="0" tIns="0" rIns="0" bIns="0" rtlCol="0" anchor="ctr"/>
          <a:lstStyle/>
          <a:p>
            <a:pPr marL="0" indent="0" algn="ctr">
              <a:buNone/>
            </a:pPr>
            <a:r>
              <a:rPr lang="en-US" sz="1000" dirty="0">
                <a:solidFill>
                  <a:schemeClr val="accent6"/>
                </a:solidFill>
              </a:rPr>
              <a:t>no</a:t>
            </a:r>
            <a:endParaRPr lang="en-US" sz="1000" dirty="0"/>
          </a:p>
        </p:txBody>
      </p:sp>
      <p:sp>
        <p:nvSpPr>
          <p:cNvPr id="73" name="text-138"/>
          <p:cNvSpPr txBox="1"/>
          <p:nvPr/>
        </p:nvSpPr>
        <p:spPr>
          <a:xfrm>
            <a:off x="3337560" y="4681728"/>
            <a:ext cx="914400" cy="566928"/>
          </a:xfrm>
          <a:prstGeom prst="roundRect">
            <a:avLst>
              <a:gd name="adj" fmla="val 19355"/>
            </a:avLst>
          </a:prstGeom>
          <a:solidFill>
            <a:schemeClr val="bg2"/>
          </a:solidFill>
          <a:ln w="12700">
            <a:solidFill>
              <a:srgbClr val="0B5394"/>
            </a:solidFill>
          </a:ln>
        </p:spPr>
        <p:txBody>
          <a:bodyPr wrap="square" lIns="0" tIns="0" rIns="0" bIns="0" rtlCol="0" anchor="ctr"/>
          <a:lstStyle/>
          <a:p>
            <a:pPr marL="0" indent="0" algn="ctr">
              <a:buNone/>
            </a:pPr>
            <a:r>
              <a:rPr lang="en-US" sz="1000" dirty="0">
                <a:solidFill>
                  <a:schemeClr val="tx1"/>
                </a:solidFill>
              </a:rPr>
              <a:t>Save lead + ML score</a:t>
            </a:r>
            <a:endParaRPr lang="en-US" sz="1000" dirty="0"/>
          </a:p>
        </p:txBody>
      </p:sp>
      <p:sp>
        <p:nvSpPr>
          <p:cNvPr id="74" name="connector-139"/>
          <p:cNvSpPr/>
          <p:nvPr/>
        </p:nvSpPr>
        <p:spPr>
          <a:xfrm>
            <a:off x="4251960" y="4965192"/>
            <a:ext cx="137160" cy="0"/>
          </a:xfrm>
          <a:prstGeom prst="line">
            <a:avLst/>
          </a:prstGeom>
          <a:noFill/>
          <a:ln w="19050">
            <a:solidFill>
              <a:srgbClr val="6B7C93"/>
            </a:solidFill>
            <a:prstDash val="solid"/>
            <a:tailEnd type="triangle"/>
          </a:ln>
        </p:spPr>
      </p:sp>
      <p:sp>
        <p:nvSpPr>
          <p:cNvPr id="75" name="text-140"/>
          <p:cNvSpPr txBox="1"/>
          <p:nvPr/>
        </p:nvSpPr>
        <p:spPr>
          <a:xfrm>
            <a:off x="4389120" y="4681728"/>
            <a:ext cx="1051560" cy="566928"/>
          </a:xfrm>
          <a:prstGeom prst="roundRect">
            <a:avLst>
              <a:gd name="adj" fmla="val 19355"/>
            </a:avLst>
          </a:prstGeom>
          <a:solidFill>
            <a:schemeClr val="bg2"/>
          </a:solidFill>
          <a:ln w="12700">
            <a:solidFill>
              <a:srgbClr val="0B5394"/>
            </a:solidFill>
          </a:ln>
        </p:spPr>
        <p:txBody>
          <a:bodyPr wrap="square" lIns="0" tIns="0" rIns="0" bIns="0" rtlCol="0" anchor="ctr"/>
          <a:lstStyle/>
          <a:p>
            <a:pPr marL="0" indent="0" algn="ctr">
              <a:buNone/>
            </a:pPr>
            <a:r>
              <a:rPr lang="en-US" sz="1000" dirty="0">
                <a:solidFill>
                  <a:schemeClr val="tx1"/>
                </a:solidFill>
              </a:rPr>
              <a:t>Assign salesperson + notify</a:t>
            </a:r>
            <a:endParaRPr lang="en-US" sz="1000" dirty="0"/>
          </a:p>
        </p:txBody>
      </p:sp>
      <p:sp>
        <p:nvSpPr>
          <p:cNvPr id="76" name="connector-141"/>
          <p:cNvSpPr/>
          <p:nvPr/>
        </p:nvSpPr>
        <p:spPr>
          <a:xfrm>
            <a:off x="5440680" y="4965192"/>
            <a:ext cx="182880" cy="0"/>
          </a:xfrm>
          <a:prstGeom prst="line">
            <a:avLst/>
          </a:prstGeom>
          <a:noFill/>
          <a:ln w="19050">
            <a:solidFill>
              <a:srgbClr val="6B7C93"/>
            </a:solidFill>
            <a:prstDash val="solid"/>
            <a:tailEnd type="triangle"/>
          </a:ln>
        </p:spPr>
      </p:sp>
      <p:sp>
        <p:nvSpPr>
          <p:cNvPr id="77" name="act-end"/>
          <p:cNvSpPr/>
          <p:nvPr/>
        </p:nvSpPr>
        <p:spPr>
          <a:xfrm>
            <a:off x="5623560" y="4846320"/>
            <a:ext cx="237744" cy="237744"/>
          </a:xfrm>
          <a:prstGeom prst="ellipse">
            <a:avLst/>
          </a:prstGeom>
          <a:solidFill>
            <a:schemeClr val="bg1"/>
          </a:solidFill>
          <a:ln w="25400">
            <a:solidFill>
              <a:srgbClr val="14213D"/>
            </a:solidFill>
            <a:prstDash val="solid"/>
          </a:ln>
        </p:spPr>
      </p:sp>
      <p:sp>
        <p:nvSpPr>
          <p:cNvPr id="78" name="act-end-dot"/>
          <p:cNvSpPr/>
          <p:nvPr/>
        </p:nvSpPr>
        <p:spPr>
          <a:xfrm>
            <a:off x="5669280" y="4892040"/>
            <a:ext cx="146304" cy="146304"/>
          </a:xfrm>
          <a:prstGeom prst="ellipse">
            <a:avLst/>
          </a:prstGeom>
          <a:solidFill>
            <a:schemeClr val="tx1"/>
          </a:solidFill>
          <a:ln/>
        </p:spPr>
      </p:sp>
      <p:sp>
        <p:nvSpPr>
          <p:cNvPr id="79" name="connector-142"/>
          <p:cNvSpPr/>
          <p:nvPr/>
        </p:nvSpPr>
        <p:spPr>
          <a:xfrm>
            <a:off x="2651760" y="5303520"/>
            <a:ext cx="0" cy="237744"/>
          </a:xfrm>
          <a:prstGeom prst="line">
            <a:avLst/>
          </a:prstGeom>
          <a:noFill/>
          <a:ln w="19050">
            <a:solidFill>
              <a:srgbClr val="6B7C93"/>
            </a:solidFill>
            <a:prstDash val="solid"/>
            <a:tailEnd type="triangle"/>
          </a:ln>
        </p:spPr>
      </p:sp>
      <p:sp>
        <p:nvSpPr>
          <p:cNvPr id="80" name="text-143"/>
          <p:cNvSpPr txBox="1"/>
          <p:nvPr/>
        </p:nvSpPr>
        <p:spPr>
          <a:xfrm>
            <a:off x="2697480" y="5285232"/>
            <a:ext cx="320040" cy="182880"/>
          </a:xfrm>
          <a:prstGeom prst="rect">
            <a:avLst/>
          </a:prstGeom>
          <a:noFill/>
          <a:ln/>
        </p:spPr>
        <p:txBody>
          <a:bodyPr wrap="square" lIns="0" tIns="0" rIns="0" bIns="0" rtlCol="0" anchor="ctr"/>
          <a:lstStyle/>
          <a:p>
            <a:pPr marL="0" indent="0">
              <a:buNone/>
            </a:pPr>
            <a:r>
              <a:rPr lang="en-US" sz="1000" dirty="0">
                <a:solidFill>
                  <a:schemeClr val="accent6"/>
                </a:solidFill>
              </a:rPr>
              <a:t>yes</a:t>
            </a:r>
            <a:endParaRPr lang="en-US" sz="1000" dirty="0"/>
          </a:p>
        </p:txBody>
      </p:sp>
      <p:sp>
        <p:nvSpPr>
          <p:cNvPr id="81" name="text-144"/>
          <p:cNvSpPr txBox="1"/>
          <p:nvPr/>
        </p:nvSpPr>
        <p:spPr>
          <a:xfrm>
            <a:off x="2011680" y="5541264"/>
            <a:ext cx="1280160" cy="566928"/>
          </a:xfrm>
          <a:prstGeom prst="roundRect">
            <a:avLst>
              <a:gd name="adj" fmla="val 19355"/>
            </a:avLst>
          </a:prstGeom>
          <a:solidFill>
            <a:schemeClr val="bg2"/>
          </a:solidFill>
          <a:ln w="12700">
            <a:solidFill>
              <a:srgbClr val="0B5394"/>
            </a:solidFill>
          </a:ln>
        </p:spPr>
        <p:txBody>
          <a:bodyPr wrap="square" lIns="0" tIns="0" rIns="0" bIns="0" rtlCol="0" anchor="ctr"/>
          <a:lstStyle/>
          <a:p>
            <a:pPr marL="0" indent="0" algn="ctr">
              <a:buNone/>
            </a:pPr>
            <a:r>
              <a:rPr lang="en-US" sz="1000" dirty="0">
                <a:solidFill>
                  <a:schemeClr val="tx1"/>
                </a:solidFill>
              </a:rPr>
              <a:t>Merge as interaction</a:t>
            </a:r>
            <a:endParaRPr lang="en-US" sz="1000" dirty="0"/>
          </a:p>
        </p:txBody>
      </p:sp>
      <p:sp>
        <p:nvSpPr>
          <p:cNvPr id="82" name="uml-panel-145"/>
          <p:cNvSpPr/>
          <p:nvPr/>
        </p:nvSpPr>
        <p:spPr>
          <a:xfrm>
            <a:off x="6153912" y="4297680"/>
            <a:ext cx="5486400" cy="1920240"/>
          </a:xfrm>
          <a:prstGeom prst="roundRect">
            <a:avLst>
              <a:gd name="adj" fmla="val 2857"/>
            </a:avLst>
          </a:prstGeom>
          <a:solidFill>
            <a:schemeClr val="bg1"/>
          </a:solidFill>
          <a:ln w="12700">
            <a:solidFill>
              <a:srgbClr val="C9D4E3"/>
            </a:solidFill>
            <a:prstDash val="solid"/>
          </a:ln>
        </p:spPr>
      </p:sp>
      <p:sp>
        <p:nvSpPr>
          <p:cNvPr id="83" name="text-146"/>
          <p:cNvSpPr txBox="1"/>
          <p:nvPr/>
        </p:nvSpPr>
        <p:spPr>
          <a:xfrm>
            <a:off x="6291072" y="4370832"/>
            <a:ext cx="3200400" cy="274320"/>
          </a:xfrm>
          <a:prstGeom prst="rect">
            <a:avLst/>
          </a:prstGeom>
          <a:noFill/>
          <a:ln/>
        </p:spPr>
        <p:txBody>
          <a:bodyPr wrap="square" lIns="0" tIns="0" rIns="0" bIns="0" rtlCol="0" anchor="ctr"/>
          <a:lstStyle/>
          <a:p>
            <a:pPr marL="0" indent="0">
              <a:buNone/>
            </a:pPr>
            <a:r>
              <a:rPr lang="en-US" sz="1200" b="1" dirty="0">
                <a:solidFill>
                  <a:schemeClr val="tx2"/>
                </a:solidFill>
              </a:rPr>
              <a:t>Class Diagram: core domain</a:t>
            </a:r>
            <a:endParaRPr lang="en-US" sz="1200" dirty="0"/>
          </a:p>
        </p:txBody>
      </p:sp>
      <p:sp>
        <p:nvSpPr>
          <p:cNvPr id="84" name="class-box-147"/>
          <p:cNvSpPr/>
          <p:nvPr/>
        </p:nvSpPr>
        <p:spPr>
          <a:xfrm>
            <a:off x="6336792" y="4645152"/>
            <a:ext cx="1097280" cy="1078992"/>
          </a:xfrm>
          <a:prstGeom prst="rect">
            <a:avLst/>
          </a:prstGeom>
          <a:solidFill>
            <a:schemeClr val="bg1"/>
          </a:solidFill>
          <a:ln w="12700">
            <a:solidFill>
              <a:srgbClr val="0B5394"/>
            </a:solidFill>
            <a:prstDash val="solid"/>
          </a:ln>
        </p:spPr>
      </p:sp>
      <p:sp>
        <p:nvSpPr>
          <p:cNvPr id="85" name="text-148"/>
          <p:cNvSpPr txBox="1"/>
          <p:nvPr/>
        </p:nvSpPr>
        <p:spPr>
          <a:xfrm>
            <a:off x="6336792" y="4645152"/>
            <a:ext cx="1097280" cy="274320"/>
          </a:xfrm>
          <a:prstGeom prst="rect">
            <a:avLst/>
          </a:prstGeom>
          <a:solidFill>
            <a:schemeClr val="accent1"/>
          </a:solidFill>
          <a:ln/>
        </p:spPr>
        <p:txBody>
          <a:bodyPr wrap="square" lIns="0" tIns="0" rIns="0" bIns="0" rtlCol="0" anchor="ctr"/>
          <a:lstStyle/>
          <a:p>
            <a:pPr marL="0" indent="0" algn="ctr">
              <a:buNone/>
            </a:pPr>
            <a:r>
              <a:rPr lang="en-US" sz="1100" b="1" dirty="0">
                <a:solidFill>
                  <a:schemeClr val="bg1"/>
                </a:solidFill>
              </a:rPr>
              <a:t>User</a:t>
            </a:r>
            <a:endParaRPr lang="en-US" sz="1100" dirty="0"/>
          </a:p>
        </p:txBody>
      </p:sp>
      <p:sp>
        <p:nvSpPr>
          <p:cNvPr id="86" name="text-149"/>
          <p:cNvSpPr txBox="1"/>
          <p:nvPr/>
        </p:nvSpPr>
        <p:spPr>
          <a:xfrm>
            <a:off x="6400800" y="4946904"/>
            <a:ext cx="1005840" cy="749808"/>
          </a:xfrm>
          <a:prstGeom prst="rect">
            <a:avLst/>
          </a:prstGeom>
          <a:noFill/>
          <a:ln/>
        </p:spPr>
        <p:txBody>
          <a:bodyPr wrap="square" lIns="0" tIns="0" rIns="0" bIns="0" rtlCol="0" anchor="t"/>
          <a:lstStyle/>
          <a:p>
            <a:pPr marL="0" indent="0">
              <a:buNone/>
            </a:pPr>
            <a:r>
              <a:rPr lang="en-US" sz="1000" dirty="0">
                <a:solidFill>
                  <a:schemeClr val="tx1"/>
                </a:solidFill>
              </a:rPr>
              <a:t>+name</a:t>
            </a:r>
            <a:endParaRPr lang="en-US" sz="1000" dirty="0"/>
          </a:p>
          <a:p>
            <a:pPr marL="0" indent="0">
              <a:buNone/>
            </a:pPr>
            <a:r>
              <a:rPr lang="en-US" sz="1000" dirty="0">
                <a:solidFill>
                  <a:schemeClr val="tx1"/>
                </a:solidFill>
              </a:rPr>
              <a:t>+role</a:t>
            </a:r>
            <a:endParaRPr lang="en-US" sz="1000" dirty="0"/>
          </a:p>
          <a:p>
            <a:pPr marL="0" indent="0">
              <a:buNone/>
            </a:pPr>
            <a:r>
              <a:rPr lang="en-US" sz="1000" dirty="0">
                <a:solidFill>
                  <a:schemeClr val="tx1"/>
                </a:solidFill>
              </a:rPr>
              <a:t>+maxActiveLeads</a:t>
            </a:r>
            <a:endParaRPr lang="en-US" sz="1000" dirty="0"/>
          </a:p>
        </p:txBody>
      </p:sp>
      <p:sp>
        <p:nvSpPr>
          <p:cNvPr id="87" name="assoc-150"/>
          <p:cNvSpPr/>
          <p:nvPr/>
        </p:nvSpPr>
        <p:spPr>
          <a:xfrm>
            <a:off x="7434072" y="5148072"/>
            <a:ext cx="274320" cy="0"/>
          </a:xfrm>
          <a:prstGeom prst="line">
            <a:avLst/>
          </a:prstGeom>
          <a:noFill/>
          <a:ln w="12700">
            <a:solidFill>
              <a:srgbClr val="14213D"/>
            </a:solidFill>
            <a:prstDash val="solid"/>
          </a:ln>
        </p:spPr>
      </p:sp>
      <p:sp>
        <p:nvSpPr>
          <p:cNvPr id="88" name="text-151"/>
          <p:cNvSpPr txBox="1"/>
          <p:nvPr/>
        </p:nvSpPr>
        <p:spPr>
          <a:xfrm>
            <a:off x="7434072" y="4919472"/>
            <a:ext cx="274320" cy="201168"/>
          </a:xfrm>
          <a:prstGeom prst="rect">
            <a:avLst/>
          </a:prstGeom>
          <a:noFill/>
          <a:ln/>
        </p:spPr>
        <p:txBody>
          <a:bodyPr wrap="square" lIns="0" tIns="0" rIns="0" bIns="0" rtlCol="0" anchor="ctr"/>
          <a:lstStyle/>
          <a:p>
            <a:pPr marL="0" indent="0" algn="ctr">
              <a:buNone/>
            </a:pPr>
            <a:r>
              <a:rPr lang="en-US" sz="1000" dirty="0">
                <a:solidFill>
                  <a:schemeClr val="accent6"/>
                </a:solidFill>
              </a:rPr>
              <a:t>1   *</a:t>
            </a:r>
            <a:endParaRPr lang="en-US" sz="1000" dirty="0"/>
          </a:p>
        </p:txBody>
      </p:sp>
      <p:sp>
        <p:nvSpPr>
          <p:cNvPr id="89" name="class-box-152"/>
          <p:cNvSpPr/>
          <p:nvPr/>
        </p:nvSpPr>
        <p:spPr>
          <a:xfrm>
            <a:off x="7708392" y="4645152"/>
            <a:ext cx="1097280" cy="1078992"/>
          </a:xfrm>
          <a:prstGeom prst="rect">
            <a:avLst/>
          </a:prstGeom>
          <a:solidFill>
            <a:schemeClr val="bg1"/>
          </a:solidFill>
          <a:ln w="12700">
            <a:solidFill>
              <a:srgbClr val="0B5394"/>
            </a:solidFill>
            <a:prstDash val="solid"/>
          </a:ln>
        </p:spPr>
      </p:sp>
      <p:sp>
        <p:nvSpPr>
          <p:cNvPr id="90" name="text-153"/>
          <p:cNvSpPr txBox="1"/>
          <p:nvPr/>
        </p:nvSpPr>
        <p:spPr>
          <a:xfrm>
            <a:off x="7708392" y="4645152"/>
            <a:ext cx="1097280" cy="274320"/>
          </a:xfrm>
          <a:prstGeom prst="rect">
            <a:avLst/>
          </a:prstGeom>
          <a:solidFill>
            <a:schemeClr val="accent1"/>
          </a:solidFill>
          <a:ln/>
        </p:spPr>
        <p:txBody>
          <a:bodyPr wrap="square" lIns="0" tIns="0" rIns="0" bIns="0" rtlCol="0" anchor="ctr"/>
          <a:lstStyle/>
          <a:p>
            <a:pPr marL="0" indent="0" algn="ctr">
              <a:buNone/>
            </a:pPr>
            <a:r>
              <a:rPr lang="en-US" sz="1100" b="1" dirty="0">
                <a:solidFill>
                  <a:schemeClr val="bg1"/>
                </a:solidFill>
              </a:rPr>
              <a:t>Lead</a:t>
            </a:r>
            <a:endParaRPr lang="en-US" sz="1100" dirty="0"/>
          </a:p>
        </p:txBody>
      </p:sp>
      <p:sp>
        <p:nvSpPr>
          <p:cNvPr id="91" name="text-154"/>
          <p:cNvSpPr txBox="1"/>
          <p:nvPr/>
        </p:nvSpPr>
        <p:spPr>
          <a:xfrm>
            <a:off x="7772400" y="4946904"/>
            <a:ext cx="1005840" cy="749808"/>
          </a:xfrm>
          <a:prstGeom prst="rect">
            <a:avLst/>
          </a:prstGeom>
          <a:noFill/>
          <a:ln/>
        </p:spPr>
        <p:txBody>
          <a:bodyPr wrap="square" lIns="0" tIns="0" rIns="0" bIns="0" rtlCol="0" anchor="t"/>
          <a:lstStyle/>
          <a:p>
            <a:pPr marL="0" indent="0">
              <a:buNone/>
            </a:pPr>
            <a:r>
              <a:rPr lang="en-US" sz="1000" dirty="0">
                <a:solidFill>
                  <a:schemeClr val="tx1"/>
                </a:solidFill>
              </a:rPr>
              <a:t>+phone, email</a:t>
            </a:r>
            <a:endParaRPr lang="en-US" sz="1000" dirty="0"/>
          </a:p>
          <a:p>
            <a:pPr marL="0" indent="0">
              <a:buNone/>
            </a:pPr>
            <a:r>
              <a:rPr lang="en-US" sz="1000" dirty="0">
                <a:solidFill>
                  <a:schemeClr val="tx1"/>
                </a:solidFill>
              </a:rPr>
              <a:t>+score, priority</a:t>
            </a:r>
            <a:endParaRPr lang="en-US" sz="1000" dirty="0"/>
          </a:p>
          <a:p>
            <a:pPr marL="0" indent="0">
              <a:buNone/>
            </a:pPr>
            <a:r>
              <a:rPr lang="en-US" sz="1000" dirty="0">
                <a:solidFill>
                  <a:schemeClr val="tx1"/>
                </a:solidFill>
              </a:rPr>
              <a:t>+status</a:t>
            </a:r>
            <a:endParaRPr lang="en-US" sz="1000" dirty="0"/>
          </a:p>
        </p:txBody>
      </p:sp>
      <p:sp>
        <p:nvSpPr>
          <p:cNvPr id="92" name="assoc-155"/>
          <p:cNvSpPr/>
          <p:nvPr/>
        </p:nvSpPr>
        <p:spPr>
          <a:xfrm>
            <a:off x="8805672" y="5148072"/>
            <a:ext cx="274320" cy="0"/>
          </a:xfrm>
          <a:prstGeom prst="line">
            <a:avLst/>
          </a:prstGeom>
          <a:noFill/>
          <a:ln w="12700">
            <a:solidFill>
              <a:srgbClr val="14213D"/>
            </a:solidFill>
            <a:prstDash val="solid"/>
          </a:ln>
        </p:spPr>
      </p:sp>
      <p:sp>
        <p:nvSpPr>
          <p:cNvPr id="93" name="text-156"/>
          <p:cNvSpPr txBox="1"/>
          <p:nvPr/>
        </p:nvSpPr>
        <p:spPr>
          <a:xfrm>
            <a:off x="8805672" y="4919472"/>
            <a:ext cx="274320" cy="201168"/>
          </a:xfrm>
          <a:prstGeom prst="rect">
            <a:avLst/>
          </a:prstGeom>
          <a:noFill/>
          <a:ln/>
        </p:spPr>
        <p:txBody>
          <a:bodyPr wrap="square" lIns="0" tIns="0" rIns="0" bIns="0" rtlCol="0" anchor="ctr"/>
          <a:lstStyle/>
          <a:p>
            <a:pPr marL="0" indent="0" algn="ctr">
              <a:buNone/>
            </a:pPr>
            <a:r>
              <a:rPr lang="en-US" sz="1000" dirty="0">
                <a:solidFill>
                  <a:schemeClr val="accent6"/>
                </a:solidFill>
              </a:rPr>
              <a:t>1   *</a:t>
            </a:r>
            <a:endParaRPr lang="en-US" sz="1000" dirty="0"/>
          </a:p>
        </p:txBody>
      </p:sp>
      <p:sp>
        <p:nvSpPr>
          <p:cNvPr id="94" name="class-box-157"/>
          <p:cNvSpPr/>
          <p:nvPr/>
        </p:nvSpPr>
        <p:spPr>
          <a:xfrm>
            <a:off x="9079992" y="4645152"/>
            <a:ext cx="1097280" cy="1078992"/>
          </a:xfrm>
          <a:prstGeom prst="rect">
            <a:avLst/>
          </a:prstGeom>
          <a:solidFill>
            <a:schemeClr val="bg1"/>
          </a:solidFill>
          <a:ln w="12700">
            <a:solidFill>
              <a:srgbClr val="0B5394"/>
            </a:solidFill>
            <a:prstDash val="solid"/>
          </a:ln>
        </p:spPr>
      </p:sp>
      <p:sp>
        <p:nvSpPr>
          <p:cNvPr id="95" name="text-158"/>
          <p:cNvSpPr txBox="1"/>
          <p:nvPr/>
        </p:nvSpPr>
        <p:spPr>
          <a:xfrm>
            <a:off x="9079992" y="4645152"/>
            <a:ext cx="1097280" cy="274320"/>
          </a:xfrm>
          <a:prstGeom prst="rect">
            <a:avLst/>
          </a:prstGeom>
          <a:solidFill>
            <a:schemeClr val="accent1"/>
          </a:solidFill>
          <a:ln/>
        </p:spPr>
        <p:txBody>
          <a:bodyPr wrap="square" lIns="0" tIns="0" rIns="0" bIns="0" rtlCol="0" anchor="ctr"/>
          <a:lstStyle/>
          <a:p>
            <a:pPr marL="0" indent="0" algn="ctr">
              <a:buNone/>
            </a:pPr>
            <a:r>
              <a:rPr lang="en-US" sz="1100" b="1" dirty="0">
                <a:solidFill>
                  <a:schemeClr val="bg1"/>
                </a:solidFill>
              </a:rPr>
              <a:t>FollowUp</a:t>
            </a:r>
            <a:endParaRPr lang="en-US" sz="1100" dirty="0"/>
          </a:p>
        </p:txBody>
      </p:sp>
      <p:sp>
        <p:nvSpPr>
          <p:cNvPr id="96" name="text-159"/>
          <p:cNvSpPr txBox="1"/>
          <p:nvPr/>
        </p:nvSpPr>
        <p:spPr>
          <a:xfrm>
            <a:off x="9144000" y="4946904"/>
            <a:ext cx="1005840" cy="749808"/>
          </a:xfrm>
          <a:prstGeom prst="rect">
            <a:avLst/>
          </a:prstGeom>
          <a:noFill/>
          <a:ln/>
        </p:spPr>
        <p:txBody>
          <a:bodyPr wrap="square" lIns="0" tIns="0" rIns="0" bIns="0" rtlCol="0" anchor="t"/>
          <a:lstStyle/>
          <a:p>
            <a:pPr marL="0" indent="0">
              <a:buNone/>
            </a:pPr>
            <a:r>
              <a:rPr lang="en-US" sz="1000" dirty="0">
                <a:solidFill>
                  <a:schemeClr val="tx1"/>
                </a:solidFill>
              </a:rPr>
              <a:t>+scheduledAt</a:t>
            </a:r>
            <a:endParaRPr lang="en-US" sz="1000" dirty="0"/>
          </a:p>
          <a:p>
            <a:pPr marL="0" indent="0">
              <a:buNone/>
            </a:pPr>
            <a:r>
              <a:rPr lang="en-US" sz="1000" dirty="0">
                <a:solidFill>
                  <a:schemeClr val="tx1"/>
                </a:solidFill>
              </a:rPr>
              <a:t>+status</a:t>
            </a:r>
            <a:endParaRPr lang="en-US" sz="1000" dirty="0"/>
          </a:p>
          <a:p>
            <a:pPr marL="0" indent="0">
              <a:buNone/>
            </a:pPr>
            <a:r>
              <a:rPr lang="en-US" sz="1000" dirty="0">
                <a:solidFill>
                  <a:schemeClr val="tx1"/>
                </a:solidFill>
              </a:rPr>
              <a:t>+type</a:t>
            </a:r>
            <a:endParaRPr lang="en-US" sz="1000" dirty="0"/>
          </a:p>
        </p:txBody>
      </p:sp>
      <p:sp>
        <p:nvSpPr>
          <p:cNvPr id="97" name="class-box-160"/>
          <p:cNvSpPr/>
          <p:nvPr/>
        </p:nvSpPr>
        <p:spPr>
          <a:xfrm>
            <a:off x="10451592" y="4645152"/>
            <a:ext cx="1097280" cy="1078992"/>
          </a:xfrm>
          <a:prstGeom prst="rect">
            <a:avLst/>
          </a:prstGeom>
          <a:solidFill>
            <a:schemeClr val="bg1"/>
          </a:solidFill>
          <a:ln w="12700">
            <a:solidFill>
              <a:srgbClr val="0B5394"/>
            </a:solidFill>
            <a:prstDash val="solid"/>
          </a:ln>
        </p:spPr>
      </p:sp>
      <p:sp>
        <p:nvSpPr>
          <p:cNvPr id="98" name="text-161"/>
          <p:cNvSpPr txBox="1"/>
          <p:nvPr/>
        </p:nvSpPr>
        <p:spPr>
          <a:xfrm>
            <a:off x="10451592" y="4645152"/>
            <a:ext cx="1097280" cy="274320"/>
          </a:xfrm>
          <a:prstGeom prst="rect">
            <a:avLst/>
          </a:prstGeom>
          <a:solidFill>
            <a:schemeClr val="accent1"/>
          </a:solidFill>
          <a:ln/>
        </p:spPr>
        <p:txBody>
          <a:bodyPr wrap="square" lIns="0" tIns="0" rIns="0" bIns="0" rtlCol="0" anchor="ctr"/>
          <a:lstStyle/>
          <a:p>
            <a:pPr marL="0" indent="0" algn="ctr">
              <a:buNone/>
            </a:pPr>
            <a:r>
              <a:rPr lang="en-US" sz="1100" b="1" dirty="0">
                <a:solidFill>
                  <a:schemeClr val="bg1"/>
                </a:solidFill>
              </a:rPr>
              <a:t>Activity</a:t>
            </a:r>
            <a:endParaRPr lang="en-US" sz="1100" dirty="0"/>
          </a:p>
        </p:txBody>
      </p:sp>
      <p:sp>
        <p:nvSpPr>
          <p:cNvPr id="99" name="text-162"/>
          <p:cNvSpPr txBox="1"/>
          <p:nvPr/>
        </p:nvSpPr>
        <p:spPr>
          <a:xfrm>
            <a:off x="10515600" y="4946904"/>
            <a:ext cx="1005840" cy="749808"/>
          </a:xfrm>
          <a:prstGeom prst="rect">
            <a:avLst/>
          </a:prstGeom>
          <a:noFill/>
          <a:ln/>
        </p:spPr>
        <p:txBody>
          <a:bodyPr wrap="square" lIns="0" tIns="0" rIns="0" bIns="0" rtlCol="0" anchor="t"/>
          <a:lstStyle/>
          <a:p>
            <a:pPr marL="0" indent="0">
              <a:buNone/>
            </a:pPr>
            <a:r>
              <a:rPr lang="en-US" sz="1000" dirty="0">
                <a:solidFill>
                  <a:schemeClr val="tx1"/>
                </a:solidFill>
              </a:rPr>
              <a:t>+actionType</a:t>
            </a:r>
            <a:endParaRPr lang="en-US" sz="1000" dirty="0"/>
          </a:p>
          <a:p>
            <a:pPr marL="0" indent="0">
              <a:buNone/>
            </a:pPr>
            <a:r>
              <a:rPr lang="en-US" sz="1000" dirty="0">
                <a:solidFill>
                  <a:schemeClr val="tx1"/>
                </a:solidFill>
              </a:rPr>
              <a:t>+title</a:t>
            </a:r>
            <a:endParaRPr lang="en-US" sz="1000" dirty="0"/>
          </a:p>
          <a:p>
            <a:pPr marL="0" indent="0">
              <a:buNone/>
            </a:pPr>
            <a:r>
              <a:rPr lang="en-US" sz="1000" dirty="0">
                <a:solidFill>
                  <a:schemeClr val="tx1"/>
                </a:solidFill>
              </a:rPr>
              <a:t>+metadata</a:t>
            </a:r>
            <a:endParaRPr lang="en-US" sz="1000" dirty="0"/>
          </a:p>
        </p:txBody>
      </p:sp>
      <p:sp>
        <p:nvSpPr>
          <p:cNvPr id="100" name="assoc-l1"/>
          <p:cNvSpPr/>
          <p:nvPr/>
        </p:nvSpPr>
        <p:spPr>
          <a:xfrm>
            <a:off x="8257032" y="5724144"/>
            <a:ext cx="0" cy="182880"/>
          </a:xfrm>
          <a:prstGeom prst="line">
            <a:avLst/>
          </a:prstGeom>
          <a:noFill/>
          <a:ln w="12700">
            <a:solidFill>
              <a:srgbClr val="14213D"/>
            </a:solidFill>
            <a:prstDash val="solid"/>
          </a:ln>
        </p:spPr>
      </p:sp>
      <p:sp>
        <p:nvSpPr>
          <p:cNvPr id="101" name="assoc-l2"/>
          <p:cNvSpPr/>
          <p:nvPr/>
        </p:nvSpPr>
        <p:spPr>
          <a:xfrm>
            <a:off x="8257032" y="5907024"/>
            <a:ext cx="2743200" cy="0"/>
          </a:xfrm>
          <a:prstGeom prst="line">
            <a:avLst/>
          </a:prstGeom>
          <a:noFill/>
          <a:ln w="12700">
            <a:solidFill>
              <a:srgbClr val="14213D"/>
            </a:solidFill>
            <a:prstDash val="solid"/>
          </a:ln>
        </p:spPr>
      </p:sp>
      <p:sp>
        <p:nvSpPr>
          <p:cNvPr id="102" name="assoc-l3"/>
          <p:cNvSpPr/>
          <p:nvPr/>
        </p:nvSpPr>
        <p:spPr>
          <a:xfrm>
            <a:off x="11000232" y="5724144"/>
            <a:ext cx="0" cy="182880"/>
          </a:xfrm>
          <a:prstGeom prst="line">
            <a:avLst/>
          </a:prstGeom>
          <a:noFill/>
          <a:ln w="12700">
            <a:solidFill>
              <a:srgbClr val="14213D"/>
            </a:solidFill>
            <a:prstDash val="solid"/>
          </a:ln>
        </p:spPr>
      </p:sp>
      <p:sp>
        <p:nvSpPr>
          <p:cNvPr id="103" name="text-163"/>
          <p:cNvSpPr txBox="1"/>
          <p:nvPr/>
        </p:nvSpPr>
        <p:spPr>
          <a:xfrm>
            <a:off x="9079992" y="5916168"/>
            <a:ext cx="1463040" cy="182880"/>
          </a:xfrm>
          <a:prstGeom prst="rect">
            <a:avLst/>
          </a:prstGeom>
          <a:noFill/>
          <a:ln/>
        </p:spPr>
        <p:txBody>
          <a:bodyPr wrap="square" lIns="0" tIns="0" rIns="0" bIns="0" rtlCol="0" anchor="ctr"/>
          <a:lstStyle/>
          <a:p>
            <a:pPr marL="0" indent="0" algn="ctr">
              <a:buNone/>
            </a:pPr>
            <a:r>
              <a:rPr lang="en-US" sz="1000" dirty="0">
                <a:solidFill>
                  <a:schemeClr val="accent6"/>
                </a:solidFill>
              </a:rPr>
              <a:t>1 Lead  —  * Activity</a:t>
            </a:r>
            <a:endParaRPr lang="en-US" sz="1000" dirty="0"/>
          </a:p>
        </p:txBody>
      </p:sp>
      <p:sp>
        <p:nvSpPr>
          <p:cNvPr id="10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Database Schema &amp; API Contracts</a:t>
            </a:r>
            <a:endParaRPr lang="en-US" sz="3200" dirty="0"/>
          </a:p>
        </p:txBody>
      </p:sp>
      <p:sp>
        <p:nvSpPr>
          <p:cNvPr id="3" name="tag-164"/>
          <p:cNvSpPr txBox="1"/>
          <p:nvPr/>
        </p:nvSpPr>
        <p:spPr>
          <a:xfrm>
            <a:off x="9811512" y="457200"/>
            <a:ext cx="1828800" cy="384048"/>
          </a:xfrm>
          <a:prstGeom prst="roundRect">
            <a:avLst>
              <a:gd name="adj" fmla="val 47619"/>
            </a:avLst>
          </a:prstGeom>
          <a:solidFill>
            <a:schemeClr val="accent3"/>
          </a:solidFill>
          <a:ln/>
        </p:spPr>
        <p:txBody>
          <a:bodyPr wrap="square" lIns="0" tIns="0" rIns="0" bIns="0" rtlCol="0" anchor="ctr"/>
          <a:lstStyle/>
          <a:p>
            <a:pPr marL="0" indent="0" algn="ctr">
              <a:buNone/>
            </a:pPr>
            <a:r>
              <a:rPr lang="en-US" sz="1200" b="1" kern="0" spc="100" dirty="0">
                <a:solidFill>
                  <a:schemeClr val="tx1"/>
                </a:solidFill>
              </a:rPr>
              <a:t>[UPDATED]</a:t>
            </a:r>
            <a:endParaRPr lang="en-US" sz="1200" dirty="0"/>
          </a:p>
        </p:txBody>
      </p:sp>
      <p:sp>
        <p:nvSpPr>
          <p:cNvPr id="4" name="entity-165"/>
          <p:cNvSpPr/>
          <p:nvPr/>
        </p:nvSpPr>
        <p:spPr>
          <a:xfrm>
            <a:off x="548640" y="1280160"/>
            <a:ext cx="1828800" cy="1426464"/>
          </a:xfrm>
          <a:prstGeom prst="rect">
            <a:avLst/>
          </a:prstGeom>
          <a:solidFill>
            <a:schemeClr val="bg1"/>
          </a:solidFill>
          <a:ln w="12700">
            <a:solidFill>
              <a:srgbClr val="0B5394"/>
            </a:solidFill>
            <a:prstDash val="solid"/>
          </a:ln>
        </p:spPr>
      </p:sp>
      <p:sp>
        <p:nvSpPr>
          <p:cNvPr id="5" name="text-166"/>
          <p:cNvSpPr txBox="1"/>
          <p:nvPr/>
        </p:nvSpPr>
        <p:spPr>
          <a:xfrm>
            <a:off x="548640" y="1280160"/>
            <a:ext cx="1828800" cy="292608"/>
          </a:xfrm>
          <a:prstGeom prst="rect">
            <a:avLst/>
          </a:prstGeom>
          <a:solidFill>
            <a:schemeClr val="accent1"/>
          </a:solidFill>
          <a:ln/>
        </p:spPr>
        <p:txBody>
          <a:bodyPr wrap="square" lIns="0" tIns="0" rIns="0" bIns="0" rtlCol="0" anchor="ctr"/>
          <a:lstStyle/>
          <a:p>
            <a:pPr marL="0" indent="0" algn="ctr">
              <a:buNone/>
            </a:pPr>
            <a:r>
              <a:rPr lang="en-US" sz="1200" b="1" dirty="0">
                <a:solidFill>
                  <a:schemeClr val="bg1"/>
                </a:solidFill>
              </a:rPr>
              <a:t>User</a:t>
            </a:r>
            <a:endParaRPr lang="en-US" sz="1200" dirty="0"/>
          </a:p>
        </p:txBody>
      </p:sp>
      <p:sp>
        <p:nvSpPr>
          <p:cNvPr id="6" name="text-167"/>
          <p:cNvSpPr txBox="1"/>
          <p:nvPr/>
        </p:nvSpPr>
        <p:spPr>
          <a:xfrm>
            <a:off x="621792" y="1609344"/>
            <a:ext cx="1719072" cy="1042416"/>
          </a:xfrm>
          <a:prstGeom prst="rect">
            <a:avLst/>
          </a:prstGeom>
          <a:noFill/>
          <a:ln/>
        </p:spPr>
        <p:txBody>
          <a:bodyPr wrap="square" lIns="0" tIns="0" rIns="0" bIns="0" rtlCol="0" anchor="t"/>
          <a:lstStyle/>
          <a:p>
            <a:pPr marL="0" indent="0">
              <a:buNone/>
            </a:pPr>
            <a:r>
              <a:rPr lang="en-US" sz="1000" b="1" dirty="0">
                <a:solidFill>
                  <a:schemeClr val="tx1"/>
                </a:solidFill>
              </a:rPr>
              <a:t>_id  PK</a:t>
            </a:r>
            <a:endParaRPr lang="en-US" sz="1000" dirty="0"/>
          </a:p>
          <a:p>
            <a:pPr marL="0" indent="0">
              <a:buNone/>
            </a:pPr>
            <a:r>
              <a:rPr lang="en-US" sz="1000" dirty="0">
                <a:solidFill>
                  <a:schemeClr val="tx1"/>
                </a:solidFill>
              </a:rPr>
              <a:t>name, email, phone</a:t>
            </a:r>
            <a:endParaRPr lang="en-US" sz="1000" dirty="0"/>
          </a:p>
          <a:p>
            <a:pPr marL="0" indent="0">
              <a:buNone/>
            </a:pPr>
            <a:r>
              <a:rPr lang="en-US" sz="1000" dirty="0">
                <a:solidFill>
                  <a:schemeClr val="tx1"/>
                </a:solidFill>
              </a:rPr>
              <a:t>role (Admin/Manager/Sales)</a:t>
            </a:r>
            <a:endParaRPr lang="en-US" sz="1000" dirty="0"/>
          </a:p>
          <a:p>
            <a:pPr marL="0" indent="0">
              <a:buNone/>
            </a:pPr>
            <a:r>
              <a:rPr lang="en-US" sz="1000" dirty="0">
                <a:solidFill>
                  <a:schemeClr val="tx1"/>
                </a:solidFill>
              </a:rPr>
              <a:t>maxActiveLeads</a:t>
            </a:r>
            <a:endParaRPr lang="en-US" sz="1000" dirty="0"/>
          </a:p>
          <a:p>
            <a:pPr marL="0" indent="0">
              <a:buNone/>
            </a:pPr>
            <a:r>
              <a:rPr lang="en-US" sz="1000" dirty="0">
                <a:solidFill>
                  <a:schemeClr val="tx1"/>
                </a:solidFill>
              </a:rPr>
              <a:t>specializations → Category</a:t>
            </a:r>
            <a:endParaRPr lang="en-US" sz="1000" dirty="0"/>
          </a:p>
          <a:p>
            <a:pPr marL="0" indent="0">
              <a:buNone/>
            </a:pPr>
            <a:r>
              <a:rPr lang="en-US" sz="1000" dirty="0">
                <a:solidFill>
                  <a:schemeClr val="tx1"/>
                </a:solidFill>
              </a:rPr>
              <a:t>fcmTokens</a:t>
            </a:r>
            <a:endParaRPr lang="en-US" sz="1000" dirty="0"/>
          </a:p>
        </p:txBody>
      </p:sp>
      <p:sp>
        <p:nvSpPr>
          <p:cNvPr id="7" name="entity-168"/>
          <p:cNvSpPr/>
          <p:nvPr/>
        </p:nvSpPr>
        <p:spPr>
          <a:xfrm>
            <a:off x="2880360" y="1280160"/>
            <a:ext cx="2011680" cy="2121408"/>
          </a:xfrm>
          <a:prstGeom prst="rect">
            <a:avLst/>
          </a:prstGeom>
          <a:solidFill>
            <a:schemeClr val="bg1"/>
          </a:solidFill>
          <a:ln w="12700">
            <a:solidFill>
              <a:srgbClr val="0B5394"/>
            </a:solidFill>
            <a:prstDash val="solid"/>
          </a:ln>
        </p:spPr>
      </p:sp>
      <p:sp>
        <p:nvSpPr>
          <p:cNvPr id="8" name="text-169"/>
          <p:cNvSpPr txBox="1"/>
          <p:nvPr/>
        </p:nvSpPr>
        <p:spPr>
          <a:xfrm>
            <a:off x="2880360" y="1280160"/>
            <a:ext cx="2011680" cy="292608"/>
          </a:xfrm>
          <a:prstGeom prst="rect">
            <a:avLst/>
          </a:prstGeom>
          <a:solidFill>
            <a:schemeClr val="accent1"/>
          </a:solidFill>
          <a:ln/>
        </p:spPr>
        <p:txBody>
          <a:bodyPr wrap="square" lIns="0" tIns="0" rIns="0" bIns="0" rtlCol="0" anchor="ctr"/>
          <a:lstStyle/>
          <a:p>
            <a:pPr marL="0" indent="0" algn="ctr">
              <a:buNone/>
            </a:pPr>
            <a:r>
              <a:rPr lang="en-US" sz="1200" b="1" dirty="0">
                <a:solidFill>
                  <a:schemeClr val="bg1"/>
                </a:solidFill>
              </a:rPr>
              <a:t>Lead</a:t>
            </a:r>
            <a:endParaRPr lang="en-US" sz="1200" dirty="0"/>
          </a:p>
        </p:txBody>
      </p:sp>
      <p:sp>
        <p:nvSpPr>
          <p:cNvPr id="9" name="text-170"/>
          <p:cNvSpPr txBox="1"/>
          <p:nvPr/>
        </p:nvSpPr>
        <p:spPr>
          <a:xfrm>
            <a:off x="2953512" y="1609344"/>
            <a:ext cx="1901952" cy="1737360"/>
          </a:xfrm>
          <a:prstGeom prst="rect">
            <a:avLst/>
          </a:prstGeom>
          <a:noFill/>
          <a:ln/>
        </p:spPr>
        <p:txBody>
          <a:bodyPr wrap="square" lIns="0" tIns="0" rIns="0" bIns="0" rtlCol="0" anchor="t"/>
          <a:lstStyle/>
          <a:p>
            <a:pPr marL="0" indent="0">
              <a:buNone/>
            </a:pPr>
            <a:r>
              <a:rPr lang="en-US" sz="1000" b="1" dirty="0">
                <a:solidFill>
                  <a:schemeClr val="tx1"/>
                </a:solidFill>
              </a:rPr>
              <a:t>_id  PK</a:t>
            </a:r>
            <a:endParaRPr lang="en-US" sz="1000" dirty="0"/>
          </a:p>
          <a:p>
            <a:pPr marL="0" indent="0">
              <a:buNone/>
            </a:pPr>
            <a:r>
              <a:rPr lang="en-US" sz="1000" b="1" dirty="0">
                <a:solidFill>
                  <a:schemeClr val="tx1"/>
                </a:solidFill>
              </a:rPr>
              <a:t>customLeadId  UK</a:t>
            </a:r>
            <a:endParaRPr lang="en-US" sz="1000" dirty="0"/>
          </a:p>
          <a:p>
            <a:pPr marL="0" indent="0">
              <a:buNone/>
            </a:pPr>
            <a:r>
              <a:rPr lang="en-US" sz="1000" dirty="0">
                <a:solidFill>
                  <a:schemeClr val="tx1"/>
                </a:solidFill>
              </a:rPr>
              <a:t>name, email, phone, company</a:t>
            </a:r>
            <a:endParaRPr lang="en-US" sz="1000" dirty="0"/>
          </a:p>
          <a:p>
            <a:pPr marL="0" indent="0">
              <a:buNone/>
            </a:pPr>
            <a:r>
              <a:rPr lang="en-US" sz="1000" dirty="0">
                <a:solidFill>
                  <a:schemeClr val="tx1"/>
                </a:solidFill>
              </a:rPr>
              <a:t>status, estimatedValue</a:t>
            </a:r>
            <a:endParaRPr lang="en-US" sz="1000" dirty="0"/>
          </a:p>
          <a:p>
            <a:pPr marL="0" indent="0">
              <a:buNone/>
            </a:pPr>
            <a:r>
              <a:rPr lang="en-US" sz="1000" dirty="0">
                <a:solidFill>
                  <a:schemeClr val="tx1"/>
                </a:solidFill>
              </a:rPr>
              <a:t>score, priority, scoreHistory</a:t>
            </a:r>
            <a:endParaRPr lang="en-US" sz="1000" dirty="0"/>
          </a:p>
          <a:p>
            <a:pPr marL="0" indent="0">
              <a:buNone/>
            </a:pPr>
            <a:r>
              <a:rPr lang="en-US" sz="1000" dirty="0">
                <a:solidFill>
                  <a:schemeClr val="tx1"/>
                </a:solidFill>
              </a:rPr>
              <a:t>interactions[ ]</a:t>
            </a:r>
            <a:endParaRPr lang="en-US" sz="1000" dirty="0"/>
          </a:p>
          <a:p>
            <a:pPr marL="0" indent="0">
              <a:buNone/>
            </a:pPr>
            <a:r>
              <a:rPr lang="en-US" sz="1000" dirty="0">
                <a:solidFill>
                  <a:schemeClr val="accent1"/>
                </a:solidFill>
              </a:rPr>
              <a:t>assignedTo  FK → User</a:t>
            </a:r>
            <a:endParaRPr lang="en-US" sz="1000" dirty="0"/>
          </a:p>
          <a:p>
            <a:pPr marL="0" indent="0">
              <a:buNone/>
            </a:pPr>
            <a:r>
              <a:rPr lang="en-US" sz="1000" dirty="0">
                <a:solidFill>
                  <a:schemeClr val="accent1"/>
                </a:solidFill>
              </a:rPr>
              <a:t>sourceId  FK → LeadSource</a:t>
            </a:r>
            <a:endParaRPr lang="en-US" sz="1000" dirty="0"/>
          </a:p>
          <a:p>
            <a:pPr marL="0" indent="0">
              <a:buNone/>
            </a:pPr>
            <a:r>
              <a:rPr lang="en-US" sz="1000" dirty="0">
                <a:solidFill>
                  <a:schemeClr val="accent1"/>
                </a:solidFill>
              </a:rPr>
              <a:t>categoryId  FK → LeadCategory</a:t>
            </a:r>
            <a:endParaRPr lang="en-US" sz="1000" dirty="0"/>
          </a:p>
          <a:p>
            <a:pPr marL="0" indent="0">
              <a:buNone/>
            </a:pPr>
            <a:r>
              <a:rPr lang="en-US" sz="1000" dirty="0">
                <a:solidFill>
                  <a:schemeClr val="accent1"/>
                </a:solidFill>
              </a:rPr>
              <a:t>stageId  FK → PipelineStage</a:t>
            </a:r>
            <a:endParaRPr lang="en-US" sz="1000" dirty="0"/>
          </a:p>
        </p:txBody>
      </p:sp>
      <p:sp>
        <p:nvSpPr>
          <p:cNvPr id="10" name="entity-171"/>
          <p:cNvSpPr/>
          <p:nvPr/>
        </p:nvSpPr>
        <p:spPr>
          <a:xfrm>
            <a:off x="5394960" y="1280160"/>
            <a:ext cx="1691640" cy="1252728"/>
          </a:xfrm>
          <a:prstGeom prst="rect">
            <a:avLst/>
          </a:prstGeom>
          <a:solidFill>
            <a:schemeClr val="bg1"/>
          </a:solidFill>
          <a:ln w="12700">
            <a:solidFill>
              <a:srgbClr val="0B5394"/>
            </a:solidFill>
            <a:prstDash val="solid"/>
          </a:ln>
        </p:spPr>
      </p:sp>
      <p:sp>
        <p:nvSpPr>
          <p:cNvPr id="11" name="text-172"/>
          <p:cNvSpPr txBox="1"/>
          <p:nvPr/>
        </p:nvSpPr>
        <p:spPr>
          <a:xfrm>
            <a:off x="5394960" y="1280160"/>
            <a:ext cx="1691640" cy="292608"/>
          </a:xfrm>
          <a:prstGeom prst="rect">
            <a:avLst/>
          </a:prstGeom>
          <a:solidFill>
            <a:schemeClr val="accent6"/>
          </a:solidFill>
          <a:ln/>
        </p:spPr>
        <p:txBody>
          <a:bodyPr wrap="square" lIns="0" tIns="0" rIns="0" bIns="0" rtlCol="0" anchor="ctr"/>
          <a:lstStyle/>
          <a:p>
            <a:pPr marL="0" indent="0" algn="ctr">
              <a:buNone/>
            </a:pPr>
            <a:r>
              <a:rPr lang="en-US" sz="1200" b="1" dirty="0">
                <a:solidFill>
                  <a:schemeClr val="bg1"/>
                </a:solidFill>
              </a:rPr>
              <a:t>Activity</a:t>
            </a:r>
            <a:endParaRPr lang="en-US" sz="1200" dirty="0"/>
          </a:p>
        </p:txBody>
      </p:sp>
      <p:sp>
        <p:nvSpPr>
          <p:cNvPr id="12" name="text-173"/>
          <p:cNvSpPr txBox="1"/>
          <p:nvPr/>
        </p:nvSpPr>
        <p:spPr>
          <a:xfrm>
            <a:off x="5468112" y="1609344"/>
            <a:ext cx="1581912" cy="868680"/>
          </a:xfrm>
          <a:prstGeom prst="rect">
            <a:avLst/>
          </a:prstGeom>
          <a:noFill/>
          <a:ln/>
        </p:spPr>
        <p:txBody>
          <a:bodyPr wrap="square" lIns="0" tIns="0" rIns="0" bIns="0" rtlCol="0" anchor="t"/>
          <a:lstStyle/>
          <a:p>
            <a:pPr marL="0" indent="0">
              <a:buNone/>
            </a:pPr>
            <a:r>
              <a:rPr lang="en-US" sz="1000" b="1" dirty="0">
                <a:solidFill>
                  <a:schemeClr val="tx1"/>
                </a:solidFill>
              </a:rPr>
              <a:t>_id  PK</a:t>
            </a:r>
            <a:endParaRPr lang="en-US" sz="1000" dirty="0"/>
          </a:p>
          <a:p>
            <a:pPr marL="0" indent="0">
              <a:buNone/>
            </a:pPr>
            <a:r>
              <a:rPr lang="en-US" sz="1000" dirty="0">
                <a:solidFill>
                  <a:schemeClr val="accent1"/>
                </a:solidFill>
              </a:rPr>
              <a:t>leadId  FK</a:t>
            </a:r>
            <a:endParaRPr lang="en-US" sz="1000" dirty="0"/>
          </a:p>
          <a:p>
            <a:pPr marL="0" indent="0">
              <a:buNone/>
            </a:pPr>
            <a:r>
              <a:rPr lang="en-US" sz="1000" dirty="0">
                <a:solidFill>
                  <a:schemeClr val="accent1"/>
                </a:solidFill>
              </a:rPr>
              <a:t>userId  FK</a:t>
            </a:r>
            <a:endParaRPr lang="en-US" sz="1000" dirty="0"/>
          </a:p>
          <a:p>
            <a:pPr marL="0" indent="0">
              <a:buNone/>
            </a:pPr>
            <a:r>
              <a:rPr lang="en-US" sz="1000" dirty="0">
                <a:solidFill>
                  <a:schemeClr val="tx1"/>
                </a:solidFill>
              </a:rPr>
              <a:t>actionType, title</a:t>
            </a:r>
            <a:endParaRPr lang="en-US" sz="1000" dirty="0"/>
          </a:p>
          <a:p>
            <a:pPr marL="0" indent="0">
              <a:buNone/>
            </a:pPr>
            <a:r>
              <a:rPr lang="en-US" sz="1000" dirty="0">
                <a:solidFill>
                  <a:schemeClr val="tx1"/>
                </a:solidFill>
              </a:rPr>
              <a:t>old/newValue</a:t>
            </a:r>
            <a:endParaRPr lang="en-US" sz="1000" dirty="0"/>
          </a:p>
        </p:txBody>
      </p:sp>
      <p:sp>
        <p:nvSpPr>
          <p:cNvPr id="13" name="entity-174"/>
          <p:cNvSpPr/>
          <p:nvPr/>
        </p:nvSpPr>
        <p:spPr>
          <a:xfrm>
            <a:off x="5394960" y="2743200"/>
            <a:ext cx="1691640" cy="1252728"/>
          </a:xfrm>
          <a:prstGeom prst="rect">
            <a:avLst/>
          </a:prstGeom>
          <a:solidFill>
            <a:schemeClr val="bg1"/>
          </a:solidFill>
          <a:ln w="12700">
            <a:solidFill>
              <a:srgbClr val="0B5394"/>
            </a:solidFill>
            <a:prstDash val="solid"/>
          </a:ln>
        </p:spPr>
      </p:sp>
      <p:sp>
        <p:nvSpPr>
          <p:cNvPr id="14" name="text-175"/>
          <p:cNvSpPr txBox="1"/>
          <p:nvPr/>
        </p:nvSpPr>
        <p:spPr>
          <a:xfrm>
            <a:off x="5394960" y="2743200"/>
            <a:ext cx="1691640" cy="292608"/>
          </a:xfrm>
          <a:prstGeom prst="rect">
            <a:avLst/>
          </a:prstGeom>
          <a:solidFill>
            <a:schemeClr val="accent6"/>
          </a:solidFill>
          <a:ln/>
        </p:spPr>
        <p:txBody>
          <a:bodyPr wrap="square" lIns="0" tIns="0" rIns="0" bIns="0" rtlCol="0" anchor="ctr"/>
          <a:lstStyle/>
          <a:p>
            <a:pPr marL="0" indent="0" algn="ctr">
              <a:buNone/>
            </a:pPr>
            <a:r>
              <a:rPr lang="en-US" sz="1200" b="1" dirty="0">
                <a:solidFill>
                  <a:schemeClr val="bg1"/>
                </a:solidFill>
              </a:rPr>
              <a:t>FollowUp</a:t>
            </a:r>
            <a:endParaRPr lang="en-US" sz="1200" dirty="0"/>
          </a:p>
        </p:txBody>
      </p:sp>
      <p:sp>
        <p:nvSpPr>
          <p:cNvPr id="15" name="text-176"/>
          <p:cNvSpPr txBox="1"/>
          <p:nvPr/>
        </p:nvSpPr>
        <p:spPr>
          <a:xfrm>
            <a:off x="5468112" y="3072384"/>
            <a:ext cx="1581912" cy="868680"/>
          </a:xfrm>
          <a:prstGeom prst="rect">
            <a:avLst/>
          </a:prstGeom>
          <a:noFill/>
          <a:ln/>
        </p:spPr>
        <p:txBody>
          <a:bodyPr wrap="square" lIns="0" tIns="0" rIns="0" bIns="0" rtlCol="0" anchor="t"/>
          <a:lstStyle/>
          <a:p>
            <a:pPr marL="0" indent="0">
              <a:buNone/>
            </a:pPr>
            <a:r>
              <a:rPr lang="en-US" sz="1000" b="1" dirty="0">
                <a:solidFill>
                  <a:schemeClr val="tx1"/>
                </a:solidFill>
              </a:rPr>
              <a:t>_id  PK</a:t>
            </a:r>
            <a:endParaRPr lang="en-US" sz="1000" dirty="0"/>
          </a:p>
          <a:p>
            <a:pPr marL="0" indent="0">
              <a:buNone/>
            </a:pPr>
            <a:r>
              <a:rPr lang="en-US" sz="1000" dirty="0">
                <a:solidFill>
                  <a:schemeClr val="accent1"/>
                </a:solidFill>
              </a:rPr>
              <a:t>leadId  FK</a:t>
            </a:r>
            <a:endParaRPr lang="en-US" sz="1000" dirty="0"/>
          </a:p>
          <a:p>
            <a:pPr marL="0" indent="0">
              <a:buNone/>
            </a:pPr>
            <a:r>
              <a:rPr lang="en-US" sz="1000" dirty="0">
                <a:solidFill>
                  <a:schemeClr val="accent1"/>
                </a:solidFill>
              </a:rPr>
              <a:t>assignedTo  FK</a:t>
            </a:r>
            <a:endParaRPr lang="en-US" sz="1000" dirty="0"/>
          </a:p>
          <a:p>
            <a:pPr marL="0" indent="0">
              <a:buNone/>
            </a:pPr>
            <a:r>
              <a:rPr lang="en-US" sz="1000" dirty="0">
                <a:solidFill>
                  <a:schemeClr val="tx1"/>
                </a:solidFill>
              </a:rPr>
              <a:t>scheduledAt, status</a:t>
            </a:r>
            <a:endParaRPr lang="en-US" sz="1000" dirty="0"/>
          </a:p>
          <a:p>
            <a:pPr marL="0" indent="0">
              <a:buNone/>
            </a:pPr>
            <a:r>
              <a:rPr lang="en-US" sz="1000" dirty="0">
                <a:solidFill>
                  <a:schemeClr val="tx1"/>
                </a:solidFill>
              </a:rPr>
              <a:t>reminderSentAt</a:t>
            </a:r>
            <a:endParaRPr lang="en-US" sz="1000" dirty="0"/>
          </a:p>
        </p:txBody>
      </p:sp>
      <p:sp>
        <p:nvSpPr>
          <p:cNvPr id="16" name="entity-177"/>
          <p:cNvSpPr/>
          <p:nvPr/>
        </p:nvSpPr>
        <p:spPr>
          <a:xfrm>
            <a:off x="548640" y="2971800"/>
            <a:ext cx="1828800" cy="1078992"/>
          </a:xfrm>
          <a:prstGeom prst="rect">
            <a:avLst/>
          </a:prstGeom>
          <a:solidFill>
            <a:schemeClr val="bg1"/>
          </a:solidFill>
          <a:ln w="12700">
            <a:solidFill>
              <a:srgbClr val="0B5394"/>
            </a:solidFill>
            <a:prstDash val="solid"/>
          </a:ln>
        </p:spPr>
      </p:sp>
      <p:sp>
        <p:nvSpPr>
          <p:cNvPr id="17" name="text-178"/>
          <p:cNvSpPr txBox="1"/>
          <p:nvPr/>
        </p:nvSpPr>
        <p:spPr>
          <a:xfrm>
            <a:off x="548640" y="2971800"/>
            <a:ext cx="1828800" cy="292608"/>
          </a:xfrm>
          <a:prstGeom prst="rect">
            <a:avLst/>
          </a:prstGeom>
          <a:solidFill>
            <a:schemeClr val="accent6"/>
          </a:solidFill>
          <a:ln/>
        </p:spPr>
        <p:txBody>
          <a:bodyPr wrap="square" lIns="0" tIns="0" rIns="0" bIns="0" rtlCol="0" anchor="ctr"/>
          <a:lstStyle/>
          <a:p>
            <a:pPr marL="0" indent="0" algn="ctr">
              <a:buNone/>
            </a:pPr>
            <a:r>
              <a:rPr lang="en-US" sz="1200" b="1" dirty="0">
                <a:solidFill>
                  <a:schemeClr val="bg1"/>
                </a:solidFill>
              </a:rPr>
              <a:t>Lookup collections</a:t>
            </a:r>
            <a:endParaRPr lang="en-US" sz="1200" dirty="0"/>
          </a:p>
        </p:txBody>
      </p:sp>
      <p:sp>
        <p:nvSpPr>
          <p:cNvPr id="18" name="text-179"/>
          <p:cNvSpPr txBox="1"/>
          <p:nvPr/>
        </p:nvSpPr>
        <p:spPr>
          <a:xfrm>
            <a:off x="621792" y="3300984"/>
            <a:ext cx="1719072" cy="694944"/>
          </a:xfrm>
          <a:prstGeom prst="rect">
            <a:avLst/>
          </a:prstGeom>
          <a:noFill/>
          <a:ln/>
        </p:spPr>
        <p:txBody>
          <a:bodyPr wrap="square" lIns="0" tIns="0" rIns="0" bIns="0" rtlCol="0" anchor="t"/>
          <a:lstStyle/>
          <a:p>
            <a:pPr marL="0" indent="0">
              <a:buNone/>
            </a:pPr>
            <a:r>
              <a:rPr lang="en-US" sz="1000" dirty="0">
                <a:solidFill>
                  <a:schemeClr val="tx1"/>
                </a:solidFill>
              </a:rPr>
              <a:t>LeadSource</a:t>
            </a:r>
            <a:endParaRPr lang="en-US" sz="1000" dirty="0"/>
          </a:p>
          <a:p>
            <a:pPr marL="0" indent="0">
              <a:buNone/>
            </a:pPr>
            <a:r>
              <a:rPr lang="en-US" sz="1000" dirty="0">
                <a:solidFill>
                  <a:schemeClr val="tx1"/>
                </a:solidFill>
              </a:rPr>
              <a:t>LeadCategory</a:t>
            </a:r>
            <a:endParaRPr lang="en-US" sz="1000" dirty="0"/>
          </a:p>
          <a:p>
            <a:pPr marL="0" indent="0">
              <a:buNone/>
            </a:pPr>
            <a:r>
              <a:rPr lang="en-US" sz="1000" dirty="0">
                <a:solidFill>
                  <a:schemeClr val="tx1"/>
                </a:solidFill>
              </a:rPr>
              <a:t>PipelineStage</a:t>
            </a:r>
            <a:endParaRPr lang="en-US" sz="1000" dirty="0"/>
          </a:p>
          <a:p>
            <a:pPr marL="0" indent="0">
              <a:buNone/>
            </a:pPr>
            <a:r>
              <a:rPr lang="en-US" sz="1000" dirty="0">
                <a:solidFill>
                  <a:schemeClr val="tx1"/>
                </a:solidFill>
              </a:rPr>
              <a:t>Product</a:t>
            </a:r>
            <a:endParaRPr lang="en-US" sz="1000" dirty="0"/>
          </a:p>
        </p:txBody>
      </p:sp>
      <p:sp>
        <p:nvSpPr>
          <p:cNvPr id="19" name="entity-180"/>
          <p:cNvSpPr/>
          <p:nvPr/>
        </p:nvSpPr>
        <p:spPr>
          <a:xfrm>
            <a:off x="2880360" y="3794760"/>
            <a:ext cx="2011680" cy="1078992"/>
          </a:xfrm>
          <a:prstGeom prst="rect">
            <a:avLst/>
          </a:prstGeom>
          <a:solidFill>
            <a:schemeClr val="bg1"/>
          </a:solidFill>
          <a:ln w="12700">
            <a:solidFill>
              <a:srgbClr val="0B5394"/>
            </a:solidFill>
            <a:prstDash val="solid"/>
          </a:ln>
        </p:spPr>
      </p:sp>
      <p:sp>
        <p:nvSpPr>
          <p:cNvPr id="20" name="text-181"/>
          <p:cNvSpPr txBox="1"/>
          <p:nvPr/>
        </p:nvSpPr>
        <p:spPr>
          <a:xfrm>
            <a:off x="2880360" y="3794760"/>
            <a:ext cx="2011680" cy="292608"/>
          </a:xfrm>
          <a:prstGeom prst="rect">
            <a:avLst/>
          </a:prstGeom>
          <a:solidFill>
            <a:schemeClr val="accent6"/>
          </a:solidFill>
          <a:ln/>
        </p:spPr>
        <p:txBody>
          <a:bodyPr wrap="square" lIns="0" tIns="0" rIns="0" bIns="0" rtlCol="0" anchor="ctr"/>
          <a:lstStyle/>
          <a:p>
            <a:pPr marL="0" indent="0" algn="ctr">
              <a:buNone/>
            </a:pPr>
            <a:r>
              <a:rPr lang="en-US" sz="1200" b="1" dirty="0">
                <a:solidFill>
                  <a:schemeClr val="bg1"/>
                </a:solidFill>
              </a:rPr>
              <a:t>IngestEvent</a:t>
            </a:r>
            <a:endParaRPr lang="en-US" sz="1200" dirty="0"/>
          </a:p>
        </p:txBody>
      </p:sp>
      <p:sp>
        <p:nvSpPr>
          <p:cNvPr id="21" name="text-182"/>
          <p:cNvSpPr txBox="1"/>
          <p:nvPr/>
        </p:nvSpPr>
        <p:spPr>
          <a:xfrm>
            <a:off x="2953512" y="4123944"/>
            <a:ext cx="1901952" cy="694944"/>
          </a:xfrm>
          <a:prstGeom prst="rect">
            <a:avLst/>
          </a:prstGeom>
          <a:noFill/>
          <a:ln/>
        </p:spPr>
        <p:txBody>
          <a:bodyPr wrap="square" lIns="0" tIns="0" rIns="0" bIns="0" rtlCol="0" anchor="t"/>
          <a:lstStyle/>
          <a:p>
            <a:pPr marL="0" indent="0">
              <a:buNone/>
            </a:pPr>
            <a:r>
              <a:rPr lang="en-US" sz="1000" b="1" dirty="0">
                <a:solidFill>
                  <a:schemeClr val="tx1"/>
                </a:solidFill>
              </a:rPr>
              <a:t>idempotencyKey  UK</a:t>
            </a:r>
            <a:endParaRPr lang="en-US" sz="1000" dirty="0"/>
          </a:p>
          <a:p>
            <a:pPr marL="0" indent="0">
              <a:buNone/>
            </a:pPr>
            <a:r>
              <a:rPr lang="en-US" sz="1000" dirty="0">
                <a:solidFill>
                  <a:schemeClr val="tx1"/>
                </a:solidFill>
              </a:rPr>
              <a:t>sourceCode, status</a:t>
            </a:r>
            <a:endParaRPr lang="en-US" sz="1000" dirty="0"/>
          </a:p>
          <a:p>
            <a:pPr marL="0" indent="0">
              <a:buNone/>
            </a:pPr>
            <a:r>
              <a:rPr lang="en-US" sz="1000" dirty="0">
                <a:solidFill>
                  <a:schemeClr val="tx1"/>
                </a:solidFill>
              </a:rPr>
              <a:t>rawPayload</a:t>
            </a:r>
            <a:endParaRPr lang="en-US" sz="1000" dirty="0"/>
          </a:p>
          <a:p>
            <a:pPr marL="0" indent="0">
              <a:buNone/>
            </a:pPr>
            <a:r>
              <a:rPr lang="en-US" sz="1000" dirty="0">
                <a:solidFill>
                  <a:schemeClr val="accent1"/>
                </a:solidFill>
              </a:rPr>
              <a:t>leadId  FK → Lead</a:t>
            </a:r>
            <a:endParaRPr lang="en-US" sz="1000" dirty="0"/>
          </a:p>
        </p:txBody>
      </p:sp>
      <p:sp>
        <p:nvSpPr>
          <p:cNvPr id="22" name="relation-183"/>
          <p:cNvSpPr/>
          <p:nvPr/>
        </p:nvSpPr>
        <p:spPr>
          <a:xfrm>
            <a:off x="2377440" y="1783080"/>
            <a:ext cx="502920" cy="0"/>
          </a:xfrm>
          <a:prstGeom prst="line">
            <a:avLst/>
          </a:prstGeom>
          <a:noFill/>
          <a:ln w="12700">
            <a:solidFill>
              <a:srgbClr val="14213D"/>
            </a:solidFill>
            <a:prstDash val="solid"/>
          </a:ln>
        </p:spPr>
      </p:sp>
      <p:sp>
        <p:nvSpPr>
          <p:cNvPr id="23" name="text-184"/>
          <p:cNvSpPr txBox="1"/>
          <p:nvPr/>
        </p:nvSpPr>
        <p:spPr>
          <a:xfrm>
            <a:off x="2286000" y="1572768"/>
            <a:ext cx="685800" cy="182880"/>
          </a:xfrm>
          <a:prstGeom prst="rect">
            <a:avLst/>
          </a:prstGeom>
          <a:noFill/>
          <a:ln/>
        </p:spPr>
        <p:txBody>
          <a:bodyPr wrap="square" lIns="0" tIns="0" rIns="0" bIns="0" rtlCol="0" anchor="ctr"/>
          <a:lstStyle/>
          <a:p>
            <a:pPr marL="0" indent="0" algn="ctr">
              <a:buNone/>
            </a:pPr>
            <a:r>
              <a:rPr lang="en-US" sz="1000" dirty="0">
                <a:solidFill>
                  <a:schemeClr val="accent6"/>
                </a:solidFill>
              </a:rPr>
              <a:t>1 : N</a:t>
            </a:r>
            <a:endParaRPr lang="en-US" sz="1000" dirty="0"/>
          </a:p>
        </p:txBody>
      </p:sp>
      <p:sp>
        <p:nvSpPr>
          <p:cNvPr id="24" name="relation-185"/>
          <p:cNvSpPr/>
          <p:nvPr/>
        </p:nvSpPr>
        <p:spPr>
          <a:xfrm>
            <a:off x="4892040" y="1783080"/>
            <a:ext cx="502920" cy="0"/>
          </a:xfrm>
          <a:prstGeom prst="line">
            <a:avLst/>
          </a:prstGeom>
          <a:noFill/>
          <a:ln w="12700">
            <a:solidFill>
              <a:srgbClr val="14213D"/>
            </a:solidFill>
            <a:prstDash val="solid"/>
          </a:ln>
        </p:spPr>
      </p:sp>
      <p:sp>
        <p:nvSpPr>
          <p:cNvPr id="25" name="text-186"/>
          <p:cNvSpPr txBox="1"/>
          <p:nvPr/>
        </p:nvSpPr>
        <p:spPr>
          <a:xfrm>
            <a:off x="4800600" y="1572768"/>
            <a:ext cx="685800" cy="182880"/>
          </a:xfrm>
          <a:prstGeom prst="rect">
            <a:avLst/>
          </a:prstGeom>
          <a:noFill/>
          <a:ln/>
        </p:spPr>
        <p:txBody>
          <a:bodyPr wrap="square" lIns="0" tIns="0" rIns="0" bIns="0" rtlCol="0" anchor="ctr"/>
          <a:lstStyle/>
          <a:p>
            <a:pPr marL="0" indent="0" algn="ctr">
              <a:buNone/>
            </a:pPr>
            <a:r>
              <a:rPr lang="en-US" sz="1000" dirty="0">
                <a:solidFill>
                  <a:schemeClr val="accent6"/>
                </a:solidFill>
              </a:rPr>
              <a:t>1 : N</a:t>
            </a:r>
            <a:endParaRPr lang="en-US" sz="1000" dirty="0"/>
          </a:p>
        </p:txBody>
      </p:sp>
      <p:sp>
        <p:nvSpPr>
          <p:cNvPr id="26" name="relation-187"/>
          <p:cNvSpPr/>
          <p:nvPr/>
        </p:nvSpPr>
        <p:spPr>
          <a:xfrm>
            <a:off x="4892040" y="3154680"/>
            <a:ext cx="502920" cy="0"/>
          </a:xfrm>
          <a:prstGeom prst="line">
            <a:avLst/>
          </a:prstGeom>
          <a:noFill/>
          <a:ln w="12700">
            <a:solidFill>
              <a:srgbClr val="14213D"/>
            </a:solidFill>
            <a:prstDash val="solid"/>
          </a:ln>
        </p:spPr>
      </p:sp>
      <p:sp>
        <p:nvSpPr>
          <p:cNvPr id="27" name="text-188"/>
          <p:cNvSpPr txBox="1"/>
          <p:nvPr/>
        </p:nvSpPr>
        <p:spPr>
          <a:xfrm>
            <a:off x="4800600" y="2944368"/>
            <a:ext cx="685800" cy="182880"/>
          </a:xfrm>
          <a:prstGeom prst="rect">
            <a:avLst/>
          </a:prstGeom>
          <a:noFill/>
          <a:ln/>
        </p:spPr>
        <p:txBody>
          <a:bodyPr wrap="square" lIns="0" tIns="0" rIns="0" bIns="0" rtlCol="0" anchor="ctr"/>
          <a:lstStyle/>
          <a:p>
            <a:pPr marL="0" indent="0" algn="ctr">
              <a:buNone/>
            </a:pPr>
            <a:r>
              <a:rPr lang="en-US" sz="1000" dirty="0">
                <a:solidFill>
                  <a:schemeClr val="accent6"/>
                </a:solidFill>
              </a:rPr>
              <a:t>1 : N</a:t>
            </a:r>
            <a:endParaRPr lang="en-US" sz="1000" dirty="0"/>
          </a:p>
        </p:txBody>
      </p:sp>
      <p:sp>
        <p:nvSpPr>
          <p:cNvPr id="28" name="relation-189"/>
          <p:cNvSpPr/>
          <p:nvPr/>
        </p:nvSpPr>
        <p:spPr>
          <a:xfrm>
            <a:off x="2377440" y="3291840"/>
            <a:ext cx="502920" cy="0"/>
          </a:xfrm>
          <a:prstGeom prst="line">
            <a:avLst/>
          </a:prstGeom>
          <a:noFill/>
          <a:ln w="12700">
            <a:solidFill>
              <a:srgbClr val="14213D"/>
            </a:solidFill>
            <a:prstDash val="solid"/>
          </a:ln>
        </p:spPr>
      </p:sp>
      <p:sp>
        <p:nvSpPr>
          <p:cNvPr id="29" name="text-190"/>
          <p:cNvSpPr txBox="1"/>
          <p:nvPr/>
        </p:nvSpPr>
        <p:spPr>
          <a:xfrm>
            <a:off x="2286000" y="3081528"/>
            <a:ext cx="685800" cy="182880"/>
          </a:xfrm>
          <a:prstGeom prst="rect">
            <a:avLst/>
          </a:prstGeom>
          <a:noFill/>
          <a:ln/>
        </p:spPr>
        <p:txBody>
          <a:bodyPr wrap="square" lIns="0" tIns="0" rIns="0" bIns="0" rtlCol="0" anchor="ctr"/>
          <a:lstStyle/>
          <a:p>
            <a:pPr marL="0" indent="0" algn="ctr">
              <a:buNone/>
            </a:pPr>
            <a:r>
              <a:rPr lang="en-US" sz="1000" dirty="0">
                <a:solidFill>
                  <a:schemeClr val="accent6"/>
                </a:solidFill>
              </a:rPr>
              <a:t>N : 1</a:t>
            </a:r>
            <a:endParaRPr lang="en-US" sz="1000" dirty="0"/>
          </a:p>
        </p:txBody>
      </p:sp>
      <p:sp>
        <p:nvSpPr>
          <p:cNvPr id="30" name="relation-191"/>
          <p:cNvSpPr/>
          <p:nvPr/>
        </p:nvSpPr>
        <p:spPr>
          <a:xfrm>
            <a:off x="3886200" y="3401568"/>
            <a:ext cx="0" cy="393192"/>
          </a:xfrm>
          <a:prstGeom prst="line">
            <a:avLst/>
          </a:prstGeom>
          <a:noFill/>
          <a:ln w="12700">
            <a:solidFill>
              <a:srgbClr val="14213D"/>
            </a:solidFill>
            <a:prstDash val="solid"/>
          </a:ln>
        </p:spPr>
      </p:sp>
      <p:sp>
        <p:nvSpPr>
          <p:cNvPr id="31" name="text-192"/>
          <p:cNvSpPr txBox="1"/>
          <p:nvPr/>
        </p:nvSpPr>
        <p:spPr>
          <a:xfrm>
            <a:off x="3931920" y="3493008"/>
            <a:ext cx="548640" cy="182880"/>
          </a:xfrm>
          <a:prstGeom prst="rect">
            <a:avLst/>
          </a:prstGeom>
          <a:noFill/>
          <a:ln/>
        </p:spPr>
        <p:txBody>
          <a:bodyPr wrap="square" lIns="0" tIns="0" rIns="0" bIns="0" rtlCol="0" anchor="ctr"/>
          <a:lstStyle/>
          <a:p>
            <a:pPr marL="0" indent="0" algn="ctr">
              <a:buNone/>
            </a:pPr>
            <a:r>
              <a:rPr lang="en-US" sz="1000" dirty="0">
                <a:solidFill>
                  <a:schemeClr val="accent6"/>
                </a:solidFill>
              </a:rPr>
              <a:t>1 : 1</a:t>
            </a:r>
            <a:endParaRPr lang="en-US" sz="1000" dirty="0"/>
          </a:p>
        </p:txBody>
      </p:sp>
      <p:sp>
        <p:nvSpPr>
          <p:cNvPr id="32" name="text-193"/>
          <p:cNvSpPr txBox="1"/>
          <p:nvPr/>
        </p:nvSpPr>
        <p:spPr>
          <a:xfrm>
            <a:off x="548640" y="5257800"/>
            <a:ext cx="6537960" cy="502920"/>
          </a:xfrm>
          <a:prstGeom prst="rect">
            <a:avLst/>
          </a:prstGeom>
          <a:noFill/>
          <a:ln/>
        </p:spPr>
        <p:txBody>
          <a:bodyPr wrap="square" lIns="0" tIns="0" rIns="0" bIns="0" rtlCol="0" anchor="ctr"/>
          <a:lstStyle/>
          <a:p>
            <a:pPr marL="0" indent="0">
              <a:buNone/>
            </a:pPr>
            <a:r>
              <a:rPr lang="en-US" sz="1100" i="1" dirty="0">
                <a:solidFill>
                  <a:schemeClr val="accent6"/>
                </a:solidFill>
              </a:rPr>
              <a:t>MongoDB Atlas · Mongoose 8 · 17 collections in total (also Task, Notification, AuditLog, OtpVerification, Setting, CustomField, RolePermission)</a:t>
            </a:r>
            <a:endParaRPr lang="en-US" sz="1100" dirty="0"/>
          </a:p>
        </p:txBody>
      </p:sp>
      <p:graphicFrame>
        <p:nvGraphicFramePr>
          <p:cNvPr id="33" name="api-contracts"/>
          <p:cNvGraphicFramePr>
            <a:graphicFrameLocks noGrp="1"/>
          </p:cNvGraphicFramePr>
          <p:nvPr>
            <p:extLst>
              <p:ext uri="{D42A27DB-BD31-4B8C-83A1-F6EECF244321}">
                <p14:modId xmlns:p14="http://schemas.microsoft.com/office/powerpoint/2010/main" val="1579011935"/>
              </p:ext>
            </p:extLst>
          </p:nvPr>
        </p:nvGraphicFramePr>
        <p:xfrm>
          <a:off x="7315200" y="1280160"/>
          <a:ext cx="4325112" cy="4114800"/>
        </p:xfrm>
        <a:graphic>
          <a:graphicData uri="http://schemas.openxmlformats.org/drawingml/2006/table">
            <a:tbl>
              <a:tblPr/>
              <a:tblGrid>
                <a:gridCol w="56692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1545336">
                  <a:extLst>
                    <a:ext uri="{9D8B030D-6E8A-4147-A177-3AD203B41FA5}">
                      <a16:colId xmlns:a16="http://schemas.microsoft.com/office/drawing/2014/main" val="20002"/>
                    </a:ext>
                  </a:extLst>
                </a:gridCol>
              </a:tblGrid>
              <a:tr h="457200">
                <a:tc>
                  <a:txBody>
                    <a:bodyPr/>
                    <a:lstStyle/>
                    <a:p>
                      <a:pPr marL="0" indent="0">
                        <a:buNone/>
                      </a:pPr>
                      <a:r>
                        <a:rPr lang="en-US" sz="1000" b="1" dirty="0">
                          <a:solidFill>
                            <a:schemeClr val="bg1"/>
                          </a:solidFill>
                        </a:rPr>
                        <a:t>Method</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Endpoint  (/api/v1)</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Who can use it → what it does</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/auth/login</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rPr>
                        <a:t>Anyone → login tokens (15 min, renewed for 7 days)</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/ingest/public</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Anyone, limited per IP → website form lead</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/ingest/webhook/:sourceCode</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rPr>
                        <a:t>Ad platform, signed → same request saved once</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000" b="1" dirty="0">
                          <a:solidFill>
                            <a:schemeClr val="accent4"/>
                          </a:solidFill>
                        </a:rPr>
                        <a:t>GET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/leads</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Logged-in user, by role → list &amp; filter leads</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/leads/:id/interactions</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rPr>
                        <a:t>Logged-in → log a call/reply, re-score lead</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/leads/:id/ai-draft</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Logged-in → Gemini writes a reply draft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57200">
                <a:tc>
                  <a:txBody>
                    <a:bodyPr/>
                    <a:lstStyle/>
                    <a:p>
                      <a:pPr marL="0" indent="0">
                        <a:buNone/>
                      </a:pPr>
                      <a:r>
                        <a:rPr lang="en-US" sz="1000" b="1" dirty="0">
                          <a:solidFill>
                            <a:schemeClr val="accent4"/>
                          </a:solidFill>
                        </a:rPr>
                        <a:t>GET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/dashboard/stats, /reports/*</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000" dirty="0">
                          <a:solidFill>
                            <a:schemeClr val="tx1"/>
                          </a:solidFill>
                        </a:rPr>
                        <a:t>Admin / Manager → numbers &amp; reports</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57200">
                <a:tc>
                  <a:txBody>
                    <a:bodyPr/>
                    <a:lstStyle/>
                    <a:p>
                      <a:pPr marL="0" indent="0">
                        <a:buNone/>
                      </a:pPr>
                      <a:r>
                        <a:rPr lang="en-US" sz="1000" b="1" dirty="0">
                          <a:solidFill>
                            <a:schemeClr val="accent1"/>
                          </a:solidFill>
                        </a:rPr>
                        <a:t>POST</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ML  /predict</a:t>
                      </a:r>
                      <a:endParaRPr lang="en-US" sz="1000" dirty="0">
                        <a:latin typeface="Courier New" charset="0"/>
                        <a:ea typeface="Courier New" charset="0"/>
                        <a:cs typeface="Courier New" charset="0"/>
                      </a:endParaRPr>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Backend only (API key) → score + High/Med/Low</a:t>
                      </a:r>
                      <a:endParaRPr lang="en-US" sz="1000" dirty="0"/>
                    </a:p>
                  </a:txBody>
                  <a:tcPr marL="45720" marR="45720"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3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Phase-1 Code Screenshots</a:t>
            </a:r>
            <a:endParaRPr lang="en-US" sz="3200" dirty="0"/>
          </a:p>
        </p:txBody>
      </p:sp>
      <p:pic>
        <p:nvPicPr>
          <p:cNvPr id="3" name="screenshot-194" descr="C:\Users\Abcom\AppData\Local\Temp\claude\c--Users-Abcom-Desktop-LeadGen\c45bc90b-4cc7-41c7-9492-1eb3c47d4d14\scratchpad\build\img\admin_dashboard.png"/>
          <p:cNvPicPr>
            <a:picLocks noChangeAspect="1"/>
          </p:cNvPicPr>
          <p:nvPr/>
        </p:nvPicPr>
        <p:blipFill>
          <a:blip r:embed="rId3"/>
          <a:stretch>
            <a:fillRect/>
          </a:stretch>
        </p:blipFill>
        <p:spPr>
          <a:xfrm>
            <a:off x="548640" y="1188720"/>
            <a:ext cx="5486400" cy="3086100"/>
          </a:xfrm>
          <a:prstGeom prst="rect">
            <a:avLst/>
          </a:prstGeom>
        </p:spPr>
      </p:pic>
      <p:sp>
        <p:nvSpPr>
          <p:cNvPr id="4" name="shot-frame-195"/>
          <p:cNvSpPr/>
          <p:nvPr/>
        </p:nvSpPr>
        <p:spPr>
          <a:xfrm>
            <a:off x="548640" y="1188720"/>
            <a:ext cx="5486400" cy="3086100"/>
          </a:xfrm>
          <a:prstGeom prst="rect">
            <a:avLst/>
          </a:prstGeom>
          <a:ln w="12700">
            <a:solidFill>
              <a:srgbClr val="C9D4E3"/>
            </a:solidFill>
            <a:prstDash val="solid"/>
          </a:ln>
        </p:spPr>
      </p:sp>
      <p:sp>
        <p:nvSpPr>
          <p:cNvPr id="5" name="text-196"/>
          <p:cNvSpPr txBox="1"/>
          <p:nvPr/>
        </p:nvSpPr>
        <p:spPr>
          <a:xfrm>
            <a:off x="548640" y="4320540"/>
            <a:ext cx="5486400" cy="274320"/>
          </a:xfrm>
          <a:prstGeom prst="rect">
            <a:avLst/>
          </a:prstGeom>
          <a:noFill/>
          <a:ln/>
        </p:spPr>
        <p:txBody>
          <a:bodyPr wrap="square" lIns="0" tIns="0" rIns="0" bIns="0" rtlCol="0" anchor="ctr"/>
          <a:lstStyle/>
          <a:p>
            <a:pPr marL="0" indent="0">
              <a:buNone/>
            </a:pPr>
            <a:r>
              <a:rPr lang="en-US" sz="1200" b="1" dirty="0">
                <a:solidFill>
                  <a:schemeClr val="tx2"/>
                </a:solidFill>
              </a:rPr>
              <a:t>Admin dashboard: lead counts and pipeline chart</a:t>
            </a:r>
            <a:endParaRPr lang="en-US" sz="1200" dirty="0"/>
          </a:p>
        </p:txBody>
      </p:sp>
      <p:pic>
        <p:nvPicPr>
          <p:cNvPr id="6" name="screenshot-197" descr="C:\Users\Abcom\AppData\Local\Temp\claude\c--Users-Abcom-Desktop-LeadGen\c45bc90b-4cc7-41c7-9492-1eb3c47d4d14\scratchpad\build\img\admin_leads.png"/>
          <p:cNvPicPr>
            <a:picLocks noChangeAspect="1"/>
          </p:cNvPicPr>
          <p:nvPr/>
        </p:nvPicPr>
        <p:blipFill>
          <a:blip r:embed="rId4"/>
          <a:stretch>
            <a:fillRect/>
          </a:stretch>
        </p:blipFill>
        <p:spPr>
          <a:xfrm>
            <a:off x="6153912" y="1188720"/>
            <a:ext cx="5486400" cy="3086100"/>
          </a:xfrm>
          <a:prstGeom prst="rect">
            <a:avLst/>
          </a:prstGeom>
        </p:spPr>
      </p:pic>
      <p:sp>
        <p:nvSpPr>
          <p:cNvPr id="7" name="shot-frame-198"/>
          <p:cNvSpPr/>
          <p:nvPr/>
        </p:nvSpPr>
        <p:spPr>
          <a:xfrm>
            <a:off x="6153912" y="1188720"/>
            <a:ext cx="5486400" cy="3086100"/>
          </a:xfrm>
          <a:prstGeom prst="rect">
            <a:avLst/>
          </a:prstGeom>
          <a:ln w="12700">
            <a:solidFill>
              <a:srgbClr val="C9D4E3"/>
            </a:solidFill>
            <a:prstDash val="solid"/>
          </a:ln>
        </p:spPr>
      </p:sp>
      <p:sp>
        <p:nvSpPr>
          <p:cNvPr id="8" name="text-199"/>
          <p:cNvSpPr txBox="1"/>
          <p:nvPr/>
        </p:nvSpPr>
        <p:spPr>
          <a:xfrm>
            <a:off x="6153912" y="4320540"/>
            <a:ext cx="5486400" cy="274320"/>
          </a:xfrm>
          <a:prstGeom prst="rect">
            <a:avLst/>
          </a:prstGeom>
          <a:noFill/>
          <a:ln/>
        </p:spPr>
        <p:txBody>
          <a:bodyPr wrap="square" lIns="0" tIns="0" rIns="0" bIns="0" rtlCol="0" anchor="ctr"/>
          <a:lstStyle/>
          <a:p>
            <a:pPr marL="0" indent="0">
              <a:buNone/>
            </a:pPr>
            <a:r>
              <a:rPr lang="en-US" sz="1200" b="1" dirty="0">
                <a:solidFill>
                  <a:schemeClr val="tx2"/>
                </a:solidFill>
              </a:rPr>
              <a:t>Leads table: source, status, AI score, assigned salesperson</a:t>
            </a:r>
            <a:endParaRPr lang="en-US" sz="1200" dirty="0"/>
          </a:p>
        </p:txBody>
      </p:sp>
      <p:pic>
        <p:nvPicPr>
          <p:cNvPr id="9" name="screenshot-200" descr="C:\Users\Abcom\AppData\Local\Temp\claude\c--Users-Abcom-Desktop-LeadGen\c45bc90b-4cc7-41c7-9492-1eb3c47d4d14\scratchpad\build\img\sales_leads.png"/>
          <p:cNvPicPr>
            <a:picLocks noChangeAspect="1"/>
          </p:cNvPicPr>
          <p:nvPr/>
        </p:nvPicPr>
        <p:blipFill>
          <a:blip r:embed="rId5"/>
          <a:stretch>
            <a:fillRect/>
          </a:stretch>
        </p:blipFill>
        <p:spPr>
          <a:xfrm>
            <a:off x="548640" y="4663440"/>
            <a:ext cx="2926080" cy="1463040"/>
          </a:xfrm>
          <a:prstGeom prst="rect">
            <a:avLst/>
          </a:prstGeom>
        </p:spPr>
      </p:pic>
      <p:sp>
        <p:nvSpPr>
          <p:cNvPr id="10" name="shot-frame-201"/>
          <p:cNvSpPr/>
          <p:nvPr/>
        </p:nvSpPr>
        <p:spPr>
          <a:xfrm>
            <a:off x="548640" y="4663440"/>
            <a:ext cx="2926080" cy="1463040"/>
          </a:xfrm>
          <a:prstGeom prst="rect">
            <a:avLst/>
          </a:prstGeom>
          <a:ln w="12700">
            <a:solidFill>
              <a:srgbClr val="C9D4E3"/>
            </a:solidFill>
            <a:prstDash val="solid"/>
          </a:ln>
        </p:spPr>
      </p:sp>
      <p:sp>
        <p:nvSpPr>
          <p:cNvPr id="11" name="text-202"/>
          <p:cNvSpPr txBox="1"/>
          <p:nvPr/>
        </p:nvSpPr>
        <p:spPr>
          <a:xfrm>
            <a:off x="548640" y="6172200"/>
            <a:ext cx="2926080" cy="274320"/>
          </a:xfrm>
          <a:prstGeom prst="rect">
            <a:avLst/>
          </a:prstGeom>
          <a:noFill/>
          <a:ln/>
        </p:spPr>
        <p:txBody>
          <a:bodyPr wrap="square" lIns="0" tIns="0" rIns="0" bIns="0" rtlCol="0" anchor="ctr"/>
          <a:lstStyle/>
          <a:p>
            <a:pPr marL="0" indent="0">
              <a:buNone/>
            </a:pPr>
            <a:r>
              <a:rPr lang="en-US" sz="1200" b="1" dirty="0">
                <a:solidFill>
                  <a:schemeClr val="tx2"/>
                </a:solidFill>
              </a:rPr>
              <a:t>Sales panel: My Leads</a:t>
            </a:r>
            <a:endParaRPr lang="en-US" sz="1200" dirty="0"/>
          </a:p>
        </p:txBody>
      </p:sp>
      <p:sp>
        <p:nvSpPr>
          <p:cNvPr id="12" name="text-203"/>
          <p:cNvSpPr txBox="1"/>
          <p:nvPr/>
        </p:nvSpPr>
        <p:spPr>
          <a:xfrm>
            <a:off x="3703320" y="4663440"/>
            <a:ext cx="7936992" cy="1463040"/>
          </a:xfrm>
          <a:prstGeom prst="roundRect">
            <a:avLst>
              <a:gd name="adj" fmla="val 3750"/>
            </a:avLst>
          </a:prstGeom>
          <a:solidFill>
            <a:srgbClr val="14213D"/>
          </a:solidFill>
          <a:ln/>
        </p:spPr>
        <p:txBody>
          <a:bodyPr wrap="square" lIns="152400" tIns="0" rIns="152400" bIns="0" rtlCol="0" anchor="ctr"/>
          <a:lstStyle/>
          <a:p>
            <a:pPr marL="0" indent="0">
              <a:buNone/>
            </a:pPr>
            <a:r>
              <a:rPr lang="en-US" sz="1100" dirty="0">
                <a:solidFill>
                  <a:srgbClr val="7FA7D9"/>
                </a:solidFill>
                <a:latin typeface="Courier New" pitchFamily="34" charset="0"/>
                <a:ea typeface="Courier New" pitchFamily="34" charset="-122"/>
                <a:cs typeface="Courier New" pitchFamily="34" charset="-120"/>
              </a:rPr>
              <a:t>// leadAssignment.service.js: give the lead to the least busy salesperson</a:t>
            </a:r>
            <a:endParaRPr lang="en-US" sz="1100" dirty="0"/>
          </a:p>
          <a:p>
            <a:pPr marL="0" indent="0">
              <a:buNone/>
            </a:pPr>
            <a:r>
              <a:rPr lang="en-US" sz="1100" dirty="0">
                <a:solidFill>
                  <a:srgbClr val="E6EDF7"/>
                </a:solidFill>
                <a:latin typeface="Courier New" pitchFamily="34" charset="0"/>
                <a:ea typeface="Courier New" pitchFamily="34" charset="-122"/>
                <a:cs typeface="Courier New" pitchFamily="34" charset="-120"/>
              </a:rPr>
              <a:t>let eligible = reps</a:t>
            </a:r>
            <a:endParaRPr lang="en-US" sz="1100" dirty="0"/>
          </a:p>
          <a:p>
            <a:pPr marL="0" indent="0">
              <a:buNone/>
            </a:pPr>
            <a:r>
              <a:rPr lang="en-US" sz="1100" dirty="0">
                <a:solidFill>
                  <a:srgbClr val="E6EDF7"/>
                </a:solidFill>
                <a:latin typeface="Courier New" pitchFamily="34" charset="0"/>
                <a:ea typeface="Courier New" pitchFamily="34" charset="-122"/>
                <a:cs typeface="Courier New" pitchFamily="34" charset="-120"/>
              </a:rPr>
              <a:t>  .map((rep) =&gt; ({ rep, workload: workloadMap.get(rep._id.toString()) || 0 }))</a:t>
            </a:r>
            <a:endParaRPr lang="en-US" sz="1100" dirty="0"/>
          </a:p>
          <a:p>
            <a:pPr marL="0" indent="0">
              <a:buNone/>
            </a:pPr>
            <a:r>
              <a:rPr lang="en-US" sz="1100" dirty="0">
                <a:solidFill>
                  <a:srgbClr val="E6EDF7"/>
                </a:solidFill>
                <a:latin typeface="Courier New" pitchFamily="34" charset="0"/>
                <a:ea typeface="Courier New" pitchFamily="34" charset="-122"/>
                <a:cs typeface="Courier New" pitchFamily="34" charset="-120"/>
              </a:rPr>
              <a:t>  .filter(({ rep, workload }) =&gt; workload &lt; (rep.maxActiveLeads || 20));</a:t>
            </a:r>
            <a:endParaRPr lang="en-US" sz="1100" dirty="0"/>
          </a:p>
          <a:p>
            <a:pPr marL="0" indent="0">
              <a:buNone/>
            </a:pPr>
            <a:r>
              <a:rPr lang="en-US" sz="1100" dirty="0">
                <a:solidFill>
                  <a:srgbClr val="7FA7D9"/>
                </a:solidFill>
                <a:latin typeface="Courier New" pitchFamily="34" charset="0"/>
                <a:ea typeface="Courier New" pitchFamily="34" charset="-122"/>
                <a:cs typeface="Courier New" pitchFamily="34" charset="-120"/>
              </a:rPr>
              <a:t>// prefer salespeople who specialise in this lead's category</a:t>
            </a:r>
            <a:endParaRPr lang="en-US" sz="1100" dirty="0"/>
          </a:p>
          <a:p>
            <a:pPr marL="0" indent="0">
              <a:buNone/>
            </a:pPr>
            <a:r>
              <a:rPr lang="en-US" sz="1100" dirty="0">
                <a:solidFill>
                  <a:srgbClr val="E6EDF7"/>
                </a:solidFill>
                <a:latin typeface="Courier New" pitchFamily="34" charset="0"/>
                <a:ea typeface="Courier New" pitchFamily="34" charset="-122"/>
                <a:cs typeface="Courier New" pitchFamily="34" charset="-120"/>
              </a:rPr>
              <a:t>eligible.sort((a, b) =&gt; a.workload - b.workload);</a:t>
            </a:r>
            <a:endParaRPr lang="en-US" sz="1100" dirty="0"/>
          </a:p>
          <a:p>
            <a:pPr marL="0" indent="0">
              <a:buNone/>
            </a:pPr>
            <a:r>
              <a:rPr lang="en-US" sz="1100" dirty="0">
                <a:solidFill>
                  <a:srgbClr val="E6EDF7"/>
                </a:solidFill>
                <a:latin typeface="Courier New" pitchFamily="34" charset="0"/>
                <a:ea typeface="Courier New" pitchFamily="34" charset="-122"/>
                <a:cs typeface="Courier New" pitchFamily="34" charset="-120"/>
              </a:rPr>
              <a:t>await leadService.assignLead(leadId, eligible[0].rep._id, systemUser);</a:t>
            </a:r>
            <a:endParaRPr lang="en-US" sz="1100" dirty="0"/>
          </a:p>
        </p:txBody>
      </p:sp>
      <p:sp>
        <p:nvSpPr>
          <p:cNvPr id="13" name="text-204"/>
          <p:cNvSpPr txBox="1"/>
          <p:nvPr/>
        </p:nvSpPr>
        <p:spPr>
          <a:xfrm>
            <a:off x="3703320" y="6172200"/>
            <a:ext cx="7936992" cy="274320"/>
          </a:xfrm>
          <a:prstGeom prst="rect">
            <a:avLst/>
          </a:prstGeom>
          <a:noFill/>
          <a:ln/>
        </p:spPr>
        <p:txBody>
          <a:bodyPr wrap="square" lIns="0" tIns="0" rIns="0" bIns="0" rtlCol="0" anchor="ctr"/>
          <a:lstStyle/>
          <a:p>
            <a:pPr marL="0" indent="0">
              <a:buNone/>
            </a:pPr>
            <a:r>
              <a:rPr lang="en-US" sz="1200" b="1" dirty="0">
                <a:solidFill>
                  <a:schemeClr val="tx2"/>
                </a:solidFill>
              </a:rPr>
              <a:t>Code: automatic lead assignment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Team Work Division &amp; Timeline</a:t>
            </a:r>
            <a:endParaRPr lang="en-US" sz="3200" dirty="0"/>
          </a:p>
        </p:txBody>
      </p:sp>
      <p:sp>
        <p:nvSpPr>
          <p:cNvPr id="3" name="card-205"/>
          <p:cNvSpPr/>
          <p:nvPr/>
        </p:nvSpPr>
        <p:spPr>
          <a:xfrm>
            <a:off x="548640" y="1280160"/>
            <a:ext cx="4206240" cy="2331720"/>
          </a:xfrm>
          <a:prstGeom prst="roundRect">
            <a:avLst>
              <a:gd name="adj" fmla="val 3922"/>
            </a:avLst>
          </a:prstGeom>
          <a:solidFill>
            <a:schemeClr val="bg2"/>
          </a:solidFill>
          <a:ln/>
        </p:spPr>
      </p:sp>
      <p:sp>
        <p:nvSpPr>
          <p:cNvPr id="4" name="text-206"/>
          <p:cNvSpPr txBox="1"/>
          <p:nvPr/>
        </p:nvSpPr>
        <p:spPr>
          <a:xfrm>
            <a:off x="777240" y="1508760"/>
            <a:ext cx="731520" cy="7315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TM</a:t>
            </a:r>
            <a:endParaRPr lang="en-US" sz="1800" dirty="0"/>
          </a:p>
        </p:txBody>
      </p:sp>
      <p:sp>
        <p:nvSpPr>
          <p:cNvPr id="5" name="text-207"/>
          <p:cNvSpPr txBox="1"/>
          <p:nvPr/>
        </p:nvSpPr>
        <p:spPr>
          <a:xfrm>
            <a:off x="1691640" y="1508760"/>
            <a:ext cx="2926080" cy="731520"/>
          </a:xfrm>
          <a:prstGeom prst="rect">
            <a:avLst/>
          </a:prstGeom>
          <a:noFill/>
          <a:ln/>
        </p:spPr>
        <p:txBody>
          <a:bodyPr wrap="square" lIns="0" tIns="0" rIns="0" bIns="0" rtlCol="0" anchor="ctr"/>
          <a:lstStyle/>
          <a:p>
            <a:pPr marL="0" indent="0">
              <a:buNone/>
            </a:pPr>
            <a:r>
              <a:rPr lang="en-US" sz="1800" b="1" dirty="0">
                <a:solidFill>
                  <a:schemeClr val="tx1"/>
                </a:solidFill>
              </a:rPr>
              <a:t>Trisha Mishra</a:t>
            </a:r>
            <a:endParaRPr lang="en-US" sz="1800" dirty="0"/>
          </a:p>
          <a:p>
            <a:pPr marL="0" indent="0">
              <a:buNone/>
            </a:pPr>
            <a:r>
              <a:rPr lang="en-US" sz="1200" dirty="0">
                <a:solidFill>
                  <a:schemeClr val="accent6"/>
                </a:solidFill>
              </a:rPr>
              <a:t>0808CI231214</a:t>
            </a:r>
            <a:endParaRPr lang="en-US" sz="1800" dirty="0"/>
          </a:p>
        </p:txBody>
      </p:sp>
      <p:sp>
        <p:nvSpPr>
          <p:cNvPr id="6" name="text-208"/>
          <p:cNvSpPr txBox="1"/>
          <p:nvPr/>
        </p:nvSpPr>
        <p:spPr>
          <a:xfrm>
            <a:off x="777240" y="2423160"/>
            <a:ext cx="3794760" cy="1005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Frontend: React web app, admin and sales panels</a:t>
            </a:r>
            <a:endParaRPr lang="en-US" sz="1500" dirty="0"/>
          </a:p>
          <a:p>
            <a:pPr marL="342900" indent="-342900">
              <a:spcAft>
                <a:spcPts val="600"/>
              </a:spcAft>
              <a:buSzPct val="100000"/>
              <a:buChar char="•"/>
            </a:pPr>
            <a:r>
              <a:rPr lang="en-US" sz="1500" dirty="0">
                <a:solidFill>
                  <a:schemeClr val="tx1"/>
                </a:solidFill>
              </a:rPr>
              <a:t>ML model training (together)</a:t>
            </a:r>
            <a:endParaRPr lang="en-US" sz="1500" dirty="0"/>
          </a:p>
        </p:txBody>
      </p:sp>
      <p:sp>
        <p:nvSpPr>
          <p:cNvPr id="7" name="card-209"/>
          <p:cNvSpPr/>
          <p:nvPr/>
        </p:nvSpPr>
        <p:spPr>
          <a:xfrm>
            <a:off x="548640" y="3767328"/>
            <a:ext cx="4206240" cy="2331720"/>
          </a:xfrm>
          <a:prstGeom prst="roundRect">
            <a:avLst>
              <a:gd name="adj" fmla="val 3922"/>
            </a:avLst>
          </a:prstGeom>
          <a:solidFill>
            <a:schemeClr val="bg2"/>
          </a:solidFill>
          <a:ln/>
        </p:spPr>
      </p:sp>
      <p:sp>
        <p:nvSpPr>
          <p:cNvPr id="8" name="text-210"/>
          <p:cNvSpPr txBox="1"/>
          <p:nvPr/>
        </p:nvSpPr>
        <p:spPr>
          <a:xfrm>
            <a:off x="777240" y="3995928"/>
            <a:ext cx="731520" cy="73152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RR</a:t>
            </a:r>
            <a:endParaRPr lang="en-US" sz="1800" dirty="0"/>
          </a:p>
        </p:txBody>
      </p:sp>
      <p:sp>
        <p:nvSpPr>
          <p:cNvPr id="9" name="text-211"/>
          <p:cNvSpPr txBox="1"/>
          <p:nvPr/>
        </p:nvSpPr>
        <p:spPr>
          <a:xfrm>
            <a:off x="1691640" y="3995928"/>
            <a:ext cx="2926080" cy="731520"/>
          </a:xfrm>
          <a:prstGeom prst="rect">
            <a:avLst/>
          </a:prstGeom>
          <a:noFill/>
          <a:ln/>
        </p:spPr>
        <p:txBody>
          <a:bodyPr wrap="square" lIns="0" tIns="0" rIns="0" bIns="0" rtlCol="0" anchor="ctr"/>
          <a:lstStyle/>
          <a:p>
            <a:pPr marL="0" indent="0">
              <a:buNone/>
            </a:pPr>
            <a:r>
              <a:rPr lang="en-US" sz="1800" b="1" dirty="0">
                <a:solidFill>
                  <a:schemeClr val="tx1"/>
                </a:solidFill>
              </a:rPr>
              <a:t>Ratnesh Ranve</a:t>
            </a:r>
            <a:endParaRPr lang="en-US" sz="1800" dirty="0"/>
          </a:p>
          <a:p>
            <a:pPr marL="0" indent="0">
              <a:buNone/>
            </a:pPr>
            <a:r>
              <a:rPr lang="en-US" sz="1200" dirty="0">
                <a:solidFill>
                  <a:schemeClr val="accent6"/>
                </a:solidFill>
              </a:rPr>
              <a:t>0808CI231162</a:t>
            </a:r>
            <a:endParaRPr lang="en-US" sz="1800" dirty="0"/>
          </a:p>
        </p:txBody>
      </p:sp>
      <p:sp>
        <p:nvSpPr>
          <p:cNvPr id="10" name="text-212"/>
          <p:cNvSpPr txBox="1"/>
          <p:nvPr/>
        </p:nvSpPr>
        <p:spPr>
          <a:xfrm>
            <a:off x="777240" y="4910328"/>
            <a:ext cx="3794760" cy="1005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Backend: Node.js APIs, database, lead flow</a:t>
            </a:r>
            <a:endParaRPr lang="en-US" sz="1500" dirty="0"/>
          </a:p>
          <a:p>
            <a:pPr marL="342900" indent="-342900">
              <a:spcAft>
                <a:spcPts val="600"/>
              </a:spcAft>
              <a:buSzPct val="100000"/>
              <a:buChar char="•"/>
            </a:pPr>
            <a:r>
              <a:rPr lang="en-US" sz="1500" dirty="0">
                <a:solidFill>
                  <a:schemeClr val="tx1"/>
                </a:solidFill>
              </a:rPr>
              <a:t>ML model training (together)</a:t>
            </a:r>
            <a:endParaRPr lang="en-US" sz="1500" dirty="0"/>
          </a:p>
        </p:txBody>
      </p:sp>
      <p:sp>
        <p:nvSpPr>
          <p:cNvPr id="11" name="text-213"/>
          <p:cNvSpPr txBox="1"/>
          <p:nvPr/>
        </p:nvSpPr>
        <p:spPr>
          <a:xfrm>
            <a:off x="5120640" y="1280160"/>
            <a:ext cx="640080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Project timeline</a:t>
            </a:r>
            <a:endParaRPr lang="en-US" sz="2000" dirty="0"/>
          </a:p>
        </p:txBody>
      </p:sp>
      <p:sp>
        <p:nvSpPr>
          <p:cNvPr id="12" name="timeline-axis"/>
          <p:cNvSpPr/>
          <p:nvPr/>
        </p:nvSpPr>
        <p:spPr>
          <a:xfrm>
            <a:off x="5669280" y="2331720"/>
            <a:ext cx="5577840" cy="0"/>
          </a:xfrm>
          <a:prstGeom prst="line">
            <a:avLst/>
          </a:prstGeom>
          <a:noFill/>
          <a:ln w="38100">
            <a:solidFill>
              <a:srgbClr val="1E88E5"/>
            </a:solidFill>
            <a:prstDash val="solid"/>
          </a:ln>
        </p:spPr>
      </p:sp>
      <p:sp>
        <p:nvSpPr>
          <p:cNvPr id="13" name="text-214"/>
          <p:cNvSpPr txBox="1"/>
          <p:nvPr/>
        </p:nvSpPr>
        <p:spPr>
          <a:xfrm>
            <a:off x="5440680" y="1965960"/>
            <a:ext cx="731520" cy="7315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01</a:t>
            </a:r>
            <a:endParaRPr lang="en-US" sz="1600" dirty="0"/>
          </a:p>
        </p:txBody>
      </p:sp>
      <p:sp>
        <p:nvSpPr>
          <p:cNvPr id="14" name="text-215"/>
          <p:cNvSpPr txBox="1"/>
          <p:nvPr/>
        </p:nvSpPr>
        <p:spPr>
          <a:xfrm>
            <a:off x="5120640" y="2880360"/>
            <a:ext cx="1508760" cy="13716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Requirement &amp; Planning</a:t>
            </a:r>
            <a:endParaRPr lang="en-US" sz="1400" dirty="0"/>
          </a:p>
          <a:p>
            <a:pPr marL="0" indent="0">
              <a:spcAft>
                <a:spcPts val="400"/>
              </a:spcAft>
              <a:buNone/>
            </a:pPr>
            <a:r>
              <a:rPr lang="en-US" sz="1200" dirty="0">
                <a:solidFill>
                  <a:schemeClr val="accent6"/>
                </a:solidFill>
              </a:rPr>
              <a:t>Workflow, features, tech stack</a:t>
            </a:r>
            <a:endParaRPr lang="en-US" sz="1400" dirty="0"/>
          </a:p>
        </p:txBody>
      </p:sp>
      <p:sp>
        <p:nvSpPr>
          <p:cNvPr id="15" name="text-216"/>
          <p:cNvSpPr txBox="1"/>
          <p:nvPr/>
        </p:nvSpPr>
        <p:spPr>
          <a:xfrm>
            <a:off x="5120640" y="4343400"/>
            <a:ext cx="1508760" cy="548640"/>
          </a:xfrm>
          <a:prstGeom prst="roundRect">
            <a:avLst>
              <a:gd name="adj" fmla="val 16667"/>
            </a:avLst>
          </a:prstGeom>
          <a:solidFill>
            <a:schemeClr val="bg2"/>
          </a:solidFill>
          <a:ln/>
        </p:spPr>
        <p:txBody>
          <a:bodyPr wrap="square" lIns="0" tIns="0" rIns="0" bIns="0" rtlCol="0" anchor="ctr"/>
          <a:lstStyle/>
          <a:p>
            <a:pPr marL="0" indent="0" algn="ctr">
              <a:buNone/>
            </a:pPr>
            <a:r>
              <a:rPr lang="en-US" sz="1200" b="1" dirty="0">
                <a:solidFill>
                  <a:schemeClr val="tx2"/>
                </a:solidFill>
              </a:rPr>
              <a:t>August 2026</a:t>
            </a:r>
            <a:endParaRPr lang="en-US" sz="1200" dirty="0"/>
          </a:p>
        </p:txBody>
      </p:sp>
      <p:sp>
        <p:nvSpPr>
          <p:cNvPr id="16" name="text-217"/>
          <p:cNvSpPr txBox="1"/>
          <p:nvPr/>
        </p:nvSpPr>
        <p:spPr>
          <a:xfrm>
            <a:off x="7086600" y="1965960"/>
            <a:ext cx="731520" cy="7315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02</a:t>
            </a:r>
            <a:endParaRPr lang="en-US" sz="1600" dirty="0"/>
          </a:p>
        </p:txBody>
      </p:sp>
      <p:sp>
        <p:nvSpPr>
          <p:cNvPr id="17" name="text-218"/>
          <p:cNvSpPr txBox="1"/>
          <p:nvPr/>
        </p:nvSpPr>
        <p:spPr>
          <a:xfrm>
            <a:off x="6766560" y="2880360"/>
            <a:ext cx="1508760" cy="13716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Phase-1 Development</a:t>
            </a:r>
            <a:endParaRPr lang="en-US" sz="1400" dirty="0"/>
          </a:p>
          <a:p>
            <a:pPr marL="0" indent="0">
              <a:spcAft>
                <a:spcPts val="400"/>
              </a:spcAft>
              <a:buNone/>
            </a:pPr>
            <a:r>
              <a:rPr lang="en-US" sz="1200" dirty="0">
                <a:solidFill>
                  <a:schemeClr val="accent6"/>
                </a:solidFill>
              </a:rPr>
              <a:t>React UI, Node APIs, MongoDB, ~50% code</a:t>
            </a:r>
            <a:endParaRPr lang="en-US" sz="1400" dirty="0"/>
          </a:p>
        </p:txBody>
      </p:sp>
      <p:sp>
        <p:nvSpPr>
          <p:cNvPr id="18" name="text-219"/>
          <p:cNvSpPr txBox="1"/>
          <p:nvPr/>
        </p:nvSpPr>
        <p:spPr>
          <a:xfrm>
            <a:off x="6766560" y="4343400"/>
            <a:ext cx="1508760" cy="548640"/>
          </a:xfrm>
          <a:prstGeom prst="roundRect">
            <a:avLst>
              <a:gd name="adj" fmla="val 16667"/>
            </a:avLst>
          </a:prstGeom>
          <a:solidFill>
            <a:schemeClr val="bg2"/>
          </a:solidFill>
          <a:ln/>
        </p:spPr>
        <p:txBody>
          <a:bodyPr wrap="square" lIns="0" tIns="0" rIns="0" bIns="0" rtlCol="0" anchor="ctr"/>
          <a:lstStyle/>
          <a:p>
            <a:pPr marL="0" indent="0" algn="ctr">
              <a:buNone/>
            </a:pPr>
            <a:r>
              <a:rPr lang="en-US" sz="1200" b="1" dirty="0">
                <a:solidFill>
                  <a:schemeClr val="tx2"/>
                </a:solidFill>
              </a:rPr>
              <a:t>September 2026</a:t>
            </a:r>
            <a:endParaRPr lang="en-US" sz="1200" dirty="0"/>
          </a:p>
        </p:txBody>
      </p:sp>
      <p:sp>
        <p:nvSpPr>
          <p:cNvPr id="19" name="text-220"/>
          <p:cNvSpPr txBox="1"/>
          <p:nvPr/>
        </p:nvSpPr>
        <p:spPr>
          <a:xfrm>
            <a:off x="8732520" y="1965960"/>
            <a:ext cx="731520" cy="731520"/>
          </a:xfrm>
          <a:prstGeom prst="ellipse">
            <a:avLst/>
          </a:prstGeom>
          <a:solidFill>
            <a:schemeClr val="accent3"/>
          </a:solidFill>
          <a:ln/>
        </p:spPr>
        <p:txBody>
          <a:bodyPr wrap="square" lIns="0" tIns="0" rIns="0" bIns="0" rtlCol="0" anchor="ctr"/>
          <a:lstStyle/>
          <a:p>
            <a:pPr marL="0" indent="0" algn="ctr">
              <a:buNone/>
            </a:pPr>
            <a:r>
              <a:rPr lang="en-US" sz="1600" b="1" dirty="0">
                <a:solidFill>
                  <a:schemeClr val="tx1"/>
                </a:solidFill>
              </a:rPr>
              <a:t>03</a:t>
            </a:r>
            <a:endParaRPr lang="en-US" sz="1600" dirty="0"/>
          </a:p>
        </p:txBody>
      </p:sp>
      <p:sp>
        <p:nvSpPr>
          <p:cNvPr id="20" name="text-221"/>
          <p:cNvSpPr txBox="1"/>
          <p:nvPr/>
        </p:nvSpPr>
        <p:spPr>
          <a:xfrm>
            <a:off x="8412480" y="2880360"/>
            <a:ext cx="1508760" cy="13716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Phase-2 Final Sprint</a:t>
            </a:r>
            <a:endParaRPr lang="en-US" sz="1400" dirty="0"/>
          </a:p>
          <a:p>
            <a:pPr marL="0" indent="0">
              <a:spcAft>
                <a:spcPts val="400"/>
              </a:spcAft>
              <a:buNone/>
            </a:pPr>
            <a:r>
              <a:rPr lang="en-US" sz="1200" dirty="0">
                <a:solidFill>
                  <a:schemeClr val="accent6"/>
                </a:solidFill>
              </a:rPr>
              <a:t>ML scoring, auto assignment, AI replies, testing</a:t>
            </a:r>
            <a:endParaRPr lang="en-US" sz="1400" dirty="0"/>
          </a:p>
        </p:txBody>
      </p:sp>
      <p:sp>
        <p:nvSpPr>
          <p:cNvPr id="21" name="text-222"/>
          <p:cNvSpPr txBox="1"/>
          <p:nvPr/>
        </p:nvSpPr>
        <p:spPr>
          <a:xfrm>
            <a:off x="8412480" y="4343400"/>
            <a:ext cx="1508760" cy="548640"/>
          </a:xfrm>
          <a:prstGeom prst="roundRect">
            <a:avLst>
              <a:gd name="adj" fmla="val 16667"/>
            </a:avLst>
          </a:prstGeom>
          <a:solidFill>
            <a:schemeClr val="bg2"/>
          </a:solidFill>
          <a:ln/>
        </p:spPr>
        <p:txBody>
          <a:bodyPr wrap="square" lIns="0" tIns="0" rIns="0" bIns="0" rtlCol="0" anchor="ctr"/>
          <a:lstStyle/>
          <a:p>
            <a:pPr marL="0" indent="0" algn="ctr">
              <a:buNone/>
            </a:pPr>
            <a:r>
              <a:rPr lang="en-US" sz="1200" b="1" dirty="0">
                <a:solidFill>
                  <a:schemeClr val="tx2"/>
                </a:solidFill>
              </a:rPr>
              <a:t>September 2026</a:t>
            </a:r>
            <a:endParaRPr lang="en-US" sz="1200" dirty="0"/>
          </a:p>
        </p:txBody>
      </p:sp>
      <p:sp>
        <p:nvSpPr>
          <p:cNvPr id="22" name="text-223"/>
          <p:cNvSpPr txBox="1"/>
          <p:nvPr/>
        </p:nvSpPr>
        <p:spPr>
          <a:xfrm>
            <a:off x="10378440" y="1965960"/>
            <a:ext cx="731520" cy="73152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04</a:t>
            </a:r>
            <a:endParaRPr lang="en-US" sz="1600" dirty="0"/>
          </a:p>
        </p:txBody>
      </p:sp>
      <p:sp>
        <p:nvSpPr>
          <p:cNvPr id="23" name="text-224"/>
          <p:cNvSpPr txBox="1"/>
          <p:nvPr/>
        </p:nvSpPr>
        <p:spPr>
          <a:xfrm>
            <a:off x="10058400" y="2880360"/>
            <a:ext cx="1508760" cy="13716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Deployment &amp; Defense</a:t>
            </a:r>
            <a:endParaRPr lang="en-US" sz="1400" dirty="0"/>
          </a:p>
          <a:p>
            <a:pPr marL="0" indent="0">
              <a:spcAft>
                <a:spcPts val="400"/>
              </a:spcAft>
              <a:buNone/>
            </a:pPr>
            <a:r>
              <a:rPr lang="en-US" sz="1200" dirty="0">
                <a:solidFill>
                  <a:schemeClr val="accent6"/>
                </a:solidFill>
              </a:rPr>
              <a:t>Vercel + Render + Atlas, final viva</a:t>
            </a:r>
            <a:endParaRPr lang="en-US" sz="1400" dirty="0"/>
          </a:p>
        </p:txBody>
      </p:sp>
      <p:sp>
        <p:nvSpPr>
          <p:cNvPr id="24" name="text-225"/>
          <p:cNvSpPr txBox="1"/>
          <p:nvPr/>
        </p:nvSpPr>
        <p:spPr>
          <a:xfrm>
            <a:off x="10058400" y="4343400"/>
            <a:ext cx="1508760" cy="548640"/>
          </a:xfrm>
          <a:prstGeom prst="roundRect">
            <a:avLst>
              <a:gd name="adj" fmla="val 16667"/>
            </a:avLst>
          </a:prstGeom>
          <a:solidFill>
            <a:schemeClr val="bg2"/>
          </a:solidFill>
          <a:ln/>
        </p:spPr>
        <p:txBody>
          <a:bodyPr wrap="square" lIns="0" tIns="0" rIns="0" bIns="0" rtlCol="0" anchor="ctr"/>
          <a:lstStyle/>
          <a:p>
            <a:pPr marL="0" indent="0" algn="ctr">
              <a:buNone/>
            </a:pPr>
            <a:r>
              <a:rPr lang="en-US" sz="1200" b="1" dirty="0">
                <a:solidFill>
                  <a:schemeClr val="tx2"/>
                </a:solidFill>
              </a:rPr>
              <a:t>October 2026 (by 6th)</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Final Deployed Architecture &amp; Cloud Integration</a:t>
            </a:r>
            <a:endParaRPr lang="en-US" sz="3200" dirty="0"/>
          </a:p>
        </p:txBody>
      </p:sp>
      <p:sp>
        <p:nvSpPr>
          <p:cNvPr id="3" name="text-226"/>
          <p:cNvSpPr txBox="1"/>
          <p:nvPr/>
        </p:nvSpPr>
        <p:spPr>
          <a:xfrm>
            <a:off x="548640" y="1828800"/>
            <a:ext cx="1920240" cy="274320"/>
          </a:xfrm>
          <a:prstGeom prst="rect">
            <a:avLst/>
          </a:prstGeom>
          <a:noFill/>
          <a:ln/>
        </p:spPr>
        <p:txBody>
          <a:bodyPr wrap="square" lIns="0" tIns="0" rIns="0" bIns="0" rtlCol="0" anchor="ctr"/>
          <a:lstStyle/>
          <a:p>
            <a:pPr marL="0" indent="0">
              <a:buNone/>
            </a:pPr>
            <a:r>
              <a:rPr lang="en-US" sz="1100" b="1" kern="0" spc="100" dirty="0">
                <a:solidFill>
                  <a:schemeClr val="accent6"/>
                </a:solidFill>
              </a:rPr>
              <a:t>USERS</a:t>
            </a:r>
            <a:endParaRPr lang="en-US" sz="1100" dirty="0"/>
          </a:p>
        </p:txBody>
      </p:sp>
      <p:sp>
        <p:nvSpPr>
          <p:cNvPr id="4" name="text-227"/>
          <p:cNvSpPr txBox="1"/>
          <p:nvPr/>
        </p:nvSpPr>
        <p:spPr>
          <a:xfrm>
            <a:off x="548640" y="2194560"/>
            <a:ext cx="1920240" cy="548640"/>
          </a:xfrm>
          <a:prstGeom prst="roundRect">
            <a:avLst>
              <a:gd name="adj" fmla="val 10000"/>
            </a:avLst>
          </a:prstGeom>
          <a:solidFill>
            <a:schemeClr val="bg2"/>
          </a:solidFill>
          <a:ln w="9525">
            <a:solidFill>
              <a:srgbClr val="C9D4E3"/>
            </a:solidFill>
          </a:ln>
        </p:spPr>
        <p:txBody>
          <a:bodyPr wrap="square" lIns="101600" tIns="0" rIns="101600" bIns="0" rtlCol="0" anchor="ctr"/>
          <a:lstStyle/>
          <a:p>
            <a:pPr marL="0" indent="0">
              <a:buNone/>
            </a:pPr>
            <a:r>
              <a:rPr lang="en-US" sz="1200" b="1" dirty="0">
                <a:solidFill>
                  <a:schemeClr val="tx1"/>
                </a:solidFill>
              </a:rPr>
              <a:t>Admin / Manager</a:t>
            </a:r>
            <a:endParaRPr lang="en-US" sz="1200" dirty="0"/>
          </a:p>
          <a:p>
            <a:pPr marL="0" indent="0">
              <a:buNone/>
            </a:pPr>
            <a:r>
              <a:rPr lang="en-US" sz="1000" dirty="0">
                <a:solidFill>
                  <a:schemeClr val="accent6"/>
                </a:solidFill>
              </a:rPr>
              <a:t>sees reports, manages team</a:t>
            </a:r>
            <a:endParaRPr lang="en-US" sz="1200" dirty="0"/>
          </a:p>
        </p:txBody>
      </p:sp>
      <p:sp>
        <p:nvSpPr>
          <p:cNvPr id="5" name="connector-228"/>
          <p:cNvSpPr/>
          <p:nvPr/>
        </p:nvSpPr>
        <p:spPr>
          <a:xfrm>
            <a:off x="2468880" y="2468880"/>
            <a:ext cx="411480" cy="0"/>
          </a:xfrm>
          <a:prstGeom prst="line">
            <a:avLst/>
          </a:prstGeom>
          <a:noFill/>
          <a:ln w="19050">
            <a:solidFill>
              <a:srgbClr val="6B7C93"/>
            </a:solidFill>
            <a:prstDash val="solid"/>
            <a:tailEnd type="triangle"/>
          </a:ln>
        </p:spPr>
      </p:sp>
      <p:sp>
        <p:nvSpPr>
          <p:cNvPr id="6" name="text-229"/>
          <p:cNvSpPr txBox="1"/>
          <p:nvPr/>
        </p:nvSpPr>
        <p:spPr>
          <a:xfrm>
            <a:off x="548640" y="3246120"/>
            <a:ext cx="1920240" cy="548640"/>
          </a:xfrm>
          <a:prstGeom prst="roundRect">
            <a:avLst>
              <a:gd name="adj" fmla="val 10000"/>
            </a:avLst>
          </a:prstGeom>
          <a:solidFill>
            <a:schemeClr val="bg2"/>
          </a:solidFill>
          <a:ln w="9525">
            <a:solidFill>
              <a:srgbClr val="C9D4E3"/>
            </a:solidFill>
          </a:ln>
        </p:spPr>
        <p:txBody>
          <a:bodyPr wrap="square" lIns="101600" tIns="0" rIns="101600" bIns="0" rtlCol="0" anchor="ctr"/>
          <a:lstStyle/>
          <a:p>
            <a:pPr marL="0" indent="0">
              <a:buNone/>
            </a:pPr>
            <a:r>
              <a:rPr lang="en-US" sz="1200" b="1" dirty="0">
                <a:solidFill>
                  <a:schemeClr val="tx1"/>
                </a:solidFill>
              </a:rPr>
              <a:t>Salesperson</a:t>
            </a:r>
            <a:endParaRPr lang="en-US" sz="1200" dirty="0"/>
          </a:p>
          <a:p>
            <a:pPr marL="0" indent="0">
              <a:buNone/>
            </a:pPr>
            <a:r>
              <a:rPr lang="en-US" sz="1000" dirty="0">
                <a:solidFill>
                  <a:schemeClr val="accent6"/>
                </a:solidFill>
              </a:rPr>
              <a:t>works on own leads</a:t>
            </a:r>
            <a:endParaRPr lang="en-US" sz="1200" dirty="0"/>
          </a:p>
        </p:txBody>
      </p:sp>
      <p:sp>
        <p:nvSpPr>
          <p:cNvPr id="7" name="connector-230"/>
          <p:cNvSpPr/>
          <p:nvPr/>
        </p:nvSpPr>
        <p:spPr>
          <a:xfrm>
            <a:off x="2468880" y="3520440"/>
            <a:ext cx="411480" cy="0"/>
          </a:xfrm>
          <a:prstGeom prst="line">
            <a:avLst/>
          </a:prstGeom>
          <a:noFill/>
          <a:ln w="19050">
            <a:solidFill>
              <a:srgbClr val="6B7C93"/>
            </a:solidFill>
            <a:prstDash val="solid"/>
            <a:tailEnd type="triangle"/>
          </a:ln>
        </p:spPr>
      </p:sp>
      <p:sp>
        <p:nvSpPr>
          <p:cNvPr id="8" name="text-231"/>
          <p:cNvSpPr txBox="1"/>
          <p:nvPr/>
        </p:nvSpPr>
        <p:spPr>
          <a:xfrm>
            <a:off x="548640" y="4297680"/>
            <a:ext cx="1920240" cy="548640"/>
          </a:xfrm>
          <a:prstGeom prst="roundRect">
            <a:avLst>
              <a:gd name="adj" fmla="val 10000"/>
            </a:avLst>
          </a:prstGeom>
          <a:solidFill>
            <a:schemeClr val="bg2"/>
          </a:solidFill>
          <a:ln w="9525">
            <a:solidFill>
              <a:srgbClr val="C9D4E3"/>
            </a:solidFill>
          </a:ln>
        </p:spPr>
        <p:txBody>
          <a:bodyPr wrap="square" lIns="101600" tIns="0" rIns="101600" bIns="0" rtlCol="0" anchor="ctr"/>
          <a:lstStyle/>
          <a:p>
            <a:pPr marL="0" indent="0">
              <a:buNone/>
            </a:pPr>
            <a:r>
              <a:rPr lang="en-US" sz="1200" b="1" dirty="0">
                <a:solidFill>
                  <a:schemeClr val="tx1"/>
                </a:solidFill>
              </a:rPr>
              <a:t>Website Visitor</a:t>
            </a:r>
            <a:endParaRPr lang="en-US" sz="1200" dirty="0"/>
          </a:p>
          <a:p>
            <a:pPr marL="0" indent="0">
              <a:buNone/>
            </a:pPr>
            <a:r>
              <a:rPr lang="en-US" sz="1000" dirty="0">
                <a:solidFill>
                  <a:schemeClr val="accent6"/>
                </a:solidFill>
              </a:rPr>
              <a:t>fills the enquiry form</a:t>
            </a:r>
            <a:endParaRPr lang="en-US" sz="1200" dirty="0"/>
          </a:p>
        </p:txBody>
      </p:sp>
      <p:sp>
        <p:nvSpPr>
          <p:cNvPr id="9" name="connector-232"/>
          <p:cNvSpPr/>
          <p:nvPr/>
        </p:nvSpPr>
        <p:spPr>
          <a:xfrm>
            <a:off x="2468880" y="4572000"/>
            <a:ext cx="411480" cy="0"/>
          </a:xfrm>
          <a:prstGeom prst="line">
            <a:avLst/>
          </a:prstGeom>
          <a:noFill/>
          <a:ln w="19050">
            <a:solidFill>
              <a:srgbClr val="6B7C93"/>
            </a:solidFill>
            <a:prstDash val="solid"/>
            <a:tailEnd type="triangle"/>
          </a:ln>
        </p:spPr>
      </p:sp>
      <p:sp>
        <p:nvSpPr>
          <p:cNvPr id="10" name="arch-group-233"/>
          <p:cNvSpPr/>
          <p:nvPr/>
        </p:nvSpPr>
        <p:spPr>
          <a:xfrm>
            <a:off x="2880360" y="1828800"/>
            <a:ext cx="2103120" cy="3977640"/>
          </a:xfrm>
          <a:prstGeom prst="roundRect">
            <a:avLst>
              <a:gd name="adj" fmla="val 3478"/>
            </a:avLst>
          </a:prstGeom>
          <a:solidFill>
            <a:srgbClr val="F3F7FC"/>
          </a:solidFill>
          <a:ln w="12700">
            <a:solidFill>
              <a:srgbClr val="0B5394"/>
            </a:solidFill>
            <a:prstDash val="solid"/>
          </a:ln>
        </p:spPr>
      </p:sp>
      <p:sp>
        <p:nvSpPr>
          <p:cNvPr id="11" name="text-234"/>
          <p:cNvSpPr txBox="1"/>
          <p:nvPr/>
        </p:nvSpPr>
        <p:spPr>
          <a:xfrm>
            <a:off x="3017520" y="1920240"/>
            <a:ext cx="1828800" cy="548640"/>
          </a:xfrm>
          <a:prstGeom prst="rect">
            <a:avLst/>
          </a:prstGeom>
          <a:noFill/>
          <a:ln/>
        </p:spPr>
        <p:txBody>
          <a:bodyPr wrap="square" lIns="0" tIns="0" rIns="0" bIns="0" rtlCol="0" anchor="t"/>
          <a:lstStyle/>
          <a:p>
            <a:pPr marL="0" indent="0">
              <a:buNone/>
            </a:pPr>
            <a:r>
              <a:rPr lang="en-US" sz="1400" b="1" dirty="0">
                <a:solidFill>
                  <a:schemeClr val="tx2"/>
                </a:solidFill>
              </a:rPr>
              <a:t>Frontend · Vercel</a:t>
            </a:r>
            <a:endParaRPr lang="en-US" sz="1400" dirty="0"/>
          </a:p>
          <a:p>
            <a:pPr marL="0" indent="0">
              <a:buNone/>
            </a:pPr>
            <a:r>
              <a:rPr lang="en-US" sz="1100" dirty="0">
                <a:solidFill>
                  <a:schemeClr val="accent6"/>
                </a:solidFill>
              </a:rPr>
              <a:t>the website people open</a:t>
            </a:r>
            <a:endParaRPr lang="en-US" sz="1400" dirty="0"/>
          </a:p>
        </p:txBody>
      </p:sp>
      <p:sp>
        <p:nvSpPr>
          <p:cNvPr id="12" name="text-235"/>
          <p:cNvSpPr txBox="1"/>
          <p:nvPr/>
        </p:nvSpPr>
        <p:spPr>
          <a:xfrm>
            <a:off x="3017520" y="2606040"/>
            <a:ext cx="182880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Admin pages</a:t>
            </a:r>
            <a:endParaRPr lang="en-US" sz="1200" dirty="0"/>
          </a:p>
        </p:txBody>
      </p:sp>
      <p:sp>
        <p:nvSpPr>
          <p:cNvPr id="13" name="text-236"/>
          <p:cNvSpPr txBox="1"/>
          <p:nvPr/>
        </p:nvSpPr>
        <p:spPr>
          <a:xfrm>
            <a:off x="3017520" y="3154680"/>
            <a:ext cx="182880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Sales pages</a:t>
            </a:r>
            <a:endParaRPr lang="en-US" sz="1200" dirty="0"/>
          </a:p>
        </p:txBody>
      </p:sp>
      <p:sp>
        <p:nvSpPr>
          <p:cNvPr id="14" name="text-237"/>
          <p:cNvSpPr txBox="1"/>
          <p:nvPr/>
        </p:nvSpPr>
        <p:spPr>
          <a:xfrm>
            <a:off x="3017520" y="3703320"/>
            <a:ext cx="182880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Reports</a:t>
            </a:r>
            <a:endParaRPr lang="en-US" sz="1200" dirty="0"/>
          </a:p>
        </p:txBody>
      </p:sp>
      <p:sp>
        <p:nvSpPr>
          <p:cNvPr id="15" name="text-238"/>
          <p:cNvSpPr txBox="1"/>
          <p:nvPr/>
        </p:nvSpPr>
        <p:spPr>
          <a:xfrm>
            <a:off x="3017520" y="4251960"/>
            <a:ext cx="182880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Enquiry form</a:t>
            </a:r>
            <a:endParaRPr lang="en-US" sz="1200" dirty="0"/>
          </a:p>
        </p:txBody>
      </p:sp>
      <p:sp>
        <p:nvSpPr>
          <p:cNvPr id="16" name="connector-239"/>
          <p:cNvSpPr/>
          <p:nvPr/>
        </p:nvSpPr>
        <p:spPr>
          <a:xfrm>
            <a:off x="4983480" y="3840480"/>
            <a:ext cx="731520" cy="0"/>
          </a:xfrm>
          <a:prstGeom prst="line">
            <a:avLst/>
          </a:prstGeom>
          <a:noFill/>
          <a:ln w="25400">
            <a:solidFill>
              <a:srgbClr val="0B5394"/>
            </a:solidFill>
            <a:prstDash val="solid"/>
            <a:headEnd type="triangle"/>
            <a:tailEnd type="triangle"/>
          </a:ln>
        </p:spPr>
      </p:sp>
      <p:sp>
        <p:nvSpPr>
          <p:cNvPr id="17" name="text-240"/>
          <p:cNvSpPr txBox="1"/>
          <p:nvPr/>
        </p:nvSpPr>
        <p:spPr>
          <a:xfrm>
            <a:off x="4983480" y="3246120"/>
            <a:ext cx="731520" cy="502920"/>
          </a:xfrm>
          <a:prstGeom prst="rect">
            <a:avLst/>
          </a:prstGeom>
          <a:noFill/>
          <a:ln/>
        </p:spPr>
        <p:txBody>
          <a:bodyPr wrap="square" lIns="0" tIns="0" rIns="0" bIns="0" rtlCol="0" anchor="ctr"/>
          <a:lstStyle/>
          <a:p>
            <a:pPr marL="0" indent="0" algn="ctr">
              <a:buNone/>
            </a:pPr>
            <a:r>
              <a:rPr lang="en-US" sz="1000" b="1" dirty="0">
                <a:solidFill>
                  <a:schemeClr val="accent1"/>
                </a:solidFill>
              </a:rPr>
              <a:t>sends &amp;</a:t>
            </a:r>
            <a:endParaRPr lang="en-US" sz="1000" dirty="0"/>
          </a:p>
          <a:p>
            <a:pPr marL="0" indent="0" algn="ctr">
              <a:buNone/>
            </a:pPr>
            <a:r>
              <a:rPr lang="en-US" sz="1000" b="1" dirty="0">
                <a:solidFill>
                  <a:schemeClr val="accent1"/>
                </a:solidFill>
              </a:rPr>
              <a:t>gets data</a:t>
            </a:r>
            <a:endParaRPr lang="en-US" sz="1000" dirty="0"/>
          </a:p>
        </p:txBody>
      </p:sp>
      <p:sp>
        <p:nvSpPr>
          <p:cNvPr id="18" name="text-241"/>
          <p:cNvSpPr txBox="1"/>
          <p:nvPr/>
        </p:nvSpPr>
        <p:spPr>
          <a:xfrm>
            <a:off x="5715000" y="1188720"/>
            <a:ext cx="2651760" cy="384048"/>
          </a:xfrm>
          <a:prstGeom prst="roundRect">
            <a:avLst>
              <a:gd name="adj" fmla="val 14286"/>
            </a:avLst>
          </a:prstGeom>
          <a:solidFill>
            <a:schemeClr val="bg2"/>
          </a:solidFill>
          <a:ln w="9525">
            <a:solidFill>
              <a:srgbClr val="C9D4E3"/>
            </a:solidFill>
          </a:ln>
        </p:spPr>
        <p:txBody>
          <a:bodyPr wrap="square" lIns="101600" tIns="0" rIns="101600" bIns="0" rtlCol="0" anchor="ctr"/>
          <a:lstStyle/>
          <a:p>
            <a:pPr marL="0" indent="0">
              <a:buNone/>
            </a:pPr>
            <a:r>
              <a:rPr lang="en-US" sz="1200" b="1" dirty="0">
                <a:solidFill>
                  <a:schemeClr val="tx1"/>
                </a:solidFill>
              </a:rPr>
              <a:t>Facebook / Instagram ads</a:t>
            </a:r>
            <a:endParaRPr lang="en-US" sz="1200" dirty="0"/>
          </a:p>
        </p:txBody>
      </p:sp>
      <p:sp>
        <p:nvSpPr>
          <p:cNvPr id="19" name="connector-242"/>
          <p:cNvSpPr/>
          <p:nvPr/>
        </p:nvSpPr>
        <p:spPr>
          <a:xfrm>
            <a:off x="7040880" y="1572768"/>
            <a:ext cx="0" cy="256032"/>
          </a:xfrm>
          <a:prstGeom prst="line">
            <a:avLst/>
          </a:prstGeom>
          <a:noFill/>
          <a:ln w="25400">
            <a:solidFill>
              <a:srgbClr val="0B5394"/>
            </a:solidFill>
            <a:prstDash val="solid"/>
            <a:tailEnd type="triangle"/>
          </a:ln>
        </p:spPr>
      </p:sp>
      <p:sp>
        <p:nvSpPr>
          <p:cNvPr id="20" name="text-243"/>
          <p:cNvSpPr txBox="1"/>
          <p:nvPr/>
        </p:nvSpPr>
        <p:spPr>
          <a:xfrm>
            <a:off x="7132320" y="1581912"/>
            <a:ext cx="1280160" cy="228600"/>
          </a:xfrm>
          <a:prstGeom prst="rect">
            <a:avLst/>
          </a:prstGeom>
          <a:noFill/>
          <a:ln/>
        </p:spPr>
        <p:txBody>
          <a:bodyPr wrap="square" lIns="0" tIns="0" rIns="0" bIns="0" rtlCol="0" anchor="ctr"/>
          <a:lstStyle/>
          <a:p>
            <a:pPr marL="0" indent="0">
              <a:buNone/>
            </a:pPr>
            <a:r>
              <a:rPr lang="en-US" sz="1000" dirty="0">
                <a:solidFill>
                  <a:schemeClr val="accent1"/>
                </a:solidFill>
              </a:rPr>
              <a:t>sends new leads</a:t>
            </a:r>
            <a:endParaRPr lang="en-US" sz="1000" dirty="0"/>
          </a:p>
        </p:txBody>
      </p:sp>
      <p:sp>
        <p:nvSpPr>
          <p:cNvPr id="21" name="arch-group-244"/>
          <p:cNvSpPr/>
          <p:nvPr/>
        </p:nvSpPr>
        <p:spPr>
          <a:xfrm>
            <a:off x="5715000" y="1828800"/>
            <a:ext cx="2651760" cy="3977640"/>
          </a:xfrm>
          <a:prstGeom prst="roundRect">
            <a:avLst>
              <a:gd name="adj" fmla="val 2759"/>
            </a:avLst>
          </a:prstGeom>
          <a:solidFill>
            <a:srgbClr val="F3F7FC"/>
          </a:solidFill>
          <a:ln w="12700">
            <a:solidFill>
              <a:srgbClr val="0B5394"/>
            </a:solidFill>
            <a:prstDash val="solid"/>
          </a:ln>
        </p:spPr>
      </p:sp>
      <p:sp>
        <p:nvSpPr>
          <p:cNvPr id="22" name="text-245"/>
          <p:cNvSpPr txBox="1"/>
          <p:nvPr/>
        </p:nvSpPr>
        <p:spPr>
          <a:xfrm>
            <a:off x="5852160" y="1920240"/>
            <a:ext cx="2377440" cy="548640"/>
          </a:xfrm>
          <a:prstGeom prst="rect">
            <a:avLst/>
          </a:prstGeom>
          <a:noFill/>
          <a:ln/>
        </p:spPr>
        <p:txBody>
          <a:bodyPr wrap="square" lIns="0" tIns="0" rIns="0" bIns="0" rtlCol="0" anchor="t"/>
          <a:lstStyle/>
          <a:p>
            <a:pPr marL="0" indent="0">
              <a:buNone/>
            </a:pPr>
            <a:r>
              <a:rPr lang="en-US" sz="1400" b="1" dirty="0">
                <a:solidFill>
                  <a:schemeClr val="tx2"/>
                </a:solidFill>
              </a:rPr>
              <a:t>Backend · Render</a:t>
            </a:r>
            <a:endParaRPr lang="en-US" sz="1400" dirty="0"/>
          </a:p>
          <a:p>
            <a:pPr marL="0" indent="0">
              <a:buNone/>
            </a:pPr>
            <a:r>
              <a:rPr lang="en-US" sz="1100" dirty="0">
                <a:solidFill>
                  <a:schemeClr val="accent6"/>
                </a:solidFill>
              </a:rPr>
              <a:t>does all the work</a:t>
            </a:r>
            <a:endParaRPr lang="en-US" sz="1400" dirty="0"/>
          </a:p>
        </p:txBody>
      </p:sp>
      <p:sp>
        <p:nvSpPr>
          <p:cNvPr id="23" name="text-246"/>
          <p:cNvSpPr txBox="1"/>
          <p:nvPr/>
        </p:nvSpPr>
        <p:spPr>
          <a:xfrm>
            <a:off x="5852160" y="2651760"/>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Login</a:t>
            </a:r>
            <a:endParaRPr lang="en-US" sz="1200" dirty="0"/>
          </a:p>
        </p:txBody>
      </p:sp>
      <p:sp>
        <p:nvSpPr>
          <p:cNvPr id="24" name="text-247"/>
          <p:cNvSpPr txBox="1"/>
          <p:nvPr/>
        </p:nvSpPr>
        <p:spPr>
          <a:xfrm>
            <a:off x="5852160" y="3163824"/>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Save leads, skip duplicates</a:t>
            </a:r>
            <a:endParaRPr lang="en-US" sz="1200" dirty="0"/>
          </a:p>
        </p:txBody>
      </p:sp>
      <p:sp>
        <p:nvSpPr>
          <p:cNvPr id="25" name="text-248"/>
          <p:cNvSpPr txBox="1"/>
          <p:nvPr/>
        </p:nvSpPr>
        <p:spPr>
          <a:xfrm>
            <a:off x="5852160" y="3675888"/>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Score every new lead</a:t>
            </a:r>
            <a:endParaRPr lang="en-US" sz="1200" dirty="0"/>
          </a:p>
        </p:txBody>
      </p:sp>
      <p:sp>
        <p:nvSpPr>
          <p:cNvPr id="26" name="text-249"/>
          <p:cNvSpPr txBox="1"/>
          <p:nvPr/>
        </p:nvSpPr>
        <p:spPr>
          <a:xfrm>
            <a:off x="5852160" y="4187952"/>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Give lead to a salesperson</a:t>
            </a:r>
            <a:endParaRPr lang="en-US" sz="1200" dirty="0"/>
          </a:p>
        </p:txBody>
      </p:sp>
      <p:sp>
        <p:nvSpPr>
          <p:cNvPr id="27" name="text-250"/>
          <p:cNvSpPr txBox="1"/>
          <p:nvPr/>
        </p:nvSpPr>
        <p:spPr>
          <a:xfrm>
            <a:off x="5852160" y="4700016"/>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Follow-up reminders</a:t>
            </a:r>
            <a:endParaRPr lang="en-US" sz="1200" dirty="0"/>
          </a:p>
        </p:txBody>
      </p:sp>
      <p:sp>
        <p:nvSpPr>
          <p:cNvPr id="28" name="text-251"/>
          <p:cNvSpPr txBox="1"/>
          <p:nvPr/>
        </p:nvSpPr>
        <p:spPr>
          <a:xfrm>
            <a:off x="5852160" y="5212080"/>
            <a:ext cx="2377440" cy="384048"/>
          </a:xfrm>
          <a:prstGeom prst="roundRect">
            <a:avLst>
              <a:gd name="adj" fmla="val 14286"/>
            </a:avLst>
          </a:prstGeom>
          <a:solidFill>
            <a:schemeClr val="bg1"/>
          </a:solidFill>
          <a:ln w="9525">
            <a:solidFill>
              <a:srgbClr val="C9D4E3"/>
            </a:solidFill>
          </a:ln>
        </p:spPr>
        <p:txBody>
          <a:bodyPr wrap="square" lIns="101600" tIns="0" rIns="101600" bIns="0" rtlCol="0" anchor="ctr"/>
          <a:lstStyle/>
          <a:p>
            <a:pPr marL="0" indent="0">
              <a:buNone/>
            </a:pPr>
            <a:r>
              <a:rPr lang="en-US" sz="1200" b="1" dirty="0">
                <a:solidFill>
                  <a:schemeClr val="tx1"/>
                </a:solidFill>
              </a:rPr>
              <a:t>Keep data safe</a:t>
            </a:r>
            <a:endParaRPr lang="en-US" sz="1200" dirty="0"/>
          </a:p>
        </p:txBody>
      </p:sp>
      <p:sp>
        <p:nvSpPr>
          <p:cNvPr id="29" name="text-252"/>
          <p:cNvSpPr txBox="1"/>
          <p:nvPr/>
        </p:nvSpPr>
        <p:spPr>
          <a:xfrm>
            <a:off x="8915400" y="1188720"/>
            <a:ext cx="2743200" cy="274320"/>
          </a:xfrm>
          <a:prstGeom prst="rect">
            <a:avLst/>
          </a:prstGeom>
          <a:noFill/>
          <a:ln/>
        </p:spPr>
        <p:txBody>
          <a:bodyPr wrap="square" lIns="0" tIns="0" rIns="0" bIns="0" rtlCol="0" anchor="ctr"/>
          <a:lstStyle/>
          <a:p>
            <a:pPr marL="0" indent="0">
              <a:buNone/>
            </a:pPr>
            <a:r>
              <a:rPr lang="en-US" sz="1100" b="1" kern="0" spc="100" dirty="0">
                <a:solidFill>
                  <a:schemeClr val="accent6"/>
                </a:solidFill>
              </a:rPr>
              <a:t>ONLINE SERVICES</a:t>
            </a:r>
            <a:endParaRPr lang="en-US" sz="1100" dirty="0"/>
          </a:p>
        </p:txBody>
      </p:sp>
      <p:sp>
        <p:nvSpPr>
          <p:cNvPr id="30" name="text-253"/>
          <p:cNvSpPr txBox="1"/>
          <p:nvPr/>
        </p:nvSpPr>
        <p:spPr>
          <a:xfrm>
            <a:off x="8915400" y="1554480"/>
            <a:ext cx="2724912" cy="713232"/>
          </a:xfrm>
          <a:prstGeom prst="roundRect">
            <a:avLst>
              <a:gd name="adj" fmla="val 10256"/>
            </a:avLst>
          </a:prstGeom>
          <a:solidFill>
            <a:schemeClr val="accent1"/>
          </a:solidFill>
          <a:ln/>
        </p:spPr>
        <p:txBody>
          <a:bodyPr wrap="square" lIns="127000" tIns="0" rIns="127000" bIns="0" rtlCol="0" anchor="ctr"/>
          <a:lstStyle/>
          <a:p>
            <a:pPr marL="0" indent="0">
              <a:buNone/>
            </a:pPr>
            <a:r>
              <a:rPr lang="en-US" sz="1200" b="1" dirty="0">
                <a:solidFill>
                  <a:schemeClr val="bg1"/>
                </a:solidFill>
              </a:rPr>
              <a:t>MongoDB Atlas</a:t>
            </a:r>
            <a:endParaRPr lang="en-US" sz="1200" dirty="0"/>
          </a:p>
          <a:p>
            <a:pPr marL="0" indent="0">
              <a:buNone/>
            </a:pPr>
            <a:r>
              <a:rPr lang="en-US" sz="1000" dirty="0">
                <a:solidFill>
                  <a:schemeClr val="bg2"/>
                </a:solidFill>
              </a:rPr>
              <a:t>stores all the data</a:t>
            </a:r>
            <a:endParaRPr lang="en-US" sz="1200" dirty="0"/>
          </a:p>
        </p:txBody>
      </p:sp>
      <p:sp>
        <p:nvSpPr>
          <p:cNvPr id="31" name="connector-254"/>
          <p:cNvSpPr/>
          <p:nvPr/>
        </p:nvSpPr>
        <p:spPr>
          <a:xfrm>
            <a:off x="8366760" y="1911096"/>
            <a:ext cx="548640" cy="0"/>
          </a:xfrm>
          <a:prstGeom prst="line">
            <a:avLst/>
          </a:prstGeom>
          <a:noFill/>
          <a:ln w="19050">
            <a:solidFill>
              <a:srgbClr val="6B7C93"/>
            </a:solidFill>
            <a:prstDash val="solid"/>
            <a:tailEnd type="triangle"/>
          </a:ln>
        </p:spPr>
      </p:sp>
      <p:sp>
        <p:nvSpPr>
          <p:cNvPr id="32" name="text-255"/>
          <p:cNvSpPr txBox="1"/>
          <p:nvPr/>
        </p:nvSpPr>
        <p:spPr>
          <a:xfrm>
            <a:off x="8915400" y="2404872"/>
            <a:ext cx="2724912" cy="713232"/>
          </a:xfrm>
          <a:prstGeom prst="roundRect">
            <a:avLst>
              <a:gd name="adj" fmla="val 10256"/>
            </a:avLst>
          </a:prstGeom>
          <a:solidFill>
            <a:schemeClr val="accent3"/>
          </a:solidFill>
          <a:ln/>
        </p:spPr>
        <p:txBody>
          <a:bodyPr wrap="square" lIns="127000" tIns="0" rIns="127000" bIns="0" rtlCol="0" anchor="ctr"/>
          <a:lstStyle/>
          <a:p>
            <a:pPr marL="0" indent="0">
              <a:buNone/>
            </a:pPr>
            <a:r>
              <a:rPr lang="en-US" sz="1200" b="1" dirty="0">
                <a:solidFill>
                  <a:schemeClr val="bg1"/>
                </a:solidFill>
              </a:rPr>
              <a:t>ML Service · Render</a:t>
            </a:r>
            <a:endParaRPr lang="en-US" sz="1200" dirty="0"/>
          </a:p>
          <a:p>
            <a:pPr marL="0" indent="0">
              <a:buNone/>
            </a:pPr>
            <a:r>
              <a:rPr lang="en-US" sz="1000" dirty="0">
                <a:solidFill>
                  <a:schemeClr val="bg2"/>
                </a:solidFill>
              </a:rPr>
              <a:t>gives each lead a score</a:t>
            </a:r>
            <a:endParaRPr lang="en-US" sz="1200" dirty="0"/>
          </a:p>
        </p:txBody>
      </p:sp>
      <p:sp>
        <p:nvSpPr>
          <p:cNvPr id="33" name="connector-256"/>
          <p:cNvSpPr/>
          <p:nvPr/>
        </p:nvSpPr>
        <p:spPr>
          <a:xfrm>
            <a:off x="8366760" y="2761488"/>
            <a:ext cx="548640" cy="0"/>
          </a:xfrm>
          <a:prstGeom prst="line">
            <a:avLst/>
          </a:prstGeom>
          <a:noFill/>
          <a:ln w="19050">
            <a:solidFill>
              <a:srgbClr val="6B7C93"/>
            </a:solidFill>
            <a:prstDash val="solid"/>
            <a:tailEnd type="triangle"/>
          </a:ln>
        </p:spPr>
      </p:sp>
      <p:sp>
        <p:nvSpPr>
          <p:cNvPr id="34" name="text-257"/>
          <p:cNvSpPr txBox="1"/>
          <p:nvPr/>
        </p:nvSpPr>
        <p:spPr>
          <a:xfrm>
            <a:off x="8915400" y="3255264"/>
            <a:ext cx="2724912" cy="713232"/>
          </a:xfrm>
          <a:prstGeom prst="roundRect">
            <a:avLst>
              <a:gd name="adj" fmla="val 10256"/>
            </a:avLst>
          </a:prstGeom>
          <a:solidFill>
            <a:schemeClr val="accent1"/>
          </a:solidFill>
          <a:ln/>
        </p:spPr>
        <p:txBody>
          <a:bodyPr wrap="square" lIns="127000" tIns="0" rIns="127000" bIns="0" rtlCol="0" anchor="ctr"/>
          <a:lstStyle/>
          <a:p>
            <a:pPr marL="0" indent="0">
              <a:buNone/>
            </a:pPr>
            <a:r>
              <a:rPr lang="en-US" sz="1200" b="1" dirty="0">
                <a:solidFill>
                  <a:schemeClr val="bg1"/>
                </a:solidFill>
              </a:rPr>
              <a:t>Google Gemini</a:t>
            </a:r>
            <a:endParaRPr lang="en-US" sz="1200" dirty="0"/>
          </a:p>
          <a:p>
            <a:pPr marL="0" indent="0">
              <a:buNone/>
            </a:pPr>
            <a:r>
              <a:rPr lang="en-US" sz="1000" dirty="0">
                <a:solidFill>
                  <a:schemeClr val="bg2"/>
                </a:solidFill>
              </a:rPr>
              <a:t>writes reply drafts</a:t>
            </a:r>
            <a:endParaRPr lang="en-US" sz="1200" dirty="0"/>
          </a:p>
        </p:txBody>
      </p:sp>
      <p:sp>
        <p:nvSpPr>
          <p:cNvPr id="35" name="connector-258"/>
          <p:cNvSpPr/>
          <p:nvPr/>
        </p:nvSpPr>
        <p:spPr>
          <a:xfrm>
            <a:off x="8366760" y="3611880"/>
            <a:ext cx="548640" cy="0"/>
          </a:xfrm>
          <a:prstGeom prst="line">
            <a:avLst/>
          </a:prstGeom>
          <a:noFill/>
          <a:ln w="19050">
            <a:solidFill>
              <a:srgbClr val="6B7C93"/>
            </a:solidFill>
            <a:prstDash val="solid"/>
            <a:tailEnd type="triangle"/>
          </a:ln>
        </p:spPr>
      </p:sp>
      <p:sp>
        <p:nvSpPr>
          <p:cNvPr id="36" name="text-259"/>
          <p:cNvSpPr txBox="1"/>
          <p:nvPr/>
        </p:nvSpPr>
        <p:spPr>
          <a:xfrm>
            <a:off x="8915400" y="4105656"/>
            <a:ext cx="2724912" cy="713232"/>
          </a:xfrm>
          <a:prstGeom prst="roundRect">
            <a:avLst>
              <a:gd name="adj" fmla="val 10256"/>
            </a:avLst>
          </a:prstGeom>
          <a:solidFill>
            <a:schemeClr val="accent1"/>
          </a:solidFill>
          <a:ln/>
        </p:spPr>
        <p:txBody>
          <a:bodyPr wrap="square" lIns="127000" tIns="0" rIns="127000" bIns="0" rtlCol="0" anchor="ctr"/>
          <a:lstStyle/>
          <a:p>
            <a:pPr marL="0" indent="0">
              <a:buNone/>
            </a:pPr>
            <a:r>
              <a:rPr lang="en-US" sz="1200" b="1" dirty="0">
                <a:solidFill>
                  <a:schemeClr val="bg1"/>
                </a:solidFill>
              </a:rPr>
              <a:t>Cloudinary</a:t>
            </a:r>
            <a:endParaRPr lang="en-US" sz="1200" dirty="0"/>
          </a:p>
          <a:p>
            <a:pPr marL="0" indent="0">
              <a:buNone/>
            </a:pPr>
            <a:r>
              <a:rPr lang="en-US" sz="1000" dirty="0">
                <a:solidFill>
                  <a:schemeClr val="bg2"/>
                </a:solidFill>
              </a:rPr>
              <a:t>stores photos and files</a:t>
            </a:r>
            <a:endParaRPr lang="en-US" sz="1200" dirty="0"/>
          </a:p>
        </p:txBody>
      </p:sp>
      <p:sp>
        <p:nvSpPr>
          <p:cNvPr id="37" name="connector-260"/>
          <p:cNvSpPr/>
          <p:nvPr/>
        </p:nvSpPr>
        <p:spPr>
          <a:xfrm>
            <a:off x="8366760" y="4462272"/>
            <a:ext cx="548640" cy="0"/>
          </a:xfrm>
          <a:prstGeom prst="line">
            <a:avLst/>
          </a:prstGeom>
          <a:noFill/>
          <a:ln w="19050">
            <a:solidFill>
              <a:srgbClr val="6B7C93"/>
            </a:solidFill>
            <a:prstDash val="solid"/>
            <a:tailEnd type="triangle"/>
          </a:ln>
        </p:spPr>
      </p:sp>
      <p:sp>
        <p:nvSpPr>
          <p:cNvPr id="38" name="text-261"/>
          <p:cNvSpPr txBox="1"/>
          <p:nvPr/>
        </p:nvSpPr>
        <p:spPr>
          <a:xfrm>
            <a:off x="8915400" y="4956048"/>
            <a:ext cx="2724912" cy="713232"/>
          </a:xfrm>
          <a:prstGeom prst="roundRect">
            <a:avLst>
              <a:gd name="adj" fmla="val 10256"/>
            </a:avLst>
          </a:prstGeom>
          <a:solidFill>
            <a:schemeClr val="accent1"/>
          </a:solidFill>
          <a:ln/>
        </p:spPr>
        <p:txBody>
          <a:bodyPr wrap="square" lIns="127000" tIns="0" rIns="127000" bIns="0" rtlCol="0" anchor="ctr"/>
          <a:lstStyle/>
          <a:p>
            <a:pPr marL="0" indent="0">
              <a:buNone/>
            </a:pPr>
            <a:r>
              <a:rPr lang="en-US" sz="1200" b="1" dirty="0">
                <a:solidFill>
                  <a:schemeClr val="bg1"/>
                </a:solidFill>
              </a:rPr>
              <a:t>Firebase · SMS Hub India</a:t>
            </a:r>
            <a:endParaRPr lang="en-US" sz="1200" dirty="0"/>
          </a:p>
          <a:p>
            <a:pPr marL="0" indent="0">
              <a:buNone/>
            </a:pPr>
            <a:r>
              <a:rPr lang="en-US" sz="1000" dirty="0">
                <a:solidFill>
                  <a:schemeClr val="bg2"/>
                </a:solidFill>
              </a:rPr>
              <a:t>app alerts and SMS</a:t>
            </a:r>
            <a:endParaRPr lang="en-US" sz="1200" dirty="0"/>
          </a:p>
        </p:txBody>
      </p:sp>
      <p:sp>
        <p:nvSpPr>
          <p:cNvPr id="39" name="connector-262"/>
          <p:cNvSpPr/>
          <p:nvPr/>
        </p:nvSpPr>
        <p:spPr>
          <a:xfrm>
            <a:off x="8366760" y="5312664"/>
            <a:ext cx="548640" cy="0"/>
          </a:xfrm>
          <a:prstGeom prst="line">
            <a:avLst/>
          </a:prstGeom>
          <a:noFill/>
          <a:ln w="19050">
            <a:solidFill>
              <a:srgbClr val="6B7C93"/>
            </a:solidFill>
            <a:prstDash val="solid"/>
            <a:tailEnd type="triangle"/>
          </a:ln>
        </p:spPr>
      </p:sp>
      <p:sp>
        <p:nvSpPr>
          <p:cNvPr id="40" name="text-263"/>
          <p:cNvSpPr txBox="1"/>
          <p:nvPr/>
        </p:nvSpPr>
        <p:spPr>
          <a:xfrm>
            <a:off x="548640" y="5897880"/>
            <a:ext cx="11091672" cy="320040"/>
          </a:xfrm>
          <a:prstGeom prst="rect">
            <a:avLst/>
          </a:prstGeom>
          <a:noFill/>
          <a:ln/>
        </p:spPr>
        <p:txBody>
          <a:bodyPr wrap="square" lIns="0" tIns="0" rIns="0" bIns="0" rtlCol="0" anchor="ctr"/>
          <a:lstStyle/>
          <a:p>
            <a:pPr marL="0" indent="0">
              <a:buNone/>
            </a:pPr>
            <a:r>
              <a:rPr lang="en-US" sz="1200" i="1" dirty="0">
                <a:solidFill>
                  <a:schemeClr val="tx2"/>
                </a:solidFill>
              </a:rPr>
              <a:t>How a lead moves: form or ad → duplicate check → saved → scored → given to a salesperson → alert sent</a:t>
            </a:r>
            <a:endParaRPr lang="en-US" sz="1200" dirty="0"/>
          </a:p>
        </p:txBody>
      </p:sp>
      <p:sp>
        <p:nvSpPr>
          <p:cNvPr id="4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UML Deployment Diagram</a:t>
            </a:r>
            <a:endParaRPr lang="en-US" sz="3200" dirty="0"/>
          </a:p>
        </p:txBody>
      </p:sp>
      <p:sp>
        <p:nvSpPr>
          <p:cNvPr id="3" name="node-depth-264"/>
          <p:cNvSpPr/>
          <p:nvPr/>
        </p:nvSpPr>
        <p:spPr>
          <a:xfrm>
            <a:off x="640080" y="1280160"/>
            <a:ext cx="2377440" cy="1417320"/>
          </a:xfrm>
          <a:prstGeom prst="rect">
            <a:avLst/>
          </a:prstGeom>
          <a:solidFill>
            <a:srgbClr val="C9D4E3"/>
          </a:solidFill>
          <a:ln w="12700">
            <a:solidFill>
              <a:srgbClr val="0B5394"/>
            </a:solidFill>
            <a:prstDash val="solid"/>
          </a:ln>
        </p:spPr>
      </p:sp>
      <p:sp>
        <p:nvSpPr>
          <p:cNvPr id="4" name="node-265"/>
          <p:cNvSpPr/>
          <p:nvPr/>
        </p:nvSpPr>
        <p:spPr>
          <a:xfrm>
            <a:off x="548640" y="1371600"/>
            <a:ext cx="2377440" cy="1417320"/>
          </a:xfrm>
          <a:prstGeom prst="rect">
            <a:avLst/>
          </a:prstGeom>
          <a:solidFill>
            <a:schemeClr val="bg1"/>
          </a:solidFill>
          <a:ln w="15875">
            <a:solidFill>
              <a:srgbClr val="0B5394"/>
            </a:solidFill>
            <a:prstDash val="solid"/>
          </a:ln>
        </p:spPr>
      </p:sp>
      <p:sp>
        <p:nvSpPr>
          <p:cNvPr id="5" name="text-266"/>
          <p:cNvSpPr txBox="1"/>
          <p:nvPr/>
        </p:nvSpPr>
        <p:spPr>
          <a:xfrm>
            <a:off x="640080" y="1426464"/>
            <a:ext cx="2194560" cy="502920"/>
          </a:xfrm>
          <a:prstGeom prst="rect">
            <a:avLst/>
          </a:prstGeom>
          <a:noFill/>
          <a:ln/>
        </p:spPr>
        <p:txBody>
          <a:bodyPr wrap="square" lIns="0" tIns="0" rIns="0" bIns="0" rtlCol="0" anchor="t"/>
          <a:lstStyle/>
          <a:p>
            <a:pPr marL="0" indent="0" algn="ctr">
              <a:buNone/>
            </a:pPr>
            <a:r>
              <a:rPr lang="en-US" sz="1000" i="1" dirty="0">
                <a:solidFill>
                  <a:schemeClr val="accent6"/>
                </a:solidFill>
              </a:rPr>
              <a:t>«device»</a:t>
            </a:r>
            <a:endParaRPr lang="en-US" sz="1000" dirty="0"/>
          </a:p>
          <a:p>
            <a:pPr marL="0" indent="0" algn="ctr">
              <a:buNone/>
            </a:pPr>
            <a:r>
              <a:rPr lang="en-US" sz="1300" b="1" dirty="0">
                <a:solidFill>
                  <a:schemeClr val="tx2"/>
                </a:solidFill>
              </a:rPr>
              <a:t>User's browser</a:t>
            </a:r>
            <a:endParaRPr lang="en-US" sz="1000" dirty="0"/>
          </a:p>
        </p:txBody>
      </p:sp>
      <p:sp>
        <p:nvSpPr>
          <p:cNvPr id="6" name="text-267"/>
          <p:cNvSpPr txBox="1"/>
          <p:nvPr/>
        </p:nvSpPr>
        <p:spPr>
          <a:xfrm>
            <a:off x="685800" y="2011680"/>
            <a:ext cx="210312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Website files</a:t>
            </a:r>
            <a:endParaRPr lang="en-US" sz="1000" dirty="0"/>
          </a:p>
        </p:txBody>
      </p:sp>
      <p:sp>
        <p:nvSpPr>
          <p:cNvPr id="7" name="node-depth-268"/>
          <p:cNvSpPr/>
          <p:nvPr/>
        </p:nvSpPr>
        <p:spPr>
          <a:xfrm>
            <a:off x="3931920" y="1280160"/>
            <a:ext cx="2651760" cy="1417320"/>
          </a:xfrm>
          <a:prstGeom prst="rect">
            <a:avLst/>
          </a:prstGeom>
          <a:solidFill>
            <a:srgbClr val="C9D4E3"/>
          </a:solidFill>
          <a:ln w="12700">
            <a:solidFill>
              <a:srgbClr val="0B5394"/>
            </a:solidFill>
            <a:prstDash val="solid"/>
          </a:ln>
        </p:spPr>
      </p:sp>
      <p:sp>
        <p:nvSpPr>
          <p:cNvPr id="8" name="node-269"/>
          <p:cNvSpPr/>
          <p:nvPr/>
        </p:nvSpPr>
        <p:spPr>
          <a:xfrm>
            <a:off x="3840480" y="1371600"/>
            <a:ext cx="2651760" cy="1417320"/>
          </a:xfrm>
          <a:prstGeom prst="rect">
            <a:avLst/>
          </a:prstGeom>
          <a:solidFill>
            <a:schemeClr val="bg1"/>
          </a:solidFill>
          <a:ln w="15875">
            <a:solidFill>
              <a:srgbClr val="0B5394"/>
            </a:solidFill>
            <a:prstDash val="solid"/>
          </a:ln>
        </p:spPr>
      </p:sp>
      <p:sp>
        <p:nvSpPr>
          <p:cNvPr id="9" name="text-270"/>
          <p:cNvSpPr txBox="1"/>
          <p:nvPr/>
        </p:nvSpPr>
        <p:spPr>
          <a:xfrm>
            <a:off x="3931920" y="1426464"/>
            <a:ext cx="2468880" cy="502920"/>
          </a:xfrm>
          <a:prstGeom prst="rect">
            <a:avLst/>
          </a:prstGeom>
          <a:noFill/>
          <a:ln/>
        </p:spPr>
        <p:txBody>
          <a:bodyPr wrap="square" lIns="0" tIns="0" rIns="0" bIns="0" rtlCol="0" anchor="t"/>
          <a:lstStyle/>
          <a:p>
            <a:pPr marL="0" indent="0" algn="ctr">
              <a:buNone/>
            </a:pPr>
            <a:r>
              <a:rPr lang="en-US" sz="1000" i="1" dirty="0">
                <a:solidFill>
                  <a:schemeClr val="accent6"/>
                </a:solidFill>
              </a:rPr>
              <a:t>«cloud node»</a:t>
            </a:r>
            <a:endParaRPr lang="en-US" sz="1000" dirty="0"/>
          </a:p>
          <a:p>
            <a:pPr marL="0" indent="0" algn="ctr">
              <a:buNone/>
            </a:pPr>
            <a:r>
              <a:rPr lang="en-US" sz="1300" b="1" dirty="0">
                <a:solidFill>
                  <a:schemeClr val="tx2"/>
                </a:solidFill>
              </a:rPr>
              <a:t>Vercel</a:t>
            </a:r>
            <a:endParaRPr lang="en-US" sz="1000" dirty="0"/>
          </a:p>
        </p:txBody>
      </p:sp>
      <p:sp>
        <p:nvSpPr>
          <p:cNvPr id="10" name="text-271"/>
          <p:cNvSpPr txBox="1"/>
          <p:nvPr/>
        </p:nvSpPr>
        <p:spPr>
          <a:xfrm>
            <a:off x="3977640" y="2011680"/>
            <a:ext cx="237744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Built React website</a:t>
            </a:r>
            <a:endParaRPr lang="en-US" sz="1000" dirty="0"/>
          </a:p>
        </p:txBody>
      </p:sp>
      <p:sp>
        <p:nvSpPr>
          <p:cNvPr id="11" name="node-depth-272"/>
          <p:cNvSpPr/>
          <p:nvPr/>
        </p:nvSpPr>
        <p:spPr>
          <a:xfrm>
            <a:off x="7863840" y="1280160"/>
            <a:ext cx="2011680" cy="1417320"/>
          </a:xfrm>
          <a:prstGeom prst="rect">
            <a:avLst/>
          </a:prstGeom>
          <a:solidFill>
            <a:srgbClr val="C9D4E3"/>
          </a:solidFill>
          <a:ln w="12700">
            <a:solidFill>
              <a:srgbClr val="0B5394"/>
            </a:solidFill>
            <a:prstDash val="solid"/>
          </a:ln>
        </p:spPr>
      </p:sp>
      <p:sp>
        <p:nvSpPr>
          <p:cNvPr id="12" name="node-273"/>
          <p:cNvSpPr/>
          <p:nvPr/>
        </p:nvSpPr>
        <p:spPr>
          <a:xfrm>
            <a:off x="7772400" y="1371600"/>
            <a:ext cx="2011680" cy="1417320"/>
          </a:xfrm>
          <a:prstGeom prst="rect">
            <a:avLst/>
          </a:prstGeom>
          <a:solidFill>
            <a:schemeClr val="bg1"/>
          </a:solidFill>
          <a:ln w="15875">
            <a:solidFill>
              <a:srgbClr val="0B5394"/>
            </a:solidFill>
            <a:prstDash val="solid"/>
          </a:ln>
        </p:spPr>
      </p:sp>
      <p:sp>
        <p:nvSpPr>
          <p:cNvPr id="13" name="text-274"/>
          <p:cNvSpPr txBox="1"/>
          <p:nvPr/>
        </p:nvSpPr>
        <p:spPr>
          <a:xfrm>
            <a:off x="7863840" y="1426464"/>
            <a:ext cx="1828800" cy="502920"/>
          </a:xfrm>
          <a:prstGeom prst="rect">
            <a:avLst/>
          </a:prstGeom>
          <a:noFill/>
          <a:ln/>
        </p:spPr>
        <p:txBody>
          <a:bodyPr wrap="square" lIns="0" tIns="0" rIns="0" bIns="0" rtlCol="0" anchor="t"/>
          <a:lstStyle/>
          <a:p>
            <a:pPr marL="0" indent="0" algn="ctr">
              <a:buNone/>
            </a:pPr>
            <a:r>
              <a:rPr lang="en-US" sz="1000" i="1" dirty="0">
                <a:solidFill>
                  <a:schemeClr val="accent6"/>
                </a:solidFill>
              </a:rPr>
              <a:t>«database»</a:t>
            </a:r>
            <a:endParaRPr lang="en-US" sz="1000" dirty="0"/>
          </a:p>
          <a:p>
            <a:pPr marL="0" indent="0" algn="ctr">
              <a:buNone/>
            </a:pPr>
            <a:r>
              <a:rPr lang="en-US" sz="1300" b="1" dirty="0">
                <a:solidFill>
                  <a:schemeClr val="tx2"/>
                </a:solidFill>
              </a:rPr>
              <a:t>MongoDB Atlas</a:t>
            </a:r>
            <a:endParaRPr lang="en-US" sz="1000" dirty="0"/>
          </a:p>
        </p:txBody>
      </p:sp>
      <p:sp>
        <p:nvSpPr>
          <p:cNvPr id="14" name="text-275"/>
          <p:cNvSpPr txBox="1"/>
          <p:nvPr/>
        </p:nvSpPr>
        <p:spPr>
          <a:xfrm>
            <a:off x="7909560" y="2011680"/>
            <a:ext cx="173736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All app data</a:t>
            </a:r>
            <a:endParaRPr lang="en-US" sz="1000" dirty="0"/>
          </a:p>
        </p:txBody>
      </p:sp>
      <p:sp>
        <p:nvSpPr>
          <p:cNvPr id="15" name="node-depth-276"/>
          <p:cNvSpPr/>
          <p:nvPr/>
        </p:nvSpPr>
        <p:spPr>
          <a:xfrm>
            <a:off x="3931920" y="3657600"/>
            <a:ext cx="2651760" cy="2011680"/>
          </a:xfrm>
          <a:prstGeom prst="rect">
            <a:avLst/>
          </a:prstGeom>
          <a:solidFill>
            <a:srgbClr val="C9D4E3"/>
          </a:solidFill>
          <a:ln w="12700">
            <a:solidFill>
              <a:srgbClr val="0B5394"/>
            </a:solidFill>
            <a:prstDash val="solid"/>
          </a:ln>
        </p:spPr>
      </p:sp>
      <p:sp>
        <p:nvSpPr>
          <p:cNvPr id="16" name="node-277"/>
          <p:cNvSpPr/>
          <p:nvPr/>
        </p:nvSpPr>
        <p:spPr>
          <a:xfrm>
            <a:off x="3840480" y="3749040"/>
            <a:ext cx="2651760" cy="2011680"/>
          </a:xfrm>
          <a:prstGeom prst="rect">
            <a:avLst/>
          </a:prstGeom>
          <a:solidFill>
            <a:schemeClr val="bg1"/>
          </a:solidFill>
          <a:ln w="15875">
            <a:solidFill>
              <a:srgbClr val="0B5394"/>
            </a:solidFill>
            <a:prstDash val="solid"/>
          </a:ln>
        </p:spPr>
      </p:sp>
      <p:sp>
        <p:nvSpPr>
          <p:cNvPr id="17" name="text-278"/>
          <p:cNvSpPr txBox="1"/>
          <p:nvPr/>
        </p:nvSpPr>
        <p:spPr>
          <a:xfrm>
            <a:off x="3931920" y="3803904"/>
            <a:ext cx="2468880" cy="502920"/>
          </a:xfrm>
          <a:prstGeom prst="rect">
            <a:avLst/>
          </a:prstGeom>
          <a:noFill/>
          <a:ln/>
        </p:spPr>
        <p:txBody>
          <a:bodyPr wrap="square" lIns="0" tIns="0" rIns="0" bIns="0" rtlCol="0" anchor="t"/>
          <a:lstStyle/>
          <a:p>
            <a:pPr marL="0" indent="0" algn="ctr">
              <a:buNone/>
            </a:pPr>
            <a:r>
              <a:rPr lang="en-US" sz="1000" i="1" dirty="0">
                <a:solidFill>
                  <a:schemeClr val="accent6"/>
                </a:solidFill>
              </a:rPr>
              <a:t>«execution env»</a:t>
            </a:r>
            <a:endParaRPr lang="en-US" sz="1000" dirty="0"/>
          </a:p>
          <a:p>
            <a:pPr marL="0" indent="0" algn="ctr">
              <a:buNone/>
            </a:pPr>
            <a:r>
              <a:rPr lang="en-US" sz="1300" b="1" dirty="0">
                <a:solidFill>
                  <a:schemeClr val="tx2"/>
                </a:solidFill>
              </a:rPr>
              <a:t>Render: Backend</a:t>
            </a:r>
            <a:endParaRPr lang="en-US" sz="1000" dirty="0"/>
          </a:p>
        </p:txBody>
      </p:sp>
      <p:sp>
        <p:nvSpPr>
          <p:cNvPr id="18" name="text-279"/>
          <p:cNvSpPr txBox="1"/>
          <p:nvPr/>
        </p:nvSpPr>
        <p:spPr>
          <a:xfrm>
            <a:off x="3977640" y="4389120"/>
            <a:ext cx="237744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Backend code (Node.js)</a:t>
            </a:r>
            <a:endParaRPr lang="en-US" sz="1000" dirty="0"/>
          </a:p>
        </p:txBody>
      </p:sp>
      <p:sp>
        <p:nvSpPr>
          <p:cNvPr id="19" name="text-280"/>
          <p:cNvSpPr txBox="1"/>
          <p:nvPr/>
        </p:nvSpPr>
        <p:spPr>
          <a:xfrm>
            <a:off x="3977640" y="4782312"/>
            <a:ext cx="237744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Reminder jobs</a:t>
            </a:r>
            <a:endParaRPr lang="en-US" sz="1000" dirty="0"/>
          </a:p>
        </p:txBody>
      </p:sp>
      <p:sp>
        <p:nvSpPr>
          <p:cNvPr id="20" name="text-281"/>
          <p:cNvSpPr txBox="1"/>
          <p:nvPr/>
        </p:nvSpPr>
        <p:spPr>
          <a:xfrm>
            <a:off x="3977640" y="5175504"/>
            <a:ext cx="237744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Hidden keys &amp; passwords</a:t>
            </a:r>
            <a:endParaRPr lang="en-US" sz="1000" dirty="0"/>
          </a:p>
        </p:txBody>
      </p:sp>
      <p:sp>
        <p:nvSpPr>
          <p:cNvPr id="21" name="node-depth-282"/>
          <p:cNvSpPr/>
          <p:nvPr/>
        </p:nvSpPr>
        <p:spPr>
          <a:xfrm>
            <a:off x="7863840" y="3657600"/>
            <a:ext cx="2011680" cy="2011680"/>
          </a:xfrm>
          <a:prstGeom prst="rect">
            <a:avLst/>
          </a:prstGeom>
          <a:solidFill>
            <a:srgbClr val="C9D4E3"/>
          </a:solidFill>
          <a:ln w="12700">
            <a:solidFill>
              <a:srgbClr val="0B5394"/>
            </a:solidFill>
            <a:prstDash val="solid"/>
          </a:ln>
        </p:spPr>
      </p:sp>
      <p:sp>
        <p:nvSpPr>
          <p:cNvPr id="22" name="node-283"/>
          <p:cNvSpPr/>
          <p:nvPr/>
        </p:nvSpPr>
        <p:spPr>
          <a:xfrm>
            <a:off x="7772400" y="3749040"/>
            <a:ext cx="2011680" cy="2011680"/>
          </a:xfrm>
          <a:prstGeom prst="rect">
            <a:avLst/>
          </a:prstGeom>
          <a:solidFill>
            <a:schemeClr val="bg1"/>
          </a:solidFill>
          <a:ln w="15875">
            <a:solidFill>
              <a:srgbClr val="0B5394"/>
            </a:solidFill>
            <a:prstDash val="solid"/>
          </a:ln>
        </p:spPr>
      </p:sp>
      <p:sp>
        <p:nvSpPr>
          <p:cNvPr id="23" name="text-284"/>
          <p:cNvSpPr txBox="1"/>
          <p:nvPr/>
        </p:nvSpPr>
        <p:spPr>
          <a:xfrm>
            <a:off x="7863840" y="3803904"/>
            <a:ext cx="1828800" cy="502920"/>
          </a:xfrm>
          <a:prstGeom prst="rect">
            <a:avLst/>
          </a:prstGeom>
          <a:noFill/>
          <a:ln/>
        </p:spPr>
        <p:txBody>
          <a:bodyPr wrap="square" lIns="0" tIns="0" rIns="0" bIns="0" rtlCol="0" anchor="t"/>
          <a:lstStyle/>
          <a:p>
            <a:pPr marL="0" indent="0" algn="ctr">
              <a:buNone/>
            </a:pPr>
            <a:r>
              <a:rPr lang="en-US" sz="1000" i="1" dirty="0">
                <a:solidFill>
                  <a:schemeClr val="accent6"/>
                </a:solidFill>
              </a:rPr>
              <a:t>«execution env»</a:t>
            </a:r>
            <a:endParaRPr lang="en-US" sz="1000" dirty="0"/>
          </a:p>
          <a:p>
            <a:pPr marL="0" indent="0" algn="ctr">
              <a:buNone/>
            </a:pPr>
            <a:r>
              <a:rPr lang="en-US" sz="1300" b="1" dirty="0">
                <a:solidFill>
                  <a:schemeClr val="tx2"/>
                </a:solidFill>
              </a:rPr>
              <a:t>Render: ML Service</a:t>
            </a:r>
            <a:endParaRPr lang="en-US" sz="1000" dirty="0"/>
          </a:p>
        </p:txBody>
      </p:sp>
      <p:sp>
        <p:nvSpPr>
          <p:cNvPr id="24" name="text-285"/>
          <p:cNvSpPr txBox="1"/>
          <p:nvPr/>
        </p:nvSpPr>
        <p:spPr>
          <a:xfrm>
            <a:off x="7909560" y="4389120"/>
            <a:ext cx="173736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Scoring code (Python)</a:t>
            </a:r>
            <a:endParaRPr lang="en-US" sz="1000" dirty="0"/>
          </a:p>
        </p:txBody>
      </p:sp>
      <p:sp>
        <p:nvSpPr>
          <p:cNvPr id="25" name="text-286"/>
          <p:cNvSpPr txBox="1"/>
          <p:nvPr/>
        </p:nvSpPr>
        <p:spPr>
          <a:xfrm>
            <a:off x="7909560" y="4782312"/>
            <a:ext cx="173736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Trained ML model</a:t>
            </a:r>
            <a:endParaRPr lang="en-US" sz="1000" dirty="0"/>
          </a:p>
        </p:txBody>
      </p:sp>
      <p:sp>
        <p:nvSpPr>
          <p:cNvPr id="26" name="text-287"/>
          <p:cNvSpPr txBox="1"/>
          <p:nvPr/>
        </p:nvSpPr>
        <p:spPr>
          <a:xfrm>
            <a:off x="7909560" y="5175504"/>
            <a:ext cx="1737360"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Web server (Uvicorn)</a:t>
            </a:r>
            <a:endParaRPr lang="en-US" sz="1000" dirty="0"/>
          </a:p>
        </p:txBody>
      </p:sp>
      <p:sp>
        <p:nvSpPr>
          <p:cNvPr id="27" name="node-depth-288"/>
          <p:cNvSpPr/>
          <p:nvPr/>
        </p:nvSpPr>
        <p:spPr>
          <a:xfrm>
            <a:off x="10241280" y="1280160"/>
            <a:ext cx="1490472" cy="4389120"/>
          </a:xfrm>
          <a:prstGeom prst="rect">
            <a:avLst/>
          </a:prstGeom>
          <a:solidFill>
            <a:srgbClr val="C9D4E3"/>
          </a:solidFill>
          <a:ln w="12700">
            <a:solidFill>
              <a:srgbClr val="0B5394"/>
            </a:solidFill>
            <a:prstDash val="solid"/>
          </a:ln>
        </p:spPr>
      </p:sp>
      <p:sp>
        <p:nvSpPr>
          <p:cNvPr id="28" name="node-289"/>
          <p:cNvSpPr/>
          <p:nvPr/>
        </p:nvSpPr>
        <p:spPr>
          <a:xfrm>
            <a:off x="10149840" y="1371600"/>
            <a:ext cx="1490472" cy="4389120"/>
          </a:xfrm>
          <a:prstGeom prst="rect">
            <a:avLst/>
          </a:prstGeom>
          <a:solidFill>
            <a:schemeClr val="bg1"/>
          </a:solidFill>
          <a:ln w="15875">
            <a:solidFill>
              <a:srgbClr val="0B5394"/>
            </a:solidFill>
            <a:prstDash val="solid"/>
          </a:ln>
        </p:spPr>
      </p:sp>
      <p:sp>
        <p:nvSpPr>
          <p:cNvPr id="29" name="text-290"/>
          <p:cNvSpPr txBox="1"/>
          <p:nvPr/>
        </p:nvSpPr>
        <p:spPr>
          <a:xfrm>
            <a:off x="10241280" y="1426464"/>
            <a:ext cx="1307592" cy="502920"/>
          </a:xfrm>
          <a:prstGeom prst="rect">
            <a:avLst/>
          </a:prstGeom>
          <a:noFill/>
          <a:ln/>
        </p:spPr>
        <p:txBody>
          <a:bodyPr wrap="square" lIns="0" tIns="0" rIns="0" bIns="0" rtlCol="0" anchor="t"/>
          <a:lstStyle/>
          <a:p>
            <a:pPr marL="0" indent="0" algn="ctr">
              <a:buNone/>
            </a:pPr>
            <a:r>
              <a:rPr lang="en-US" sz="1000" i="1" dirty="0">
                <a:solidFill>
                  <a:schemeClr val="accent6"/>
                </a:solidFill>
              </a:rPr>
              <a:t>«external»</a:t>
            </a:r>
            <a:endParaRPr lang="en-US" sz="1000" dirty="0"/>
          </a:p>
          <a:p>
            <a:pPr marL="0" indent="0" algn="ctr">
              <a:buNone/>
            </a:pPr>
            <a:r>
              <a:rPr lang="en-US" sz="1300" b="1" dirty="0">
                <a:solidFill>
                  <a:schemeClr val="tx2"/>
                </a:solidFill>
              </a:rPr>
              <a:t>Online services</a:t>
            </a:r>
            <a:endParaRPr lang="en-US" sz="1000" dirty="0"/>
          </a:p>
        </p:txBody>
      </p:sp>
      <p:sp>
        <p:nvSpPr>
          <p:cNvPr id="30" name="text-291"/>
          <p:cNvSpPr txBox="1"/>
          <p:nvPr/>
        </p:nvSpPr>
        <p:spPr>
          <a:xfrm>
            <a:off x="10287000" y="2011680"/>
            <a:ext cx="1216152"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Gemini</a:t>
            </a:r>
            <a:endParaRPr lang="en-US" sz="1000" dirty="0"/>
          </a:p>
        </p:txBody>
      </p:sp>
      <p:sp>
        <p:nvSpPr>
          <p:cNvPr id="31" name="text-292"/>
          <p:cNvSpPr txBox="1"/>
          <p:nvPr/>
        </p:nvSpPr>
        <p:spPr>
          <a:xfrm>
            <a:off x="10287000" y="2404872"/>
            <a:ext cx="1216152"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Cloudinary</a:t>
            </a:r>
            <a:endParaRPr lang="en-US" sz="1000" dirty="0"/>
          </a:p>
        </p:txBody>
      </p:sp>
      <p:sp>
        <p:nvSpPr>
          <p:cNvPr id="32" name="text-293"/>
          <p:cNvSpPr txBox="1"/>
          <p:nvPr/>
        </p:nvSpPr>
        <p:spPr>
          <a:xfrm>
            <a:off x="10287000" y="2798064"/>
            <a:ext cx="1216152"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Firebase</a:t>
            </a:r>
            <a:endParaRPr lang="en-US" sz="1000" dirty="0"/>
          </a:p>
        </p:txBody>
      </p:sp>
      <p:sp>
        <p:nvSpPr>
          <p:cNvPr id="33" name="text-294"/>
          <p:cNvSpPr txBox="1"/>
          <p:nvPr/>
        </p:nvSpPr>
        <p:spPr>
          <a:xfrm>
            <a:off x="10287000" y="3191256"/>
            <a:ext cx="1216152" cy="329184"/>
          </a:xfrm>
          <a:prstGeom prst="rect">
            <a:avLst/>
          </a:prstGeom>
          <a:solidFill>
            <a:schemeClr val="bg2"/>
          </a:solidFill>
          <a:ln w="9525">
            <a:solidFill>
              <a:srgbClr val="C9D4E3"/>
            </a:solidFill>
          </a:ln>
        </p:spPr>
        <p:txBody>
          <a:bodyPr wrap="square" lIns="76200" tIns="0" rIns="76200" bIns="0" rtlCol="0" anchor="ctr"/>
          <a:lstStyle/>
          <a:p>
            <a:pPr marL="0" indent="0">
              <a:buNone/>
            </a:pPr>
            <a:r>
              <a:rPr lang="en-US" sz="1000" i="1" dirty="0">
                <a:solidFill>
                  <a:schemeClr val="accent6"/>
                </a:solidFill>
              </a:rPr>
              <a:t>«artifact» </a:t>
            </a:r>
            <a:r>
              <a:rPr lang="en-US" sz="1000" dirty="0">
                <a:solidFill>
                  <a:schemeClr val="tx1"/>
                </a:solidFill>
              </a:rPr>
              <a:t>SMS Hub India</a:t>
            </a:r>
            <a:endParaRPr lang="en-US" sz="1000" dirty="0"/>
          </a:p>
        </p:txBody>
      </p:sp>
      <p:sp>
        <p:nvSpPr>
          <p:cNvPr id="34" name="comm-path-295"/>
          <p:cNvSpPr/>
          <p:nvPr/>
        </p:nvSpPr>
        <p:spPr>
          <a:xfrm>
            <a:off x="2926080" y="2057400"/>
            <a:ext cx="914400" cy="0"/>
          </a:xfrm>
          <a:prstGeom prst="line">
            <a:avLst/>
          </a:prstGeom>
          <a:noFill/>
          <a:ln w="15875">
            <a:solidFill>
              <a:srgbClr val="14213D"/>
            </a:solidFill>
            <a:prstDash val="solid"/>
          </a:ln>
        </p:spPr>
      </p:sp>
      <p:sp>
        <p:nvSpPr>
          <p:cNvPr id="35" name="text-296"/>
          <p:cNvSpPr txBox="1"/>
          <p:nvPr/>
        </p:nvSpPr>
        <p:spPr>
          <a:xfrm>
            <a:off x="3108960" y="1755648"/>
            <a:ext cx="731520" cy="274320"/>
          </a:xfrm>
          <a:prstGeom prst="rect">
            <a:avLst/>
          </a:prstGeom>
          <a:noFill/>
          <a:ln/>
        </p:spPr>
        <p:txBody>
          <a:bodyPr wrap="square" lIns="0" tIns="0" rIns="0" bIns="0" rtlCol="0" anchor="ctr"/>
          <a:lstStyle/>
          <a:p>
            <a:pPr marL="0" indent="0">
              <a:buNone/>
            </a:pPr>
            <a:r>
              <a:rPr lang="en-US" sz="1000" b="1" dirty="0">
                <a:solidFill>
                  <a:schemeClr val="accent1"/>
                </a:solidFill>
              </a:rPr>
              <a:t>loads site</a:t>
            </a:r>
            <a:endParaRPr lang="en-US" sz="1000" dirty="0"/>
          </a:p>
        </p:txBody>
      </p:sp>
      <p:sp>
        <p:nvSpPr>
          <p:cNvPr id="36" name="comm-path-297"/>
          <p:cNvSpPr/>
          <p:nvPr/>
        </p:nvSpPr>
        <p:spPr>
          <a:xfrm>
            <a:off x="1737360" y="2788920"/>
            <a:ext cx="0" cy="1965960"/>
          </a:xfrm>
          <a:prstGeom prst="line">
            <a:avLst/>
          </a:prstGeom>
          <a:noFill/>
          <a:ln w="15875">
            <a:solidFill>
              <a:srgbClr val="14213D"/>
            </a:solidFill>
            <a:prstDash val="solid"/>
          </a:ln>
        </p:spPr>
      </p:sp>
      <p:sp>
        <p:nvSpPr>
          <p:cNvPr id="37" name="comm-path-298"/>
          <p:cNvSpPr/>
          <p:nvPr/>
        </p:nvSpPr>
        <p:spPr>
          <a:xfrm>
            <a:off x="1737360" y="4754880"/>
            <a:ext cx="2103120" cy="0"/>
          </a:xfrm>
          <a:prstGeom prst="line">
            <a:avLst/>
          </a:prstGeom>
          <a:noFill/>
          <a:ln w="15875">
            <a:solidFill>
              <a:srgbClr val="14213D"/>
            </a:solidFill>
            <a:prstDash val="solid"/>
          </a:ln>
        </p:spPr>
      </p:sp>
      <p:sp>
        <p:nvSpPr>
          <p:cNvPr id="38" name="text-299"/>
          <p:cNvSpPr txBox="1"/>
          <p:nvPr/>
        </p:nvSpPr>
        <p:spPr>
          <a:xfrm>
            <a:off x="1828800" y="4434840"/>
            <a:ext cx="2011680" cy="274320"/>
          </a:xfrm>
          <a:prstGeom prst="rect">
            <a:avLst/>
          </a:prstGeom>
          <a:noFill/>
          <a:ln/>
        </p:spPr>
        <p:txBody>
          <a:bodyPr wrap="square" lIns="0" tIns="0" rIns="0" bIns="0" rtlCol="0" anchor="ctr"/>
          <a:lstStyle/>
          <a:p>
            <a:pPr marL="0" indent="0">
              <a:buNone/>
            </a:pPr>
            <a:r>
              <a:rPr lang="en-US" sz="1000" b="1" dirty="0">
                <a:solidFill>
                  <a:schemeClr val="accent1"/>
                </a:solidFill>
              </a:rPr>
              <a:t>sends &amp; gets data</a:t>
            </a:r>
            <a:endParaRPr lang="en-US" sz="1000" dirty="0"/>
          </a:p>
        </p:txBody>
      </p:sp>
      <p:sp>
        <p:nvSpPr>
          <p:cNvPr id="39" name="comm-path-300"/>
          <p:cNvSpPr/>
          <p:nvPr/>
        </p:nvSpPr>
        <p:spPr>
          <a:xfrm>
            <a:off x="6492240" y="4754880"/>
            <a:ext cx="1280160" cy="0"/>
          </a:xfrm>
          <a:prstGeom prst="line">
            <a:avLst/>
          </a:prstGeom>
          <a:noFill/>
          <a:ln w="15875">
            <a:solidFill>
              <a:srgbClr val="14213D"/>
            </a:solidFill>
            <a:prstDash val="solid"/>
          </a:ln>
        </p:spPr>
      </p:sp>
      <p:sp>
        <p:nvSpPr>
          <p:cNvPr id="40" name="text-301"/>
          <p:cNvSpPr txBox="1"/>
          <p:nvPr/>
        </p:nvSpPr>
        <p:spPr>
          <a:xfrm>
            <a:off x="6675120" y="4818888"/>
            <a:ext cx="1097280" cy="274320"/>
          </a:xfrm>
          <a:prstGeom prst="rect">
            <a:avLst/>
          </a:prstGeom>
          <a:noFill/>
          <a:ln/>
        </p:spPr>
        <p:txBody>
          <a:bodyPr wrap="square" lIns="0" tIns="0" rIns="0" bIns="0" rtlCol="0" anchor="ctr"/>
          <a:lstStyle/>
          <a:p>
            <a:pPr marL="0" indent="0">
              <a:buNone/>
            </a:pPr>
            <a:r>
              <a:rPr lang="en-US" sz="1000" b="1" dirty="0">
                <a:solidFill>
                  <a:schemeClr val="accent1"/>
                </a:solidFill>
              </a:rPr>
              <a:t>asks for</a:t>
            </a:r>
            <a:endParaRPr lang="en-US" sz="1000" dirty="0"/>
          </a:p>
          <a:p>
            <a:pPr marL="0" indent="0">
              <a:buNone/>
            </a:pPr>
            <a:r>
              <a:rPr lang="en-US" sz="1000" b="1" dirty="0">
                <a:solidFill>
                  <a:schemeClr val="accent1"/>
                </a:solidFill>
              </a:rPr>
              <a:t>a score</a:t>
            </a:r>
            <a:endParaRPr lang="en-US" sz="1000" dirty="0"/>
          </a:p>
        </p:txBody>
      </p:sp>
      <p:sp>
        <p:nvSpPr>
          <p:cNvPr id="41" name="comm-path-302"/>
          <p:cNvSpPr/>
          <p:nvPr/>
        </p:nvSpPr>
        <p:spPr>
          <a:xfrm>
            <a:off x="6492240" y="4114800"/>
            <a:ext cx="685800" cy="0"/>
          </a:xfrm>
          <a:prstGeom prst="line">
            <a:avLst/>
          </a:prstGeom>
          <a:noFill/>
          <a:ln w="15875">
            <a:solidFill>
              <a:srgbClr val="14213D"/>
            </a:solidFill>
            <a:prstDash val="solid"/>
          </a:ln>
        </p:spPr>
      </p:sp>
      <p:sp>
        <p:nvSpPr>
          <p:cNvPr id="42" name="comm-path-303"/>
          <p:cNvSpPr/>
          <p:nvPr/>
        </p:nvSpPr>
        <p:spPr>
          <a:xfrm>
            <a:off x="7178040" y="2057400"/>
            <a:ext cx="0" cy="2057400"/>
          </a:xfrm>
          <a:prstGeom prst="line">
            <a:avLst/>
          </a:prstGeom>
          <a:noFill/>
          <a:ln w="15875">
            <a:solidFill>
              <a:srgbClr val="14213D"/>
            </a:solidFill>
            <a:prstDash val="solid"/>
          </a:ln>
        </p:spPr>
      </p:sp>
      <p:sp>
        <p:nvSpPr>
          <p:cNvPr id="43" name="comm-path-304"/>
          <p:cNvSpPr/>
          <p:nvPr/>
        </p:nvSpPr>
        <p:spPr>
          <a:xfrm>
            <a:off x="7178040" y="2057400"/>
            <a:ext cx="594360" cy="0"/>
          </a:xfrm>
          <a:prstGeom prst="line">
            <a:avLst/>
          </a:prstGeom>
          <a:noFill/>
          <a:ln w="15875">
            <a:solidFill>
              <a:srgbClr val="14213D"/>
            </a:solidFill>
            <a:prstDash val="solid"/>
          </a:ln>
        </p:spPr>
      </p:sp>
      <p:sp>
        <p:nvSpPr>
          <p:cNvPr id="44" name="text-305"/>
          <p:cNvSpPr txBox="1"/>
          <p:nvPr/>
        </p:nvSpPr>
        <p:spPr>
          <a:xfrm>
            <a:off x="7269480" y="3108960"/>
            <a:ext cx="1828800" cy="274320"/>
          </a:xfrm>
          <a:prstGeom prst="rect">
            <a:avLst/>
          </a:prstGeom>
          <a:noFill/>
          <a:ln/>
        </p:spPr>
        <p:txBody>
          <a:bodyPr wrap="square" lIns="0" tIns="0" rIns="0" bIns="0" rtlCol="0" anchor="ctr"/>
          <a:lstStyle/>
          <a:p>
            <a:pPr marL="0" indent="0">
              <a:buNone/>
            </a:pPr>
            <a:r>
              <a:rPr lang="en-US" sz="1000" b="1" dirty="0">
                <a:solidFill>
                  <a:schemeClr val="accent1"/>
                </a:solidFill>
              </a:rPr>
              <a:t>reads &amp; saves data</a:t>
            </a:r>
            <a:endParaRPr lang="en-US" sz="1000" dirty="0"/>
          </a:p>
        </p:txBody>
      </p:sp>
      <p:sp>
        <p:nvSpPr>
          <p:cNvPr id="45" name="comm-path-306"/>
          <p:cNvSpPr/>
          <p:nvPr/>
        </p:nvSpPr>
        <p:spPr>
          <a:xfrm>
            <a:off x="5166360" y="5760720"/>
            <a:ext cx="0" cy="274320"/>
          </a:xfrm>
          <a:prstGeom prst="line">
            <a:avLst/>
          </a:prstGeom>
          <a:noFill/>
          <a:ln w="15875">
            <a:solidFill>
              <a:srgbClr val="14213D"/>
            </a:solidFill>
            <a:prstDash val="solid"/>
          </a:ln>
        </p:spPr>
      </p:sp>
      <p:sp>
        <p:nvSpPr>
          <p:cNvPr id="46" name="comm-path-307"/>
          <p:cNvSpPr/>
          <p:nvPr/>
        </p:nvSpPr>
        <p:spPr>
          <a:xfrm>
            <a:off x="5166360" y="6035040"/>
            <a:ext cx="5733288" cy="0"/>
          </a:xfrm>
          <a:prstGeom prst="line">
            <a:avLst/>
          </a:prstGeom>
          <a:noFill/>
          <a:ln w="15875">
            <a:solidFill>
              <a:srgbClr val="14213D"/>
            </a:solidFill>
            <a:prstDash val="solid"/>
          </a:ln>
        </p:spPr>
      </p:sp>
      <p:sp>
        <p:nvSpPr>
          <p:cNvPr id="47" name="comm-path-308"/>
          <p:cNvSpPr/>
          <p:nvPr/>
        </p:nvSpPr>
        <p:spPr>
          <a:xfrm>
            <a:off x="10899648" y="5760720"/>
            <a:ext cx="0" cy="274320"/>
          </a:xfrm>
          <a:prstGeom prst="line">
            <a:avLst/>
          </a:prstGeom>
          <a:noFill/>
          <a:ln w="15875">
            <a:solidFill>
              <a:srgbClr val="14213D"/>
            </a:solidFill>
            <a:prstDash val="solid"/>
          </a:ln>
        </p:spPr>
      </p:sp>
      <p:sp>
        <p:nvSpPr>
          <p:cNvPr id="48" name="text-309"/>
          <p:cNvSpPr txBox="1"/>
          <p:nvPr/>
        </p:nvSpPr>
        <p:spPr>
          <a:xfrm>
            <a:off x="6949440" y="6053328"/>
            <a:ext cx="2743200" cy="274320"/>
          </a:xfrm>
          <a:prstGeom prst="rect">
            <a:avLst/>
          </a:prstGeom>
          <a:noFill/>
          <a:ln/>
        </p:spPr>
        <p:txBody>
          <a:bodyPr wrap="square" lIns="0" tIns="0" rIns="0" bIns="0" rtlCol="0" anchor="ctr"/>
          <a:lstStyle/>
          <a:p>
            <a:pPr marL="0" indent="0">
              <a:buNone/>
            </a:pPr>
            <a:r>
              <a:rPr lang="en-US" sz="1000" b="1" dirty="0">
                <a:solidFill>
                  <a:schemeClr val="accent1"/>
                </a:solidFill>
              </a:rPr>
              <a:t>uses online services</a:t>
            </a:r>
            <a:endParaRPr lang="en-US" sz="1000" dirty="0"/>
          </a:p>
        </p:txBody>
      </p:sp>
      <p:sp>
        <p:nvSpPr>
          <p:cNvPr id="4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bg1"/>
                </a:solidFill>
                <a:latin typeface="Cambria" pitchFamily="34" charset="0"/>
                <a:ea typeface="Cambria" pitchFamily="34" charset="-122"/>
                <a:cs typeface="Cambria" pitchFamily="34" charset="-120"/>
              </a:rPr>
              <a:t>100% Working Live System Demo</a:t>
            </a: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Testing, Benchmarking &amp; Performance</a:t>
            </a:r>
            <a:endParaRPr lang="en-US" sz="3200" dirty="0"/>
          </a:p>
        </p:txBody>
      </p:sp>
      <p:sp>
        <p:nvSpPr>
          <p:cNvPr id="3" name="card-326"/>
          <p:cNvSpPr/>
          <p:nvPr/>
        </p:nvSpPr>
        <p:spPr>
          <a:xfrm>
            <a:off x="548640" y="1234440"/>
            <a:ext cx="2615184" cy="1097280"/>
          </a:xfrm>
          <a:prstGeom prst="roundRect">
            <a:avLst>
              <a:gd name="adj" fmla="val 8333"/>
            </a:avLst>
          </a:prstGeom>
          <a:solidFill>
            <a:schemeClr val="bg2"/>
          </a:solidFill>
          <a:ln/>
        </p:spPr>
      </p:sp>
      <p:sp>
        <p:nvSpPr>
          <p:cNvPr id="4" name="text-327"/>
          <p:cNvSpPr txBox="1"/>
          <p:nvPr/>
        </p:nvSpPr>
        <p:spPr>
          <a:xfrm>
            <a:off x="731520" y="1298448"/>
            <a:ext cx="2286000" cy="59436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4.0 ms</a:t>
            </a:r>
            <a:endParaRPr lang="en-US" sz="3000" dirty="0"/>
          </a:p>
        </p:txBody>
      </p:sp>
      <p:sp>
        <p:nvSpPr>
          <p:cNvPr id="5" name="text-328"/>
          <p:cNvSpPr txBox="1"/>
          <p:nvPr/>
        </p:nvSpPr>
        <p:spPr>
          <a:xfrm>
            <a:off x="731520" y="1874520"/>
            <a:ext cx="2331720" cy="365760"/>
          </a:xfrm>
          <a:prstGeom prst="rect">
            <a:avLst/>
          </a:prstGeom>
          <a:noFill/>
          <a:ln/>
        </p:spPr>
        <p:txBody>
          <a:bodyPr wrap="square" lIns="0" tIns="0" rIns="0" bIns="0" rtlCol="0" anchor="ctr"/>
          <a:lstStyle/>
          <a:p>
            <a:pPr marL="0" indent="0">
              <a:buNone/>
            </a:pPr>
            <a:r>
              <a:rPr lang="en-US" sz="1200" dirty="0">
                <a:solidFill>
                  <a:schemeClr val="accent6"/>
                </a:solidFill>
              </a:rPr>
              <a:t>time to score one lead (ML)</a:t>
            </a:r>
            <a:endParaRPr lang="en-US" sz="1200" dirty="0"/>
          </a:p>
        </p:txBody>
      </p:sp>
      <p:sp>
        <p:nvSpPr>
          <p:cNvPr id="6" name="card-329"/>
          <p:cNvSpPr/>
          <p:nvPr/>
        </p:nvSpPr>
        <p:spPr>
          <a:xfrm>
            <a:off x="3374136" y="1234440"/>
            <a:ext cx="2615184" cy="1097280"/>
          </a:xfrm>
          <a:prstGeom prst="roundRect">
            <a:avLst>
              <a:gd name="adj" fmla="val 8333"/>
            </a:avLst>
          </a:prstGeom>
          <a:solidFill>
            <a:schemeClr val="bg2"/>
          </a:solidFill>
          <a:ln/>
        </p:spPr>
      </p:sp>
      <p:sp>
        <p:nvSpPr>
          <p:cNvPr id="7" name="text-330"/>
          <p:cNvSpPr txBox="1"/>
          <p:nvPr/>
        </p:nvSpPr>
        <p:spPr>
          <a:xfrm>
            <a:off x="3557016" y="1298448"/>
            <a:ext cx="2286000" cy="59436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≈270 / s</a:t>
            </a:r>
            <a:endParaRPr lang="en-US" sz="3000" dirty="0"/>
          </a:p>
        </p:txBody>
      </p:sp>
      <p:sp>
        <p:nvSpPr>
          <p:cNvPr id="8" name="text-331"/>
          <p:cNvSpPr txBox="1"/>
          <p:nvPr/>
        </p:nvSpPr>
        <p:spPr>
          <a:xfrm>
            <a:off x="3557016" y="1874520"/>
            <a:ext cx="2331720" cy="365760"/>
          </a:xfrm>
          <a:prstGeom prst="rect">
            <a:avLst/>
          </a:prstGeom>
          <a:noFill/>
          <a:ln/>
        </p:spPr>
        <p:txBody>
          <a:bodyPr wrap="square" lIns="0" tIns="0" rIns="0" bIns="0" rtlCol="0" anchor="ctr"/>
          <a:lstStyle/>
          <a:p>
            <a:pPr marL="0" indent="0">
              <a:buNone/>
            </a:pPr>
            <a:r>
              <a:rPr lang="en-US" sz="1200" dirty="0">
                <a:solidFill>
                  <a:schemeClr val="accent6"/>
                </a:solidFill>
              </a:rPr>
              <a:t>leads scored per second, 1 worker</a:t>
            </a:r>
            <a:endParaRPr lang="en-US" sz="1200" dirty="0"/>
          </a:p>
        </p:txBody>
      </p:sp>
      <p:sp>
        <p:nvSpPr>
          <p:cNvPr id="9" name="card-332"/>
          <p:cNvSpPr/>
          <p:nvPr/>
        </p:nvSpPr>
        <p:spPr>
          <a:xfrm>
            <a:off x="6199632" y="1234440"/>
            <a:ext cx="2615184" cy="1097280"/>
          </a:xfrm>
          <a:prstGeom prst="roundRect">
            <a:avLst>
              <a:gd name="adj" fmla="val 8333"/>
            </a:avLst>
          </a:prstGeom>
          <a:solidFill>
            <a:schemeClr val="bg2"/>
          </a:solidFill>
          <a:ln/>
        </p:spPr>
      </p:sp>
      <p:sp>
        <p:nvSpPr>
          <p:cNvPr id="10" name="text-333"/>
          <p:cNvSpPr txBox="1"/>
          <p:nvPr/>
        </p:nvSpPr>
        <p:spPr>
          <a:xfrm>
            <a:off x="6382512" y="1298448"/>
            <a:ext cx="2286000" cy="59436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120 ms</a:t>
            </a:r>
            <a:endParaRPr lang="en-US" sz="3000" dirty="0"/>
          </a:p>
        </p:txBody>
      </p:sp>
      <p:sp>
        <p:nvSpPr>
          <p:cNvPr id="11" name="text-334"/>
          <p:cNvSpPr txBox="1"/>
          <p:nvPr/>
        </p:nvSpPr>
        <p:spPr>
          <a:xfrm>
            <a:off x="6382512" y="1874520"/>
            <a:ext cx="2331720" cy="365760"/>
          </a:xfrm>
          <a:prstGeom prst="rect">
            <a:avLst/>
          </a:prstGeom>
          <a:noFill/>
          <a:ln/>
        </p:spPr>
        <p:txBody>
          <a:bodyPr wrap="square" lIns="0" tIns="0" rIns="0" bIns="0" rtlCol="0" anchor="ctr"/>
          <a:lstStyle/>
          <a:p>
            <a:pPr marL="0" indent="0">
              <a:buNone/>
            </a:pPr>
            <a:r>
              <a:rPr lang="en-US" sz="1200" dirty="0">
                <a:solidFill>
                  <a:schemeClr val="accent6"/>
                </a:solidFill>
              </a:rPr>
              <a:t>to load the leads list (typical)</a:t>
            </a:r>
            <a:endParaRPr lang="en-US" sz="1200" dirty="0"/>
          </a:p>
        </p:txBody>
      </p:sp>
      <p:sp>
        <p:nvSpPr>
          <p:cNvPr id="12" name="card-335"/>
          <p:cNvSpPr/>
          <p:nvPr/>
        </p:nvSpPr>
        <p:spPr>
          <a:xfrm>
            <a:off x="9025128" y="1234440"/>
            <a:ext cx="2615184" cy="1097280"/>
          </a:xfrm>
          <a:prstGeom prst="roundRect">
            <a:avLst>
              <a:gd name="adj" fmla="val 8333"/>
            </a:avLst>
          </a:prstGeom>
          <a:solidFill>
            <a:schemeClr val="bg2"/>
          </a:solidFill>
          <a:ln/>
        </p:spPr>
      </p:sp>
      <p:sp>
        <p:nvSpPr>
          <p:cNvPr id="13" name="text-336"/>
          <p:cNvSpPr txBox="1"/>
          <p:nvPr/>
        </p:nvSpPr>
        <p:spPr>
          <a:xfrm>
            <a:off x="9208008" y="1298448"/>
            <a:ext cx="2286000" cy="59436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0.83</a:t>
            </a:r>
            <a:endParaRPr lang="en-US" sz="3000" dirty="0"/>
          </a:p>
        </p:txBody>
      </p:sp>
      <p:sp>
        <p:nvSpPr>
          <p:cNvPr id="14" name="text-337"/>
          <p:cNvSpPr txBox="1"/>
          <p:nvPr/>
        </p:nvSpPr>
        <p:spPr>
          <a:xfrm>
            <a:off x="9208008" y="1874520"/>
            <a:ext cx="2331720" cy="365760"/>
          </a:xfrm>
          <a:prstGeom prst="rect">
            <a:avLst/>
          </a:prstGeom>
          <a:noFill/>
          <a:ln/>
        </p:spPr>
        <p:txBody>
          <a:bodyPr wrap="square" lIns="0" tIns="0" rIns="0" bIns="0" rtlCol="0" anchor="ctr"/>
          <a:lstStyle/>
          <a:p>
            <a:pPr marL="0" indent="0">
              <a:buNone/>
            </a:pPr>
            <a:r>
              <a:rPr lang="en-US" sz="1200" dirty="0">
                <a:solidFill>
                  <a:schemeClr val="accent6"/>
                </a:solidFill>
              </a:rPr>
              <a:t>ROC-AUC (model ranking score)</a:t>
            </a:r>
            <a:endParaRPr lang="en-US" sz="1200" dirty="0"/>
          </a:p>
        </p:txBody>
      </p:sp>
      <p:graphicFrame>
        <p:nvGraphicFramePr>
          <p:cNvPr id="15" name="chart-latency"/>
          <p:cNvGraphicFramePr/>
          <p:nvPr/>
        </p:nvGraphicFramePr>
        <p:xfrm>
          <a:off x="548640" y="2514600"/>
          <a:ext cx="3977640" cy="36118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models"/>
          <p:cNvGraphicFramePr/>
          <p:nvPr/>
        </p:nvGraphicFramePr>
        <p:xfrm>
          <a:off x="4663440" y="2514600"/>
          <a:ext cx="388620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17" name="card-338"/>
          <p:cNvSpPr/>
          <p:nvPr/>
        </p:nvSpPr>
        <p:spPr>
          <a:xfrm>
            <a:off x="8732520" y="2514600"/>
            <a:ext cx="2907792" cy="3611880"/>
          </a:xfrm>
          <a:prstGeom prst="roundRect">
            <a:avLst>
              <a:gd name="adj" fmla="val 3145"/>
            </a:avLst>
          </a:prstGeom>
          <a:solidFill>
            <a:schemeClr val="bg2"/>
          </a:solidFill>
          <a:ln/>
        </p:spPr>
      </p:sp>
      <p:sp>
        <p:nvSpPr>
          <p:cNvPr id="18" name="text-339"/>
          <p:cNvSpPr txBox="1"/>
          <p:nvPr/>
        </p:nvSpPr>
        <p:spPr>
          <a:xfrm>
            <a:off x="8915400" y="2606040"/>
            <a:ext cx="2651760" cy="365760"/>
          </a:xfrm>
          <a:prstGeom prst="rect">
            <a:avLst/>
          </a:prstGeom>
          <a:noFill/>
          <a:ln/>
        </p:spPr>
        <p:txBody>
          <a:bodyPr wrap="square" lIns="0" tIns="0" rIns="0" bIns="0" rtlCol="0" anchor="ctr"/>
          <a:lstStyle/>
          <a:p>
            <a:pPr marL="0" indent="0">
              <a:buNone/>
            </a:pPr>
            <a:r>
              <a:rPr lang="en-US" sz="1500" b="1" dirty="0">
                <a:solidFill>
                  <a:schemeClr val="tx2"/>
                </a:solidFill>
              </a:rPr>
              <a:t>Backend response time</a:t>
            </a:r>
            <a:endParaRPr lang="en-US" sz="1500" dirty="0"/>
          </a:p>
        </p:txBody>
      </p:sp>
      <p:graphicFrame>
        <p:nvGraphicFramePr>
          <p:cNvPr id="19" name="api-latency"/>
          <p:cNvGraphicFramePr>
            <a:graphicFrameLocks noGrp="1"/>
          </p:cNvGraphicFramePr>
          <p:nvPr>
            <p:extLst>
              <p:ext uri="{D42A27DB-BD31-4B8C-83A1-F6EECF244321}">
                <p14:modId xmlns:p14="http://schemas.microsoft.com/office/powerpoint/2010/main" val="1579011935"/>
              </p:ext>
            </p:extLst>
          </p:nvPr>
        </p:nvGraphicFramePr>
        <p:xfrm>
          <a:off x="8915400" y="3017520"/>
          <a:ext cx="2560320" cy="1036320"/>
        </p:xfrm>
        <a:graphic>
          <a:graphicData uri="http://schemas.openxmlformats.org/drawingml/2006/table">
            <a:tbl>
              <a:tblPr/>
              <a:tblGrid>
                <a:gridCol w="10972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tblGrid>
              <a:tr h="329184">
                <a:tc>
                  <a:txBody>
                    <a:bodyPr/>
                    <a:lstStyle/>
                    <a:p>
                      <a:pPr marL="0" indent="0">
                        <a:buNone/>
                      </a:pPr>
                      <a:r>
                        <a:rPr lang="en-US" sz="1000" b="1" dirty="0">
                          <a:solidFill>
                            <a:schemeClr val="bg1"/>
                          </a:solidFill>
                        </a:rPr>
                        <a:t>Request</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Typical</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000" b="1" dirty="0">
                          <a:solidFill>
                            <a:schemeClr val="bg1"/>
                          </a:solidFill>
                        </a:rPr>
                        <a:t>Slowest 5%</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chemeClr val="tx1"/>
                          </a:solidFill>
                        </a:rPr>
                        <a:t>Leads list</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120 ms</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180 ms</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chemeClr val="tx1"/>
                          </a:solidFill>
                        </a:rPr>
                        <a:t>Dashboard numbers</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438 ms</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000" dirty="0">
                          <a:solidFill>
                            <a:schemeClr val="tx1"/>
                          </a:solidFill>
                        </a:rPr>
                        <a:t>656 ms</a:t>
                      </a:r>
                      <a:endParaRPr lang="en-US" sz="1000" dirty="0"/>
                    </a:p>
                  </a:txBody>
                  <a:tcPr marL="36576" marR="36576" marT="36576" marB="36576"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20" name="text-340"/>
          <p:cNvSpPr txBox="1"/>
          <p:nvPr/>
        </p:nvSpPr>
        <p:spPr>
          <a:xfrm>
            <a:off x="8915400" y="4069080"/>
            <a:ext cx="2651760" cy="228600"/>
          </a:xfrm>
          <a:prstGeom prst="rect">
            <a:avLst/>
          </a:prstGeom>
          <a:noFill/>
          <a:ln/>
        </p:spPr>
        <p:txBody>
          <a:bodyPr wrap="square" lIns="0" tIns="0" rIns="0" bIns="0" rtlCol="0" anchor="ctr"/>
          <a:lstStyle/>
          <a:p>
            <a:pPr marL="0" indent="0">
              <a:buNone/>
            </a:pPr>
            <a:r>
              <a:rPr lang="en-US" sz="1000" i="1" dirty="0">
                <a:solidFill>
                  <a:schemeClr val="accent6"/>
                </a:solidFill>
              </a:rPr>
              <a:t>1 user, server → MongoDB Atlas</a:t>
            </a:r>
            <a:endParaRPr lang="en-US" sz="1000" dirty="0"/>
          </a:p>
        </p:txBody>
      </p:sp>
      <p:sp>
        <p:nvSpPr>
          <p:cNvPr id="21" name="text-341"/>
          <p:cNvSpPr txBox="1"/>
          <p:nvPr/>
        </p:nvSpPr>
        <p:spPr>
          <a:xfrm>
            <a:off x="8915400" y="4389120"/>
            <a:ext cx="2651760" cy="320040"/>
          </a:xfrm>
          <a:prstGeom prst="rect">
            <a:avLst/>
          </a:prstGeom>
          <a:noFill/>
          <a:ln/>
        </p:spPr>
        <p:txBody>
          <a:bodyPr wrap="square" lIns="0" tIns="0" rIns="0" bIns="0" rtlCol="0" anchor="ctr"/>
          <a:lstStyle/>
          <a:p>
            <a:pPr marL="0" indent="0">
              <a:buNone/>
            </a:pPr>
            <a:r>
              <a:rPr lang="en-US" sz="1500" b="1" dirty="0">
                <a:solidFill>
                  <a:schemeClr val="tx2"/>
                </a:solidFill>
              </a:rPr>
              <a:t>Test scripts</a:t>
            </a:r>
            <a:endParaRPr lang="en-US" sz="1500" dirty="0"/>
          </a:p>
        </p:txBody>
      </p:sp>
      <p:sp>
        <p:nvSpPr>
          <p:cNvPr id="22" name="text-342"/>
          <p:cNvSpPr txBox="1"/>
          <p:nvPr/>
        </p:nvSpPr>
        <p:spPr>
          <a:xfrm>
            <a:off x="8915400" y="4709160"/>
            <a:ext cx="2606040" cy="1280160"/>
          </a:xfrm>
          <a:prstGeom prst="rect">
            <a:avLst/>
          </a:prstGeom>
          <a:noFill/>
          <a:ln/>
        </p:spPr>
        <p:txBody>
          <a:bodyPr wrap="square" lIns="0" tIns="0" rIns="0" bIns="0" rtlCol="0" anchor="t"/>
          <a:lstStyle/>
          <a:p>
            <a:pPr marL="0" indent="0">
              <a:buNone/>
            </a:pPr>
            <a:r>
              <a:rPr lang="en-US" sz="1200" dirty="0">
                <a:solidFill>
                  <a:schemeClr val="tx1"/>
                </a:solidFill>
              </a:rPr>
              <a:t>Login &amp; OTP · leads · master data · follow-ups, tasks, calendar · file upload · push alerts · full API test suite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Innovation, Domain Impact &amp; Originality</a:t>
            </a:r>
            <a:endParaRPr lang="en-US" sz="3200" dirty="0"/>
          </a:p>
        </p:txBody>
      </p:sp>
      <p:sp>
        <p:nvSpPr>
          <p:cNvPr id="3" name="text-343"/>
          <p:cNvSpPr txBox="1"/>
          <p:nvPr/>
        </p:nvSpPr>
        <p:spPr>
          <a:xfrm>
            <a:off x="548640" y="1234440"/>
            <a:ext cx="502920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is new</a:t>
            </a:r>
            <a:endParaRPr lang="en-US" sz="2000" dirty="0"/>
          </a:p>
        </p:txBody>
      </p:sp>
      <p:sp>
        <p:nvSpPr>
          <p:cNvPr id="4" name="icon-circle-344"/>
          <p:cNvSpPr/>
          <p:nvPr/>
        </p:nvSpPr>
        <p:spPr>
          <a:xfrm>
            <a:off x="548640" y="1828800"/>
            <a:ext cx="566928" cy="566928"/>
          </a:xfrm>
          <a:prstGeom prst="ellipse">
            <a:avLst/>
          </a:prstGeom>
          <a:solidFill>
            <a:schemeClr val="accent1"/>
          </a:solidFill>
          <a:ln/>
        </p:spPr>
      </p:sp>
      <p:pic>
        <p:nvPicPr>
          <p:cNvPr id="5" name="icon-345" descr="preencoded.png"/>
          <p:cNvPicPr>
            <a:picLocks noChangeAspect="1"/>
          </p:cNvPicPr>
          <p:nvPr/>
        </p:nvPicPr>
        <p:blipFill>
          <a:blip r:embed="rId3"/>
          <a:stretch>
            <a:fillRect/>
          </a:stretch>
        </p:blipFill>
        <p:spPr>
          <a:xfrm>
            <a:off x="690372" y="1970532"/>
            <a:ext cx="283464" cy="283464"/>
          </a:xfrm>
          <a:prstGeom prst="rect">
            <a:avLst/>
          </a:prstGeom>
        </p:spPr>
      </p:pic>
      <p:sp>
        <p:nvSpPr>
          <p:cNvPr id="6" name="text-346"/>
          <p:cNvSpPr txBox="1"/>
          <p:nvPr/>
        </p:nvSpPr>
        <p:spPr>
          <a:xfrm>
            <a:off x="1280160" y="1783080"/>
            <a:ext cx="4297680" cy="100584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From form to salesperson in seconds</a:t>
            </a:r>
            <a:endParaRPr lang="en-US" sz="1600" dirty="0"/>
          </a:p>
          <a:p>
            <a:pPr marL="0" indent="0">
              <a:spcAft>
                <a:spcPts val="200"/>
              </a:spcAft>
              <a:buNone/>
            </a:pPr>
            <a:r>
              <a:rPr lang="en-US" sz="1400" dirty="0">
                <a:solidFill>
                  <a:schemeClr val="accent6"/>
                </a:solidFill>
              </a:rPr>
              <a:t>Each new lead is checked for duplicates, scored by ML and given to the least busy salesperson. No manual sorting.</a:t>
            </a:r>
            <a:endParaRPr lang="en-US" sz="1600" dirty="0"/>
          </a:p>
        </p:txBody>
      </p:sp>
      <p:sp>
        <p:nvSpPr>
          <p:cNvPr id="7" name="icon-circle-347"/>
          <p:cNvSpPr/>
          <p:nvPr/>
        </p:nvSpPr>
        <p:spPr>
          <a:xfrm>
            <a:off x="548640" y="2926080"/>
            <a:ext cx="566928" cy="566928"/>
          </a:xfrm>
          <a:prstGeom prst="ellipse">
            <a:avLst/>
          </a:prstGeom>
          <a:solidFill>
            <a:schemeClr val="accent1"/>
          </a:solidFill>
          <a:ln/>
        </p:spPr>
      </p:sp>
      <p:pic>
        <p:nvPicPr>
          <p:cNvPr id="8" name="icon-348" descr="preencoded.png"/>
          <p:cNvPicPr>
            <a:picLocks noChangeAspect="1"/>
          </p:cNvPicPr>
          <p:nvPr/>
        </p:nvPicPr>
        <p:blipFill>
          <a:blip r:embed="rId4"/>
          <a:stretch>
            <a:fillRect/>
          </a:stretch>
        </p:blipFill>
        <p:spPr>
          <a:xfrm>
            <a:off x="690372" y="3067812"/>
            <a:ext cx="283464" cy="283464"/>
          </a:xfrm>
          <a:prstGeom prst="rect">
            <a:avLst/>
          </a:prstGeom>
        </p:spPr>
      </p:pic>
      <p:sp>
        <p:nvSpPr>
          <p:cNvPr id="9" name="text-349"/>
          <p:cNvSpPr txBox="1"/>
          <p:nvPr/>
        </p:nvSpPr>
        <p:spPr>
          <a:xfrm>
            <a:off x="1280160" y="2880360"/>
            <a:ext cx="4297680" cy="100584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AI replies checked by a person</a:t>
            </a:r>
            <a:endParaRPr lang="en-US" sz="1600" dirty="0"/>
          </a:p>
          <a:p>
            <a:pPr marL="0" indent="0">
              <a:spcAft>
                <a:spcPts val="200"/>
              </a:spcAft>
              <a:buNone/>
            </a:pPr>
            <a:r>
              <a:rPr lang="en-US" sz="1400" dirty="0">
                <a:solidFill>
                  <a:schemeClr val="accent6"/>
                </a:solidFill>
              </a:rPr>
              <a:t>Gemini writes replies using only real company facts; the salesperson edits and approves before sending.</a:t>
            </a:r>
            <a:endParaRPr lang="en-US" sz="1600" dirty="0"/>
          </a:p>
        </p:txBody>
      </p:sp>
      <p:sp>
        <p:nvSpPr>
          <p:cNvPr id="10" name="icon-circle-350"/>
          <p:cNvSpPr/>
          <p:nvPr/>
        </p:nvSpPr>
        <p:spPr>
          <a:xfrm>
            <a:off x="548640" y="4023360"/>
            <a:ext cx="566928" cy="566928"/>
          </a:xfrm>
          <a:prstGeom prst="ellipse">
            <a:avLst/>
          </a:prstGeom>
          <a:solidFill>
            <a:schemeClr val="accent1"/>
          </a:solidFill>
          <a:ln/>
        </p:spPr>
      </p:sp>
      <p:pic>
        <p:nvPicPr>
          <p:cNvPr id="11" name="icon-351" descr="preencoded.png"/>
          <p:cNvPicPr>
            <a:picLocks noChangeAspect="1"/>
          </p:cNvPicPr>
          <p:nvPr/>
        </p:nvPicPr>
        <p:blipFill>
          <a:blip r:embed="rId5"/>
          <a:stretch>
            <a:fillRect/>
          </a:stretch>
        </p:blipFill>
        <p:spPr>
          <a:xfrm>
            <a:off x="690372" y="4165092"/>
            <a:ext cx="283464" cy="283464"/>
          </a:xfrm>
          <a:prstGeom prst="rect">
            <a:avLst/>
          </a:prstGeom>
        </p:spPr>
      </p:pic>
      <p:sp>
        <p:nvSpPr>
          <p:cNvPr id="12" name="text-352"/>
          <p:cNvSpPr txBox="1"/>
          <p:nvPr/>
        </p:nvSpPr>
        <p:spPr>
          <a:xfrm>
            <a:off x="1280160" y="3977640"/>
            <a:ext cx="4297680" cy="100584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A model that learns from results</a:t>
            </a:r>
            <a:endParaRPr lang="en-US" sz="1600" dirty="0"/>
          </a:p>
          <a:p>
            <a:pPr marL="0" indent="0">
              <a:spcAft>
                <a:spcPts val="200"/>
              </a:spcAft>
              <a:buNone/>
            </a:pPr>
            <a:r>
              <a:rPr lang="en-US" sz="1400" dirty="0">
                <a:solidFill>
                  <a:schemeClr val="accent6"/>
                </a:solidFill>
              </a:rPr>
              <a:t>Every won or lost lead is saved, so the model can be retrained and get better.</a:t>
            </a:r>
            <a:endParaRPr lang="en-US" sz="1600" dirty="0"/>
          </a:p>
        </p:txBody>
      </p:sp>
      <p:sp>
        <p:nvSpPr>
          <p:cNvPr id="13" name="icon-circle-353"/>
          <p:cNvSpPr/>
          <p:nvPr/>
        </p:nvSpPr>
        <p:spPr>
          <a:xfrm>
            <a:off x="548640" y="5120640"/>
            <a:ext cx="566928" cy="566928"/>
          </a:xfrm>
          <a:prstGeom prst="ellipse">
            <a:avLst/>
          </a:prstGeom>
          <a:solidFill>
            <a:schemeClr val="accent1"/>
          </a:solidFill>
          <a:ln/>
        </p:spPr>
      </p:sp>
      <p:pic>
        <p:nvPicPr>
          <p:cNvPr id="14" name="icon-354" descr="preencoded.png"/>
          <p:cNvPicPr>
            <a:picLocks noChangeAspect="1"/>
          </p:cNvPicPr>
          <p:nvPr/>
        </p:nvPicPr>
        <p:blipFill>
          <a:blip r:embed="rId6"/>
          <a:stretch>
            <a:fillRect/>
          </a:stretch>
        </p:blipFill>
        <p:spPr>
          <a:xfrm>
            <a:off x="690372" y="5262372"/>
            <a:ext cx="283464" cy="283464"/>
          </a:xfrm>
          <a:prstGeom prst="rect">
            <a:avLst/>
          </a:prstGeom>
        </p:spPr>
      </p:pic>
      <p:sp>
        <p:nvSpPr>
          <p:cNvPr id="15" name="text-355"/>
          <p:cNvSpPr txBox="1"/>
          <p:nvPr/>
        </p:nvSpPr>
        <p:spPr>
          <a:xfrm>
            <a:off x="1280160" y="5074920"/>
            <a:ext cx="4297680" cy="100584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Easy to add new lead sources</a:t>
            </a:r>
            <a:endParaRPr lang="en-US" sz="1600" dirty="0"/>
          </a:p>
          <a:p>
            <a:pPr marL="0" indent="0">
              <a:spcAft>
                <a:spcPts val="200"/>
              </a:spcAft>
              <a:buNone/>
            </a:pPr>
            <a:r>
              <a:rPr lang="en-US" sz="1400" dirty="0">
                <a:solidFill>
                  <a:schemeClr val="accent6"/>
                </a:solidFill>
              </a:rPr>
              <a:t>A new platform needs one small file; secure webhooks block fake and repeated leads.</a:t>
            </a:r>
            <a:endParaRPr lang="en-US" sz="1600" dirty="0"/>
          </a:p>
        </p:txBody>
      </p:sp>
      <p:sp>
        <p:nvSpPr>
          <p:cNvPr id="16" name="card-356"/>
          <p:cNvSpPr/>
          <p:nvPr/>
        </p:nvSpPr>
        <p:spPr>
          <a:xfrm>
            <a:off x="5897880" y="1234440"/>
            <a:ext cx="3108960" cy="4937760"/>
          </a:xfrm>
          <a:prstGeom prst="roundRect">
            <a:avLst>
              <a:gd name="adj" fmla="val 2941"/>
            </a:avLst>
          </a:prstGeom>
          <a:solidFill>
            <a:schemeClr val="bg2"/>
          </a:solidFill>
          <a:ln/>
        </p:spPr>
      </p:sp>
      <p:sp>
        <p:nvSpPr>
          <p:cNvPr id="17" name="icon-circle-357"/>
          <p:cNvSpPr/>
          <p:nvPr/>
        </p:nvSpPr>
        <p:spPr>
          <a:xfrm>
            <a:off x="6126480" y="1463040"/>
            <a:ext cx="566928" cy="566928"/>
          </a:xfrm>
          <a:prstGeom prst="ellipse">
            <a:avLst/>
          </a:prstGeom>
          <a:solidFill>
            <a:schemeClr val="accent4"/>
          </a:solidFill>
          <a:ln/>
        </p:spPr>
      </p:sp>
      <p:pic>
        <p:nvPicPr>
          <p:cNvPr id="18" name="icon-358" descr="preencoded.png"/>
          <p:cNvPicPr>
            <a:picLocks noChangeAspect="1"/>
          </p:cNvPicPr>
          <p:nvPr/>
        </p:nvPicPr>
        <p:blipFill>
          <a:blip r:embed="rId7"/>
          <a:stretch>
            <a:fillRect/>
          </a:stretch>
        </p:blipFill>
        <p:spPr>
          <a:xfrm>
            <a:off x="6268212" y="1604772"/>
            <a:ext cx="283464" cy="283464"/>
          </a:xfrm>
          <a:prstGeom prst="rect">
            <a:avLst/>
          </a:prstGeom>
        </p:spPr>
      </p:pic>
      <p:sp>
        <p:nvSpPr>
          <p:cNvPr id="19" name="text-359"/>
          <p:cNvSpPr txBox="1"/>
          <p:nvPr/>
        </p:nvSpPr>
        <p:spPr>
          <a:xfrm>
            <a:off x="6812280" y="1463040"/>
            <a:ext cx="2103120" cy="566928"/>
          </a:xfrm>
          <a:prstGeom prst="rect">
            <a:avLst/>
          </a:prstGeom>
          <a:noFill/>
          <a:ln/>
        </p:spPr>
        <p:txBody>
          <a:bodyPr wrap="square" lIns="0" tIns="0" rIns="0" bIns="0" rtlCol="0" anchor="ctr"/>
          <a:lstStyle/>
          <a:p>
            <a:pPr marL="0" indent="0">
              <a:buNone/>
            </a:pPr>
            <a:r>
              <a:rPr lang="en-US" sz="1900" b="1" dirty="0">
                <a:solidFill>
                  <a:schemeClr val="tx2"/>
                </a:solidFill>
                <a:latin typeface="Cambria" pitchFamily="34" charset="0"/>
                <a:ea typeface="Cambria" pitchFamily="34" charset="-122"/>
                <a:cs typeface="Cambria" pitchFamily="34" charset="-120"/>
              </a:rPr>
              <a:t>Domain impact</a:t>
            </a:r>
            <a:endParaRPr lang="en-US" sz="1900" dirty="0"/>
          </a:p>
        </p:txBody>
      </p:sp>
      <p:sp>
        <p:nvSpPr>
          <p:cNvPr id="20" name="text-360"/>
          <p:cNvSpPr txBox="1"/>
          <p:nvPr/>
        </p:nvSpPr>
        <p:spPr>
          <a:xfrm>
            <a:off x="6126480" y="2194560"/>
            <a:ext cx="2697480" cy="731520"/>
          </a:xfrm>
          <a:prstGeom prst="rect">
            <a:avLst/>
          </a:prstGeom>
          <a:noFill/>
          <a:ln/>
        </p:spPr>
        <p:txBody>
          <a:bodyPr wrap="square" lIns="0" tIns="0" rIns="0" bIns="0" rtlCol="0" anchor="ctr"/>
          <a:lstStyle/>
          <a:p>
            <a:pPr marL="0" indent="0">
              <a:buNone/>
            </a:pPr>
            <a:r>
              <a:rPr lang="en-US" sz="1400" i="1" dirty="0">
                <a:solidFill>
                  <a:schemeClr val="tx1"/>
                </a:solidFill>
              </a:rPr>
              <a:t>For small and mid-size sales teams in education, real estate, cars and software:</a:t>
            </a:r>
            <a:endParaRPr lang="en-US" sz="1400" dirty="0"/>
          </a:p>
        </p:txBody>
      </p:sp>
      <p:sp>
        <p:nvSpPr>
          <p:cNvPr id="21" name="text-361"/>
          <p:cNvSpPr txBox="1"/>
          <p:nvPr/>
        </p:nvSpPr>
        <p:spPr>
          <a:xfrm>
            <a:off x="6126480" y="3017520"/>
            <a:ext cx="269748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No two salespeople calling the same customer</a:t>
            </a:r>
            <a:endParaRPr lang="en-US" sz="1400" dirty="0"/>
          </a:p>
          <a:p>
            <a:pPr marL="342900" indent="-342900">
              <a:spcAft>
                <a:spcPts val="800"/>
              </a:spcAft>
              <a:buSzPct val="100000"/>
              <a:buChar char="•"/>
            </a:pPr>
            <a:r>
              <a:rPr lang="en-US" sz="1400" dirty="0">
                <a:solidFill>
                  <a:schemeClr val="tx1"/>
                </a:solidFill>
              </a:rPr>
              <a:t>Work shared fairly across the team</a:t>
            </a:r>
            <a:endParaRPr lang="en-US" sz="1400" dirty="0"/>
          </a:p>
          <a:p>
            <a:pPr marL="342900" indent="-342900">
              <a:spcAft>
                <a:spcPts val="800"/>
              </a:spcAft>
              <a:buSzPct val="100000"/>
              <a:buChar char="•"/>
            </a:pPr>
            <a:r>
              <a:rPr lang="en-US" sz="1400" dirty="0">
                <a:solidFill>
                  <a:schemeClr val="tx1"/>
                </a:solidFill>
              </a:rPr>
              <a:t>Best leads are called first</a:t>
            </a:r>
            <a:endParaRPr lang="en-US" sz="1400" dirty="0"/>
          </a:p>
          <a:p>
            <a:pPr marL="342900" indent="-342900">
              <a:spcAft>
                <a:spcPts val="800"/>
              </a:spcAft>
              <a:buSzPct val="100000"/>
              <a:buChar char="•"/>
            </a:pPr>
            <a:r>
              <a:rPr lang="en-US" sz="1400" dirty="0">
                <a:solidFill>
                  <a:schemeClr val="tx1"/>
                </a:solidFill>
              </a:rPr>
              <a:t>Every action on a lead is recorded</a:t>
            </a:r>
            <a:endParaRPr lang="en-US" sz="1400" dirty="0"/>
          </a:p>
        </p:txBody>
      </p:sp>
      <p:sp>
        <p:nvSpPr>
          <p:cNvPr id="22" name="plag-card"/>
          <p:cNvSpPr/>
          <p:nvPr/>
        </p:nvSpPr>
        <p:spPr>
          <a:xfrm>
            <a:off x="9235440" y="1234440"/>
            <a:ext cx="2404872" cy="4937760"/>
          </a:xfrm>
          <a:prstGeom prst="roundRect">
            <a:avLst>
              <a:gd name="adj" fmla="val 3802"/>
            </a:avLst>
          </a:prstGeom>
          <a:solidFill>
            <a:schemeClr val="tx2"/>
          </a:solidFill>
          <a:ln/>
        </p:spPr>
      </p:sp>
      <p:sp>
        <p:nvSpPr>
          <p:cNvPr id="23" name="icon-circle-362"/>
          <p:cNvSpPr/>
          <p:nvPr/>
        </p:nvSpPr>
        <p:spPr>
          <a:xfrm>
            <a:off x="10154412" y="1463040"/>
            <a:ext cx="566928" cy="566928"/>
          </a:xfrm>
          <a:prstGeom prst="ellipse">
            <a:avLst/>
          </a:prstGeom>
          <a:solidFill>
            <a:schemeClr val="accent3"/>
          </a:solidFill>
          <a:ln/>
        </p:spPr>
      </p:sp>
      <p:pic>
        <p:nvPicPr>
          <p:cNvPr id="24" name="icon-363" descr="preencoded.png"/>
          <p:cNvPicPr>
            <a:picLocks noChangeAspect="1"/>
          </p:cNvPicPr>
          <p:nvPr/>
        </p:nvPicPr>
        <p:blipFill>
          <a:blip r:embed="rId8"/>
          <a:stretch>
            <a:fillRect/>
          </a:stretch>
        </p:blipFill>
        <p:spPr>
          <a:xfrm>
            <a:off x="10296144" y="1604772"/>
            <a:ext cx="283464" cy="283464"/>
          </a:xfrm>
          <a:prstGeom prst="rect">
            <a:avLst/>
          </a:prstGeom>
        </p:spPr>
      </p:pic>
      <p:sp>
        <p:nvSpPr>
          <p:cNvPr id="25" name="text-364"/>
          <p:cNvSpPr txBox="1"/>
          <p:nvPr/>
        </p:nvSpPr>
        <p:spPr>
          <a:xfrm>
            <a:off x="9372600" y="2148840"/>
            <a:ext cx="2130552" cy="411480"/>
          </a:xfrm>
          <a:prstGeom prst="rect">
            <a:avLst/>
          </a:prstGeom>
          <a:noFill/>
          <a:ln/>
        </p:spPr>
        <p:txBody>
          <a:bodyPr wrap="square" lIns="0" tIns="0" rIns="0" bIns="0" rtlCol="0" anchor="ctr"/>
          <a:lstStyle/>
          <a:p>
            <a:pPr marL="0" indent="0" algn="ctr">
              <a:buNone/>
            </a:pPr>
            <a:r>
              <a:rPr lang="en-US" sz="1600" b="1" dirty="0">
                <a:solidFill>
                  <a:schemeClr val="bg1"/>
                </a:solidFill>
              </a:rPr>
              <a:t>Plagiarism check</a:t>
            </a:r>
            <a:endParaRPr lang="en-US" sz="1600" dirty="0"/>
          </a:p>
        </p:txBody>
      </p:sp>
      <p:sp>
        <p:nvSpPr>
          <p:cNvPr id="26" name="placeholder-frame-365"/>
          <p:cNvSpPr/>
          <p:nvPr/>
        </p:nvSpPr>
        <p:spPr>
          <a:xfrm>
            <a:off x="9464040" y="2697480"/>
            <a:ext cx="1947672" cy="1371600"/>
          </a:xfrm>
          <a:prstGeom prst="roundRect">
            <a:avLst>
              <a:gd name="adj" fmla="val 5333"/>
            </a:avLst>
          </a:prstGeom>
          <a:solidFill>
            <a:schemeClr val="tx2"/>
          </a:solidFill>
          <a:ln w="15875">
            <a:solidFill>
              <a:srgbClr val="B5651D"/>
            </a:solidFill>
            <a:prstDash val="dash"/>
          </a:ln>
        </p:spPr>
      </p:sp>
      <p:sp>
        <p:nvSpPr>
          <p:cNvPr id="28" name="placeholder-frame-367"/>
          <p:cNvSpPr/>
          <p:nvPr/>
        </p:nvSpPr>
        <p:spPr>
          <a:xfrm>
            <a:off x="9464040" y="4251960"/>
            <a:ext cx="1947672" cy="914400"/>
          </a:xfrm>
          <a:prstGeom prst="roundRect">
            <a:avLst>
              <a:gd name="adj" fmla="val 8000"/>
            </a:avLst>
          </a:prstGeom>
          <a:solidFill>
            <a:schemeClr val="tx2"/>
          </a:solidFill>
          <a:ln w="15875">
            <a:solidFill>
              <a:srgbClr val="B5651D"/>
            </a:solidFill>
            <a:prstDash val="dash"/>
          </a:ln>
        </p:spPr>
      </p:sp>
      <p:sp>
        <p:nvSpPr>
          <p:cNvPr id="30" name="text-369"/>
          <p:cNvSpPr txBox="1"/>
          <p:nvPr/>
        </p:nvSpPr>
        <p:spPr>
          <a:xfrm>
            <a:off x="9372600" y="5349240"/>
            <a:ext cx="2130552" cy="594360"/>
          </a:xfrm>
          <a:prstGeom prst="rect">
            <a:avLst/>
          </a:prstGeom>
          <a:noFill/>
          <a:ln/>
        </p:spPr>
        <p:txBody>
          <a:bodyPr wrap="square" lIns="0" tIns="0" rIns="0" bIns="0" rtlCol="0" anchor="ctr"/>
          <a:lstStyle/>
          <a:p>
            <a:pPr marL="0" indent="0" algn="ctr">
              <a:buNone/>
            </a:pPr>
            <a:r>
              <a:rPr lang="en-US" sz="1100" i="1" dirty="0">
                <a:solidFill>
                  <a:schemeClr val="bg2"/>
                </a:solidFill>
              </a:rPr>
              <a:t>Attach the report to the project file</a:t>
            </a:r>
            <a:endParaRPr lang="en-US" sz="1100" dirty="0"/>
          </a:p>
        </p:txBody>
      </p:sp>
      <p:sp>
        <p:nvSpPr>
          <p:cNvPr id="3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Cloud Deployment Specs &amp; Scalability Roadmap</a:t>
            </a:r>
            <a:endParaRPr lang="en-US" sz="3200" dirty="0"/>
          </a:p>
        </p:txBody>
      </p:sp>
      <p:graphicFrame>
        <p:nvGraphicFramePr>
          <p:cNvPr id="15" name="deploy-specs"/>
          <p:cNvGraphicFramePr>
            <a:graphicFrameLocks noGrp="1"/>
          </p:cNvGraphicFramePr>
          <p:nvPr>
            <p:extLst>
              <p:ext uri="{D42A27DB-BD31-4B8C-83A1-F6EECF244321}">
                <p14:modId xmlns:p14="http://schemas.microsoft.com/office/powerpoint/2010/main" val="1579011935"/>
              </p:ext>
            </p:extLst>
          </p:nvPr>
        </p:nvGraphicFramePr>
        <p:xfrm>
          <a:off x="548640" y="1234440"/>
          <a:ext cx="6766560" cy="3657600"/>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200" b="1" dirty="0">
                          <a:solidFill>
                            <a:schemeClr val="bg1"/>
                          </a:solidFill>
                        </a:rPr>
                        <a:t>Component</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Platform</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Spec / configuration</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chemeClr val="tx1"/>
                          </a:solidFill>
                        </a:rPr>
                        <a:t>Frontend</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Vercel</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React 19 + Vite build, served from a global CDN</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200" b="1" dirty="0">
                          <a:solidFill>
                            <a:schemeClr val="tx1"/>
                          </a:solidFill>
                        </a:rPr>
                        <a:t>Backend API</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Render</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Node.js 18+, Express 4 web service</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chemeClr val="tx1"/>
                          </a:solidFill>
                        </a:rPr>
                        <a:t>ML service</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Render</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Python, FastAPI + Uvicorn, scikit-learn model</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chemeClr val="tx1"/>
                          </a:solidFill>
                        </a:rPr>
                        <a:t>Database</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MongoDB Atlas</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Cloud MongoDB cluster, Mongoose 8</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chemeClr val="tx1"/>
                          </a:solidFill>
                        </a:rPr>
                        <a:t>File storage</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Cloudinary</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Profile photos and lead attachments</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57200">
                <a:tc>
                  <a:txBody>
                    <a:bodyPr/>
                    <a:lstStyle/>
                    <a:p>
                      <a:pPr marL="0" indent="0">
                        <a:buNone/>
                      </a:pPr>
                      <a:r>
                        <a:rPr lang="en-US" sz="1200" b="1" dirty="0">
                          <a:solidFill>
                            <a:schemeClr val="tx1"/>
                          </a:solidFill>
                        </a:rPr>
                        <a:t>Notifications</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Firebase · SMS Hub India</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App alerts, SMS and OTP login</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57200">
                <a:tc>
                  <a:txBody>
                    <a:bodyPr/>
                    <a:lstStyle/>
                    <a:p>
                      <a:pPr marL="0" indent="0">
                        <a:buNone/>
                      </a:pPr>
                      <a:r>
                        <a:rPr lang="en-US" sz="1200" b="1" dirty="0">
                          <a:solidFill>
                            <a:schemeClr val="tx1"/>
                          </a:solidFill>
                        </a:rPr>
                        <a:t>Generative AI</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Google Gemini API</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Reply drafts from real company facts</a:t>
                      </a:r>
                      <a:endParaRPr lang="en-US" sz="1200" dirty="0"/>
                    </a:p>
                  </a:txBody>
                  <a:tcPr marL="54864" marR="54864" marT="54864" marB="54864" anchor="ctr">
                    <a:lnL w="9525" cap="flat" cmpd="sng" algn="ctr">
                      <a:solidFill>
                        <a:srgbClr val="D3DCE8"/>
                      </a:solidFill>
                      <a:prstDash val="solid"/>
                      <a:round/>
                      <a:headEnd type="none" w="med" len="med"/>
                      <a:tailEnd type="none" w="med" len="med"/>
                    </a:lnL>
                    <a:lnR w="9525" cap="flat" cmpd="sng" algn="ctr">
                      <a:solidFill>
                        <a:srgbClr val="D3DCE8"/>
                      </a:solidFill>
                      <a:prstDash val="solid"/>
                      <a:round/>
                      <a:headEnd type="none" w="med" len="med"/>
                      <a:tailEnd type="none" w="med" len="med"/>
                    </a:lnR>
                    <a:lnT w="9525" cap="flat" cmpd="sng" algn="ctr">
                      <a:solidFill>
                        <a:srgbClr val="D3DCE8"/>
                      </a:solidFill>
                      <a:prstDash val="solid"/>
                      <a:round/>
                      <a:headEnd type="none" w="med" len="med"/>
                      <a:tailEnd type="none" w="med" len="med"/>
                    </a:lnT>
                    <a:lnB w="9525" cap="flat" cmpd="sng" algn="ctr">
                      <a:solidFill>
                        <a:srgbClr val="D3DCE8"/>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4" name="text-370"/>
          <p:cNvSpPr txBox="1"/>
          <p:nvPr/>
        </p:nvSpPr>
        <p:spPr>
          <a:xfrm>
            <a:off x="548640" y="5120640"/>
            <a:ext cx="6766560" cy="1051560"/>
          </a:xfrm>
          <a:prstGeom prst="roundRect">
            <a:avLst>
              <a:gd name="adj" fmla="val 6957"/>
            </a:avLst>
          </a:prstGeom>
          <a:solidFill>
            <a:schemeClr val="tx2"/>
          </a:solidFill>
          <a:ln/>
        </p:spPr>
        <p:txBody>
          <a:bodyPr wrap="square" lIns="177800" tIns="0" rIns="177800" bIns="0" rtlCol="0" anchor="ctr"/>
          <a:lstStyle/>
          <a:p>
            <a:pPr marL="0" indent="0">
              <a:buNone/>
            </a:pPr>
            <a:r>
              <a:rPr lang="en-US" sz="1300" b="1" dirty="0">
                <a:solidFill>
                  <a:schemeClr val="accent3"/>
                </a:solidFill>
              </a:rPr>
              <a:t>Security:  </a:t>
            </a:r>
            <a:r>
              <a:rPr lang="en-US" sz="1300" dirty="0">
                <a:solidFill>
                  <a:schemeClr val="bg1"/>
                </a:solidFill>
              </a:rPr>
              <a:t>login tokens expire in 15 min (renewed for 7 days) · each role sees only its pages · max 300 requests per 15 min per IP (20 for login) · signed webhooks · unsafe input is cleaned</a:t>
            </a:r>
            <a:endParaRPr lang="en-US" sz="1300" dirty="0"/>
          </a:p>
        </p:txBody>
      </p:sp>
      <p:sp>
        <p:nvSpPr>
          <p:cNvPr id="5" name="text-371"/>
          <p:cNvSpPr txBox="1"/>
          <p:nvPr/>
        </p:nvSpPr>
        <p:spPr>
          <a:xfrm>
            <a:off x="7635240" y="1234440"/>
            <a:ext cx="4023360" cy="41148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Scalability roadmap</a:t>
            </a:r>
            <a:endParaRPr lang="en-US" sz="2000" dirty="0"/>
          </a:p>
        </p:txBody>
      </p:sp>
      <p:sp>
        <p:nvSpPr>
          <p:cNvPr id="6" name="card-372"/>
          <p:cNvSpPr/>
          <p:nvPr/>
        </p:nvSpPr>
        <p:spPr>
          <a:xfrm>
            <a:off x="7635240" y="1737360"/>
            <a:ext cx="4005072" cy="1371600"/>
          </a:xfrm>
          <a:prstGeom prst="roundRect">
            <a:avLst>
              <a:gd name="adj" fmla="val 6667"/>
            </a:avLst>
          </a:prstGeom>
          <a:solidFill>
            <a:schemeClr val="bg2"/>
          </a:solidFill>
          <a:ln/>
        </p:spPr>
      </p:sp>
      <p:sp>
        <p:nvSpPr>
          <p:cNvPr id="7" name="text-373"/>
          <p:cNvSpPr txBox="1"/>
          <p:nvPr/>
        </p:nvSpPr>
        <p:spPr>
          <a:xfrm>
            <a:off x="7772400" y="1874520"/>
            <a:ext cx="868680" cy="347472"/>
          </a:xfrm>
          <a:prstGeom prst="roundRect">
            <a:avLst>
              <a:gd name="adj" fmla="val 31579"/>
            </a:avLst>
          </a:prstGeom>
          <a:solidFill>
            <a:schemeClr val="accent4"/>
          </a:solidFill>
          <a:ln/>
        </p:spPr>
        <p:txBody>
          <a:bodyPr wrap="square" lIns="0" tIns="0" rIns="0" bIns="0" rtlCol="0" anchor="ctr"/>
          <a:lstStyle/>
          <a:p>
            <a:pPr marL="0" indent="0" algn="ctr">
              <a:buNone/>
            </a:pPr>
            <a:r>
              <a:rPr lang="en-US" sz="1200" b="1" dirty="0">
                <a:solidFill>
                  <a:schemeClr val="bg1"/>
                </a:solidFill>
              </a:rPr>
              <a:t>NOW</a:t>
            </a:r>
            <a:endParaRPr lang="en-US" sz="1200" dirty="0"/>
          </a:p>
        </p:txBody>
      </p:sp>
      <p:sp>
        <p:nvSpPr>
          <p:cNvPr id="8" name="text-374"/>
          <p:cNvSpPr txBox="1"/>
          <p:nvPr/>
        </p:nvSpPr>
        <p:spPr>
          <a:xfrm>
            <a:off x="8732520" y="1847088"/>
            <a:ext cx="2834640" cy="117043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More backend copies can run side by side</a:t>
            </a:r>
            <a:endParaRPr lang="en-US" sz="1200" dirty="0"/>
          </a:p>
          <a:p>
            <a:pPr marL="342900" indent="-342900">
              <a:spcAft>
                <a:spcPts val="200"/>
              </a:spcAft>
              <a:buSzPct val="100000"/>
              <a:buChar char="•"/>
            </a:pPr>
            <a:r>
              <a:rPr lang="en-US" sz="1200" dirty="0">
                <a:solidFill>
                  <a:schemeClr val="tx1"/>
                </a:solidFill>
              </a:rPr>
              <a:t>Scoring runs in the background</a:t>
            </a:r>
            <a:endParaRPr lang="en-US" sz="1200" dirty="0"/>
          </a:p>
          <a:p>
            <a:pPr marL="342900" indent="-342900">
              <a:spcAft>
                <a:spcPts val="200"/>
              </a:spcAft>
              <a:buSzPct val="100000"/>
              <a:buChar char="•"/>
            </a:pPr>
            <a:r>
              <a:rPr lang="en-US" sz="1200" dirty="0">
                <a:solidFill>
                  <a:schemeClr val="tx1"/>
                </a:solidFill>
              </a:rPr>
              <a:t>≈270 scores per second per ML worker</a:t>
            </a:r>
            <a:endParaRPr lang="en-US" sz="1200" dirty="0"/>
          </a:p>
        </p:txBody>
      </p:sp>
      <p:sp>
        <p:nvSpPr>
          <p:cNvPr id="9" name="card-375"/>
          <p:cNvSpPr/>
          <p:nvPr/>
        </p:nvSpPr>
        <p:spPr>
          <a:xfrm>
            <a:off x="7635240" y="3218688"/>
            <a:ext cx="4005072" cy="1371600"/>
          </a:xfrm>
          <a:prstGeom prst="roundRect">
            <a:avLst>
              <a:gd name="adj" fmla="val 6667"/>
            </a:avLst>
          </a:prstGeom>
          <a:solidFill>
            <a:schemeClr val="bg2"/>
          </a:solidFill>
          <a:ln/>
        </p:spPr>
      </p:sp>
      <p:sp>
        <p:nvSpPr>
          <p:cNvPr id="10" name="text-376"/>
          <p:cNvSpPr txBox="1"/>
          <p:nvPr/>
        </p:nvSpPr>
        <p:spPr>
          <a:xfrm>
            <a:off x="7772400" y="3355848"/>
            <a:ext cx="868680" cy="347472"/>
          </a:xfrm>
          <a:prstGeom prst="roundRect">
            <a:avLst>
              <a:gd name="adj" fmla="val 31579"/>
            </a:avLst>
          </a:prstGeom>
          <a:solidFill>
            <a:schemeClr val="accent2"/>
          </a:solidFill>
          <a:ln/>
        </p:spPr>
        <p:txBody>
          <a:bodyPr wrap="square" lIns="0" tIns="0" rIns="0" bIns="0" rtlCol="0" anchor="ctr"/>
          <a:lstStyle/>
          <a:p>
            <a:pPr marL="0" indent="0" algn="ctr">
              <a:buNone/>
            </a:pPr>
            <a:r>
              <a:rPr lang="en-US" sz="1200" b="1" dirty="0">
                <a:solidFill>
                  <a:schemeClr val="bg1"/>
                </a:solidFill>
              </a:rPr>
              <a:t>NEXT</a:t>
            </a:r>
            <a:endParaRPr lang="en-US" sz="1200" dirty="0"/>
          </a:p>
        </p:txBody>
      </p:sp>
      <p:sp>
        <p:nvSpPr>
          <p:cNvPr id="11" name="text-377"/>
          <p:cNvSpPr txBox="1"/>
          <p:nvPr/>
        </p:nvSpPr>
        <p:spPr>
          <a:xfrm>
            <a:off x="8732520" y="3328416"/>
            <a:ext cx="2834640" cy="117043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More ML workers and backend servers</a:t>
            </a:r>
            <a:endParaRPr lang="en-US" sz="1200" dirty="0"/>
          </a:p>
          <a:p>
            <a:pPr marL="342900" indent="-342900">
              <a:spcAft>
                <a:spcPts val="200"/>
              </a:spcAft>
              <a:buSzPct val="100000"/>
              <a:buChar char="•"/>
            </a:pPr>
            <a:r>
              <a:rPr lang="en-US" sz="1200" dirty="0">
                <a:solidFill>
                  <a:schemeClr val="tx1"/>
                </a:solidFill>
              </a:rPr>
              <a:t>Job queue (Redis) for scoring and alerts</a:t>
            </a:r>
            <a:endParaRPr lang="en-US" sz="1200" dirty="0"/>
          </a:p>
          <a:p>
            <a:pPr marL="342900" indent="-342900">
              <a:spcAft>
                <a:spcPts val="200"/>
              </a:spcAft>
              <a:buSzPct val="100000"/>
              <a:buChar char="•"/>
            </a:pPr>
            <a:r>
              <a:rPr lang="en-US" sz="1200" dirty="0">
                <a:solidFill>
                  <a:schemeClr val="tx1"/>
                </a:solidFill>
              </a:rPr>
              <a:t>Database indexes and auto-scaling</a:t>
            </a:r>
            <a:endParaRPr lang="en-US" sz="1200" dirty="0"/>
          </a:p>
        </p:txBody>
      </p:sp>
      <p:sp>
        <p:nvSpPr>
          <p:cNvPr id="12" name="card-378"/>
          <p:cNvSpPr/>
          <p:nvPr/>
        </p:nvSpPr>
        <p:spPr>
          <a:xfrm>
            <a:off x="7635240" y="4700016"/>
            <a:ext cx="4005072" cy="1371600"/>
          </a:xfrm>
          <a:prstGeom prst="roundRect">
            <a:avLst>
              <a:gd name="adj" fmla="val 6667"/>
            </a:avLst>
          </a:prstGeom>
          <a:solidFill>
            <a:schemeClr val="bg2"/>
          </a:solidFill>
          <a:ln/>
        </p:spPr>
      </p:sp>
      <p:sp>
        <p:nvSpPr>
          <p:cNvPr id="13" name="text-379"/>
          <p:cNvSpPr txBox="1"/>
          <p:nvPr/>
        </p:nvSpPr>
        <p:spPr>
          <a:xfrm>
            <a:off x="7772400" y="4837176"/>
            <a:ext cx="868680" cy="347472"/>
          </a:xfrm>
          <a:prstGeom prst="roundRect">
            <a:avLst>
              <a:gd name="adj" fmla="val 31579"/>
            </a:avLst>
          </a:prstGeom>
          <a:solidFill>
            <a:schemeClr val="accent6"/>
          </a:solidFill>
          <a:ln/>
        </p:spPr>
        <p:txBody>
          <a:bodyPr wrap="square" lIns="0" tIns="0" rIns="0" bIns="0" rtlCol="0" anchor="ctr"/>
          <a:lstStyle/>
          <a:p>
            <a:pPr marL="0" indent="0" algn="ctr">
              <a:buNone/>
            </a:pPr>
            <a:r>
              <a:rPr lang="en-US" sz="1200" b="1" dirty="0">
                <a:solidFill>
                  <a:schemeClr val="bg1"/>
                </a:solidFill>
              </a:rPr>
              <a:t>LATER</a:t>
            </a:r>
            <a:endParaRPr lang="en-US" sz="1200" dirty="0"/>
          </a:p>
        </p:txBody>
      </p:sp>
      <p:sp>
        <p:nvSpPr>
          <p:cNvPr id="14" name="text-380"/>
          <p:cNvSpPr txBox="1"/>
          <p:nvPr/>
        </p:nvSpPr>
        <p:spPr>
          <a:xfrm>
            <a:off x="8732520" y="4809744"/>
            <a:ext cx="2834640" cy="1170432"/>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1"/>
                </a:solidFill>
              </a:rPr>
              <a:t>Google Ads, LinkedIn, WhatsApp sources</a:t>
            </a:r>
            <a:endParaRPr lang="en-US" sz="1200" dirty="0"/>
          </a:p>
          <a:p>
            <a:pPr marL="342900" indent="-342900">
              <a:spcAft>
                <a:spcPts val="200"/>
              </a:spcAft>
              <a:buSzPct val="100000"/>
              <a:buChar char="•"/>
            </a:pPr>
            <a:r>
              <a:rPr lang="en-US" sz="1200" dirty="0">
                <a:solidFill>
                  <a:schemeClr val="tx1"/>
                </a:solidFill>
              </a:rPr>
              <a:t>Retrain on real sales results</a:t>
            </a:r>
            <a:endParaRPr lang="en-US" sz="1200" dirty="0"/>
          </a:p>
          <a:p>
            <a:pPr marL="342900" indent="-342900">
              <a:spcAft>
                <a:spcPts val="200"/>
              </a:spcAft>
              <a:buSzPct val="100000"/>
              <a:buChar char="•"/>
            </a:pPr>
            <a:r>
              <a:rPr lang="en-US" sz="1200" dirty="0">
                <a:solidFill>
                  <a:schemeClr val="tx1"/>
                </a:solidFill>
              </a:rPr>
              <a:t>Many companies on one system</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9052560" cy="73152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IEEE References &amp; Viva Defense</a:t>
            </a:r>
            <a:endParaRPr lang="en-US" sz="3200" dirty="0"/>
          </a:p>
        </p:txBody>
      </p:sp>
      <p:sp>
        <p:nvSpPr>
          <p:cNvPr id="3" name="text-381"/>
          <p:cNvSpPr txBox="1"/>
          <p:nvPr/>
        </p:nvSpPr>
        <p:spPr>
          <a:xfrm>
            <a:off x="548640" y="1280160"/>
            <a:ext cx="6309360" cy="4343400"/>
          </a:xfrm>
          <a:prstGeom prst="rect">
            <a:avLst/>
          </a:prstGeom>
          <a:noFill/>
          <a:ln/>
        </p:spPr>
        <p:txBody>
          <a:bodyPr wrap="square" lIns="0" tIns="0" rIns="0" bIns="0" rtlCol="0" anchor="t"/>
          <a:lstStyle/>
          <a:p>
            <a:pPr marL="0" indent="0">
              <a:spcAft>
                <a:spcPts val="600"/>
              </a:spcAft>
              <a:buNone/>
            </a:pPr>
            <a:r>
              <a:rPr lang="en-US" sz="1300" b="1" dirty="0">
                <a:solidFill>
                  <a:schemeClr val="tx2"/>
                </a:solidFill>
              </a:rPr>
              <a:t>[1]  </a:t>
            </a:r>
            <a:r>
              <a:rPr lang="en-US" sz="1300" dirty="0">
                <a:solidFill>
                  <a:schemeClr val="tx1"/>
                </a:solidFill>
              </a:rPr>
              <a:t>P. Espadinha-Cruz, A. Fernandes, and A. Grilo, "Lead management optimization using data mining: A case in the telecommunications sector," Computers &amp; Industrial Engineering, vol. 154, Art. no. 107122, 2021.</a:t>
            </a:r>
            <a:endParaRPr lang="en-US" sz="1300" dirty="0"/>
          </a:p>
          <a:p>
            <a:pPr marL="0" indent="0">
              <a:spcAft>
                <a:spcPts val="600"/>
              </a:spcAft>
              <a:buNone/>
            </a:pPr>
            <a:r>
              <a:rPr lang="en-US" sz="1300" b="1" dirty="0">
                <a:solidFill>
                  <a:schemeClr val="tx2"/>
                </a:solidFill>
              </a:rPr>
              <a:t>[2]  </a:t>
            </a:r>
            <a:r>
              <a:rPr lang="en-US" sz="1300" dirty="0">
                <a:solidFill>
                  <a:schemeClr val="tx1"/>
                </a:solidFill>
              </a:rPr>
              <a:t>A. A. Ohiomah et al., "The role of lead management systems in inside sales performance," Journal of Business Research, vol. 102, pp. 163–177, 2019.</a:t>
            </a:r>
            <a:endParaRPr lang="en-US" sz="1300" dirty="0"/>
          </a:p>
          <a:p>
            <a:pPr marL="0" indent="0">
              <a:spcAft>
                <a:spcPts val="600"/>
              </a:spcAft>
              <a:buNone/>
            </a:pPr>
            <a:r>
              <a:rPr lang="en-US" sz="1300" b="1" dirty="0">
                <a:solidFill>
                  <a:schemeClr val="tx2"/>
                </a:solidFill>
              </a:rPr>
              <a:t>[3]  </a:t>
            </a:r>
            <a:r>
              <a:rPr lang="en-US" sz="1300" dirty="0">
                <a:solidFill>
                  <a:schemeClr val="tx1"/>
                </a:solidFill>
              </a:rPr>
              <a:t>S. Das and B. Datta, "Application of UTAUT2 on adopting artificial intelligence powered lead management system (AI-LMS) in passenger car sales," Technological Forecasting and Social Change, vol. 201, Art. no. 123241, 2024.</a:t>
            </a:r>
            <a:endParaRPr lang="en-US" sz="1300" dirty="0"/>
          </a:p>
          <a:p>
            <a:pPr marL="0" indent="0">
              <a:spcAft>
                <a:spcPts val="600"/>
              </a:spcAft>
              <a:buNone/>
            </a:pPr>
            <a:r>
              <a:rPr lang="en-US" sz="1300" b="1" dirty="0">
                <a:solidFill>
                  <a:schemeClr val="tx2"/>
                </a:solidFill>
              </a:rPr>
              <a:t>[4]  </a:t>
            </a:r>
            <a:r>
              <a:rPr lang="en-US" sz="1300" dirty="0">
                <a:solidFill>
                  <a:schemeClr val="tx1"/>
                </a:solidFill>
              </a:rPr>
              <a:t>R. Nygård and J. Mezei, "Automating lead scoring with machine learning: An experimental study," in Proc. 53rd Hawaii Int. Conf. System Sciences (HICSS), 2020.</a:t>
            </a:r>
            <a:endParaRPr lang="en-US" sz="1300" dirty="0"/>
          </a:p>
          <a:p>
            <a:pPr marL="0" indent="0">
              <a:spcAft>
                <a:spcPts val="600"/>
              </a:spcAft>
              <a:buNone/>
            </a:pPr>
            <a:r>
              <a:rPr lang="en-US" sz="1300" b="1" dirty="0">
                <a:solidFill>
                  <a:schemeClr val="tx2"/>
                </a:solidFill>
              </a:rPr>
              <a:t>[5]  </a:t>
            </a:r>
            <a:r>
              <a:rPr lang="en-US" sz="1300" dirty="0">
                <a:solidFill>
                  <a:schemeClr val="tx1"/>
                </a:solidFill>
              </a:rPr>
              <a:t>M. Wu, P. Andreev, and M. Benyoucef, "The state of lead scoring models and their impact on sales performance," Information Technology and Management, vol. 25, no. 1, pp. 69–98, 2024.</a:t>
            </a:r>
            <a:endParaRPr lang="en-US" sz="1300" dirty="0"/>
          </a:p>
          <a:p>
            <a:pPr marL="0" indent="0">
              <a:spcAft>
                <a:spcPts val="600"/>
              </a:spcAft>
              <a:buNone/>
            </a:pPr>
            <a:r>
              <a:rPr lang="en-US" sz="1300" b="1" dirty="0">
                <a:solidFill>
                  <a:schemeClr val="tx2"/>
                </a:solidFill>
              </a:rPr>
              <a:t>[6]  </a:t>
            </a:r>
            <a:r>
              <a:rPr lang="en-US" sz="1300" dirty="0">
                <a:solidFill>
                  <a:schemeClr val="tx1"/>
                </a:solidFill>
              </a:rPr>
              <a:t>F. Pedregosa et al., "Scikit-learn: Machine learning in Python," J. Mach. Learn. Res., vol. 12, pp. 2825–2830, 2011.</a:t>
            </a:r>
            <a:endParaRPr lang="en-US" sz="1300" dirty="0"/>
          </a:p>
          <a:p>
            <a:pPr marL="0" indent="0">
              <a:spcAft>
                <a:spcPts val="600"/>
              </a:spcAft>
              <a:buNone/>
            </a:pPr>
            <a:r>
              <a:rPr lang="en-US" sz="1300" b="1" dirty="0">
                <a:solidFill>
                  <a:schemeClr val="tx2"/>
                </a:solidFill>
              </a:rPr>
              <a:t>[7]  </a:t>
            </a:r>
            <a:r>
              <a:rPr lang="en-US" sz="1300" dirty="0">
                <a:solidFill>
                  <a:schemeClr val="tx1"/>
                </a:solidFill>
              </a:rPr>
              <a:t>L. Breiman, "Random forests," Machine Learning, vol. 45, no. 1, pp. 5–32, 2001.</a:t>
            </a:r>
            <a:endParaRPr lang="en-US" sz="1300" dirty="0"/>
          </a:p>
          <a:p>
            <a:pPr marL="0" indent="0">
              <a:spcAft>
                <a:spcPts val="600"/>
              </a:spcAft>
              <a:buNone/>
            </a:pPr>
            <a:r>
              <a:rPr lang="en-US" sz="1300" b="1" dirty="0">
                <a:solidFill>
                  <a:schemeClr val="tx2"/>
                </a:solidFill>
              </a:rPr>
              <a:t>[8]  </a:t>
            </a:r>
            <a:r>
              <a:rPr lang="en-US" sz="1300" dirty="0">
                <a:solidFill>
                  <a:schemeClr val="tx1"/>
                </a:solidFill>
              </a:rPr>
              <a:t>T. Fawcett, "An introduction to ROC analysis," Pattern Recognition Letters, vol. 27, no. 8, pp. 861–874, 2006.</a:t>
            </a:r>
            <a:endParaRPr lang="en-US" sz="1300" dirty="0"/>
          </a:p>
        </p:txBody>
      </p:sp>
      <p:sp>
        <p:nvSpPr>
          <p:cNvPr id="4" name="card-382"/>
          <p:cNvSpPr/>
          <p:nvPr/>
        </p:nvSpPr>
        <p:spPr>
          <a:xfrm>
            <a:off x="7178040" y="1280160"/>
            <a:ext cx="4462272" cy="4343400"/>
          </a:xfrm>
          <a:prstGeom prst="roundRect">
            <a:avLst>
              <a:gd name="adj" fmla="val 2105"/>
            </a:avLst>
          </a:prstGeom>
          <a:solidFill>
            <a:schemeClr val="bg2"/>
          </a:solidFill>
          <a:ln/>
        </p:spPr>
      </p:sp>
      <p:sp>
        <p:nvSpPr>
          <p:cNvPr id="5" name="text-383"/>
          <p:cNvSpPr txBox="1"/>
          <p:nvPr/>
        </p:nvSpPr>
        <p:spPr>
          <a:xfrm>
            <a:off x="7406640" y="1417320"/>
            <a:ext cx="4023360" cy="41148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Design decisions we defend</a:t>
            </a:r>
            <a:endParaRPr lang="en-US" sz="1800" dirty="0"/>
          </a:p>
        </p:txBody>
      </p:sp>
      <p:sp>
        <p:nvSpPr>
          <p:cNvPr id="6" name="text-384"/>
          <p:cNvSpPr txBox="1"/>
          <p:nvPr/>
        </p:nvSpPr>
        <p:spPr>
          <a:xfrm>
            <a:off x="7406640" y="2011680"/>
            <a:ext cx="4023360" cy="3977640"/>
          </a:xfrm>
          <a:prstGeom prst="rect">
            <a:avLst/>
          </a:prstGeom>
          <a:noFill/>
          <a:ln/>
        </p:spPr>
        <p:txBody>
          <a:bodyPr wrap="square" lIns="0" tIns="0" rIns="0" bIns="0" rtlCol="0" anchor="t"/>
          <a:lstStyle/>
          <a:p>
            <a:pPr marL="0" indent="0">
              <a:buNone/>
            </a:pPr>
            <a:r>
              <a:rPr lang="en-US" sz="1600" b="1" dirty="0">
                <a:solidFill>
                  <a:schemeClr val="tx1"/>
                </a:solidFill>
              </a:rPr>
              <a:t>Why Logistic Regression?</a:t>
            </a:r>
            <a:endParaRPr lang="en-US" sz="1600" dirty="0"/>
          </a:p>
          <a:p>
            <a:pPr marL="0" indent="0">
              <a:spcAft>
                <a:spcPts val="1600"/>
              </a:spcAft>
              <a:buNone/>
            </a:pPr>
            <a:r>
              <a:rPr lang="en-US" sz="1400" dirty="0">
                <a:solidFill>
                  <a:schemeClr val="accent6"/>
                </a:solidFill>
              </a:rPr>
              <a:t>Higher ROC-AUC (0.83 vs 0.79): it is better at putting likely buyers on top.</a:t>
            </a:r>
            <a:endParaRPr lang="en-US" sz="1600" dirty="0"/>
          </a:p>
          <a:p>
            <a:pPr marL="0" indent="0">
              <a:buNone/>
            </a:pPr>
            <a:r>
              <a:rPr lang="en-US" sz="1600" b="1" dirty="0">
                <a:solidFill>
                  <a:schemeClr val="tx1"/>
                </a:solidFill>
              </a:rPr>
              <a:t>Why generated training data?</a:t>
            </a:r>
            <a:endParaRPr lang="en-US" sz="1600" dirty="0"/>
          </a:p>
          <a:p>
            <a:pPr marL="0" indent="0">
              <a:spcAft>
                <a:spcPts val="1600"/>
              </a:spcAft>
              <a:buNone/>
            </a:pPr>
            <a:r>
              <a:rPr lang="en-US" sz="1400" dirty="0">
                <a:solidFill>
                  <a:schemeClr val="accent6"/>
                </a:solidFill>
              </a:rPr>
              <a:t>No real sales history yet; real results are added as they come in.</a:t>
            </a:r>
            <a:endParaRPr lang="en-US" sz="1600" dirty="0"/>
          </a:p>
          <a:p>
            <a:pPr marL="0" indent="0">
              <a:buNone/>
            </a:pPr>
            <a:r>
              <a:rPr lang="en-US" sz="1600" b="1" dirty="0">
                <a:solidFill>
                  <a:schemeClr val="tx1"/>
                </a:solidFill>
              </a:rPr>
              <a:t>Why assign by workload?</a:t>
            </a:r>
            <a:endParaRPr lang="en-US" sz="1600" dirty="0"/>
          </a:p>
          <a:p>
            <a:pPr marL="0" indent="0">
              <a:spcAft>
                <a:spcPts val="1600"/>
              </a:spcAft>
              <a:buNone/>
            </a:pPr>
            <a:r>
              <a:rPr lang="en-US" sz="1400" dirty="0">
                <a:solidFill>
                  <a:schemeClr val="accent6"/>
                </a:solidFill>
              </a:rPr>
              <a:t>It looks at how busy each salesperson is right now; taking turns does not.</a:t>
            </a:r>
            <a:endParaRPr lang="en-US" sz="1600" dirty="0"/>
          </a:p>
          <a:p>
            <a:pPr marL="0" indent="0">
              <a:buNone/>
            </a:pPr>
            <a:r>
              <a:rPr lang="en-US" sz="1600" b="1" dirty="0">
                <a:solidFill>
                  <a:schemeClr val="tx1"/>
                </a:solidFill>
              </a:rPr>
              <a:t>Why must a person approve AI replies?</a:t>
            </a:r>
            <a:endParaRPr lang="en-US" sz="1600" dirty="0"/>
          </a:p>
          <a:p>
            <a:pPr marL="0" indent="0">
              <a:spcAft>
                <a:spcPts val="1600"/>
              </a:spcAft>
              <a:buNone/>
            </a:pPr>
            <a:r>
              <a:rPr lang="en-US" sz="1400" dirty="0">
                <a:solidFill>
                  <a:schemeClr val="accent6"/>
                </a:solidFill>
              </a:rPr>
              <a:t>So wrong prices or false promises never reach a customer.</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LeadGen Navy">
  <a:themeElements>
    <a:clrScheme name="LeadGen Navy">
      <a:dk1>
        <a:srgbClr val="14213D"/>
      </a:dk1>
      <a:lt1>
        <a:srgbClr val="FFFFFF"/>
      </a:lt1>
      <a:dk2>
        <a:srgbClr val="0B3C6E"/>
      </a:dk2>
      <a:lt2>
        <a:srgbClr val="EDF2F8"/>
      </a:lt2>
      <a:accent1>
        <a:srgbClr val="0B5394"/>
      </a:accent1>
      <a:accent2>
        <a:srgbClr val="1E88E5"/>
      </a:accent2>
      <a:accent3>
        <a:srgbClr val="F2A900"/>
      </a:accent3>
      <a:accent4>
        <a:srgbClr val="2E8B57"/>
      </a:accent4>
      <a:accent5>
        <a:srgbClr val="C0392B"/>
      </a:accent5>
      <a:accent6>
        <a:srgbClr val="6B7C93"/>
      </a:accent6>
      <a:hlink>
        <a:srgbClr val="1E88E5"/>
      </a:hlink>
      <a:folHlink>
        <a:srgbClr val="6B7C93"/>
      </a:folHlink>
    </a:clrScheme>
    <a:fontScheme name="LeadGen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3320</Words>
  <Application>Microsoft Office PowerPoint</Application>
  <PresentationFormat>Widescreen</PresentationFormat>
  <Paragraphs>481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LeadGen Navy</vt:lpstr>
      <vt:lpstr>PowerPoint Presentation</vt:lpstr>
      <vt:lpstr>Problem, Objectives &amp; Expected Outcome</vt:lpstr>
      <vt:lpstr>Literature Review Matrix</vt:lpstr>
      <vt:lpstr>System Architecture</vt:lpstr>
      <vt:lpstr>UML System Design</vt:lpstr>
      <vt:lpstr>Database Schema &amp; API Contracts</vt:lpstr>
      <vt:lpstr>Phase-1 Code Screenshots</vt:lpstr>
      <vt:lpstr>Team Work Division &amp; Timeline</vt:lpstr>
      <vt:lpstr>Final Deployed Architecture &amp; Cloud Integration</vt:lpstr>
      <vt:lpstr>UML Deployment Diagram</vt:lpstr>
      <vt:lpstr>100% Working Live System Demo</vt:lpstr>
      <vt:lpstr>Testing, Benchmarking &amp; Performance</vt:lpstr>
      <vt:lpstr>Innovation, Domain Impact &amp; Originality</vt:lpstr>
      <vt:lpstr>Cloud Deployment Specs &amp; Scalability Roadmap</vt:lpstr>
      <vt:lpstr>IEEE References &amp; Viva Defense</vt:lpstr>
    </vt:vector>
  </TitlesOfParts>
  <Company>IPS Academy, Indore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LeadGen: AI-Powered Lead Management System — Presentation 2</dc:title>
  <dc:subject>PptxGenJS Presentation</dc:subject>
  <dc:creator>Trisha Mishra, Ratnesh Ranve (Group 52)</dc:creator>
  <cp:lastModifiedBy>Ratnesh Gurjar</cp:lastModifiedBy>
  <cp:revision>3</cp:revision>
  <dcterms:created xsi:type="dcterms:W3CDTF">2026-10-09T05:47:26Z</dcterms:created>
  <dcterms:modified xsi:type="dcterms:W3CDTF">2026-10-09T05:50:17Z</dcterms:modified>
</cp:coreProperties>
</file>